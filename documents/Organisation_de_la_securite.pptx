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23"/>
  </p:notesMasterIdLst>
  <p:sldIdLst>
    <p:sldId id="256" r:id="rId2"/>
    <p:sldId id="281" r:id="rId3"/>
    <p:sldId id="282" r:id="rId4"/>
    <p:sldId id="283" r:id="rId5"/>
    <p:sldId id="284" r:id="rId6"/>
    <p:sldId id="286" r:id="rId7"/>
    <p:sldId id="287" r:id="rId8"/>
    <p:sldId id="292" r:id="rId9"/>
    <p:sldId id="288" r:id="rId10"/>
    <p:sldId id="289" r:id="rId11"/>
    <p:sldId id="268" r:id="rId12"/>
    <p:sldId id="269" r:id="rId13"/>
    <p:sldId id="285" r:id="rId14"/>
    <p:sldId id="290" r:id="rId15"/>
    <p:sldId id="291" r:id="rId16"/>
    <p:sldId id="293" r:id="rId17"/>
    <p:sldId id="294" r:id="rId18"/>
    <p:sldId id="295" r:id="rId19"/>
    <p:sldId id="296" r:id="rId20"/>
    <p:sldId id="297" r:id="rId21"/>
    <p:sldId id="280" r:id="rId22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94660"/>
  </p:normalViewPr>
  <p:slideViewPr>
    <p:cSldViewPr>
      <p:cViewPr varScale="1">
        <p:scale>
          <a:sx n="89" d="100"/>
          <a:sy n="89" d="100"/>
        </p:scale>
        <p:origin x="907" y="77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.kaouma@lagoon.nc" userId="176090761_tp_box" providerId="OAuth2" clId="{4C4A6A03-2E6A-DB44-AEC4-482613C333A5}"/>
    <pc:docChg chg="custSel modSld">
      <pc:chgData name="g.kaouma@lagoon.nc" userId="176090761_tp_box" providerId="OAuth2" clId="{4C4A6A03-2E6A-DB44-AEC4-482613C333A5}" dt="2019-10-09T23:42:49.386" v="245" actId="20577"/>
      <pc:docMkLst>
        <pc:docMk/>
      </pc:docMkLst>
      <pc:sldChg chg="delSp modSp">
        <pc:chgData name="g.kaouma@lagoon.nc" userId="176090761_tp_box" providerId="OAuth2" clId="{4C4A6A03-2E6A-DB44-AEC4-482613C333A5}" dt="2019-10-09T23:35:03.577" v="10" actId="20577"/>
        <pc:sldMkLst>
          <pc:docMk/>
          <pc:sldMk cId="0" sldId="256"/>
        </pc:sldMkLst>
        <pc:spChg chg="del">
          <ac:chgData name="g.kaouma@lagoon.nc" userId="176090761_tp_box" providerId="OAuth2" clId="{4C4A6A03-2E6A-DB44-AEC4-482613C333A5}" dt="2019-10-09T23:34:10.342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5:03.577" v="10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9:24.390" v="131" actId="20577"/>
        <pc:sldMkLst>
          <pc:docMk/>
          <pc:sldMk cId="0" sldId="268"/>
        </pc:sldMkLst>
        <pc:spChg chg="del">
          <ac:chgData name="g.kaouma@lagoon.nc" userId="176090761_tp_box" providerId="OAuth2" clId="{4C4A6A03-2E6A-DB44-AEC4-482613C333A5}" dt="2019-10-09T23:39:11.610" v="119" actId="4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9:24.390" v="131" actId="20577"/>
          <ac:spMkLst>
            <pc:docMk/>
            <pc:sldMk cId="0" sldId="268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9:39.697" v="141" actId="20577"/>
        <pc:sldMkLst>
          <pc:docMk/>
          <pc:sldMk cId="0" sldId="269"/>
        </pc:sldMkLst>
        <pc:spChg chg="del">
          <ac:chgData name="g.kaouma@lagoon.nc" userId="176090761_tp_box" providerId="OAuth2" clId="{4C4A6A03-2E6A-DB44-AEC4-482613C333A5}" dt="2019-10-09T23:39:32.086" v="132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9:39.697" v="141" actId="20577"/>
          <ac:spMkLst>
            <pc:docMk/>
            <pc:sldMk cId="0" sldId="269"/>
            <ac:spMk id="5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2:49.386" v="245" actId="20577"/>
        <pc:sldMkLst>
          <pc:docMk/>
          <pc:sldMk cId="0" sldId="280"/>
        </pc:sldMkLst>
        <pc:spChg chg="del">
          <ac:chgData name="g.kaouma@lagoon.nc" userId="176090761_tp_box" providerId="OAuth2" clId="{4C4A6A03-2E6A-DB44-AEC4-482613C333A5}" dt="2019-10-09T23:42:39.319" v="233" actId="478"/>
          <ac:spMkLst>
            <pc:docMk/>
            <pc:sldMk cId="0" sldId="280"/>
            <ac:spMk id="4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2:49.386" v="245" actId="20577"/>
          <ac:spMkLst>
            <pc:docMk/>
            <pc:sldMk cId="0" sldId="280"/>
            <ac:spMk id="5" creationId="{00000000-0000-0000-0000-000000000000}"/>
          </ac:spMkLst>
        </pc:spChg>
      </pc:sldChg>
      <pc:sldChg chg="addSp delSp modSp">
        <pc:chgData name="g.kaouma@lagoon.nc" userId="176090761_tp_box" providerId="OAuth2" clId="{4C4A6A03-2E6A-DB44-AEC4-482613C333A5}" dt="2019-10-09T23:36:06.724" v="30" actId="478"/>
        <pc:sldMkLst>
          <pc:docMk/>
          <pc:sldMk cId="4272918368" sldId="281"/>
        </pc:sldMkLst>
        <pc:spChg chg="add del">
          <ac:chgData name="g.kaouma@lagoon.nc" userId="176090761_tp_box" providerId="OAuth2" clId="{4C4A6A03-2E6A-DB44-AEC4-482613C333A5}" dt="2019-10-09T23:35:58.984" v="29" actId="478"/>
          <ac:spMkLst>
            <pc:docMk/>
            <pc:sldMk cId="4272918368" sldId="281"/>
            <ac:spMk id="4" creationId="{2A803CE0-0BD6-C549-B9A7-AB22567920E8}"/>
          </ac:spMkLst>
        </pc:spChg>
        <pc:spChg chg="del">
          <ac:chgData name="g.kaouma@lagoon.nc" userId="176090761_tp_box" providerId="OAuth2" clId="{4C4A6A03-2E6A-DB44-AEC4-482613C333A5}" dt="2019-10-09T23:36:06.724" v="30" actId="478"/>
          <ac:spMkLst>
            <pc:docMk/>
            <pc:sldMk cId="4272918368" sldId="281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5:45.140" v="27" actId="20577"/>
          <ac:spMkLst>
            <pc:docMk/>
            <pc:sldMk cId="4272918368" sldId="281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6:22.843" v="41" actId="20577"/>
        <pc:sldMkLst>
          <pc:docMk/>
          <pc:sldMk cId="3945934752" sldId="282"/>
        </pc:sldMkLst>
        <pc:spChg chg="del">
          <ac:chgData name="g.kaouma@lagoon.nc" userId="176090761_tp_box" providerId="OAuth2" clId="{4C4A6A03-2E6A-DB44-AEC4-482613C333A5}" dt="2019-10-09T23:36:13.677" v="31" actId="478"/>
          <ac:spMkLst>
            <pc:docMk/>
            <pc:sldMk cId="3945934752" sldId="282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6:22.843" v="41" actId="20577"/>
          <ac:spMkLst>
            <pc:docMk/>
            <pc:sldMk cId="3945934752" sldId="282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6:42.367" v="52" actId="20577"/>
        <pc:sldMkLst>
          <pc:docMk/>
          <pc:sldMk cId="508371367" sldId="283"/>
        </pc:sldMkLst>
        <pc:spChg chg="del">
          <ac:chgData name="g.kaouma@lagoon.nc" userId="176090761_tp_box" providerId="OAuth2" clId="{4C4A6A03-2E6A-DB44-AEC4-482613C333A5}" dt="2019-10-09T23:36:32.162" v="42" actId="21"/>
          <ac:spMkLst>
            <pc:docMk/>
            <pc:sldMk cId="508371367" sldId="283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6:42.367" v="52" actId="20577"/>
          <ac:spMkLst>
            <pc:docMk/>
            <pc:sldMk cId="508371367" sldId="283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7:21.429" v="63" actId="20577"/>
        <pc:sldMkLst>
          <pc:docMk/>
          <pc:sldMk cId="2253865740" sldId="284"/>
        </pc:sldMkLst>
        <pc:spChg chg="del">
          <ac:chgData name="g.kaouma@lagoon.nc" userId="176090761_tp_box" providerId="OAuth2" clId="{4C4A6A03-2E6A-DB44-AEC4-482613C333A5}" dt="2019-10-09T23:37:11.586" v="53" actId="478"/>
          <ac:spMkLst>
            <pc:docMk/>
            <pc:sldMk cId="2253865740" sldId="284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7:21.429" v="63" actId="20577"/>
          <ac:spMkLst>
            <pc:docMk/>
            <pc:sldMk cId="2253865740" sldId="284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9:59.470" v="153" actId="20577"/>
        <pc:sldMkLst>
          <pc:docMk/>
          <pc:sldMk cId="3988528590" sldId="285"/>
        </pc:sldMkLst>
        <pc:spChg chg="del">
          <ac:chgData name="g.kaouma@lagoon.nc" userId="176090761_tp_box" providerId="OAuth2" clId="{4C4A6A03-2E6A-DB44-AEC4-482613C333A5}" dt="2019-10-09T23:39:50.101" v="142" actId="478"/>
          <ac:spMkLst>
            <pc:docMk/>
            <pc:sldMk cId="3988528590" sldId="285"/>
            <ac:spMk id="7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9:59.470" v="153" actId="20577"/>
          <ac:spMkLst>
            <pc:docMk/>
            <pc:sldMk cId="3988528590" sldId="285"/>
            <ac:spMk id="8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7:41.871" v="74" actId="20577"/>
        <pc:sldMkLst>
          <pc:docMk/>
          <pc:sldMk cId="3095696600" sldId="286"/>
        </pc:sldMkLst>
        <pc:spChg chg="del">
          <ac:chgData name="g.kaouma@lagoon.nc" userId="176090761_tp_box" providerId="OAuth2" clId="{4C4A6A03-2E6A-DB44-AEC4-482613C333A5}" dt="2019-10-09T23:37:33.404" v="64" actId="478"/>
          <ac:spMkLst>
            <pc:docMk/>
            <pc:sldMk cId="3095696600" sldId="286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7:41.871" v="74" actId="20577"/>
          <ac:spMkLst>
            <pc:docMk/>
            <pc:sldMk cId="3095696600" sldId="286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7:57.442" v="85" actId="20577"/>
        <pc:sldMkLst>
          <pc:docMk/>
          <pc:sldMk cId="3818744989" sldId="287"/>
        </pc:sldMkLst>
        <pc:spChg chg="del">
          <ac:chgData name="g.kaouma@lagoon.nc" userId="176090761_tp_box" providerId="OAuth2" clId="{4C4A6A03-2E6A-DB44-AEC4-482613C333A5}" dt="2019-10-09T23:37:49.092" v="75" actId="478"/>
          <ac:spMkLst>
            <pc:docMk/>
            <pc:sldMk cId="3818744989" sldId="287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7:57.442" v="85" actId="20577"/>
          <ac:spMkLst>
            <pc:docMk/>
            <pc:sldMk cId="3818744989" sldId="287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8:42.061" v="107" actId="20577"/>
        <pc:sldMkLst>
          <pc:docMk/>
          <pc:sldMk cId="3762689546" sldId="288"/>
        </pc:sldMkLst>
        <pc:spChg chg="del">
          <ac:chgData name="g.kaouma@lagoon.nc" userId="176090761_tp_box" providerId="OAuth2" clId="{4C4A6A03-2E6A-DB44-AEC4-482613C333A5}" dt="2019-10-09T23:38:33.162" v="97" actId="478"/>
          <ac:spMkLst>
            <pc:docMk/>
            <pc:sldMk cId="3762689546" sldId="288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8:42.061" v="107" actId="20577"/>
          <ac:spMkLst>
            <pc:docMk/>
            <pc:sldMk cId="3762689546" sldId="288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9:04.247" v="118" actId="20577"/>
        <pc:sldMkLst>
          <pc:docMk/>
          <pc:sldMk cId="3248847425" sldId="289"/>
        </pc:sldMkLst>
        <pc:spChg chg="del">
          <ac:chgData name="g.kaouma@lagoon.nc" userId="176090761_tp_box" providerId="OAuth2" clId="{4C4A6A03-2E6A-DB44-AEC4-482613C333A5}" dt="2019-10-09T23:38:51.037" v="108" actId="478"/>
          <ac:spMkLst>
            <pc:docMk/>
            <pc:sldMk cId="3248847425" sldId="289"/>
            <ac:spMk id="6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9:04.247" v="118" actId="20577"/>
          <ac:spMkLst>
            <pc:docMk/>
            <pc:sldMk cId="3248847425" sldId="289"/>
            <ac:spMk id="7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0:18.702" v="167" actId="20577"/>
        <pc:sldMkLst>
          <pc:docMk/>
          <pc:sldMk cId="1565975762" sldId="290"/>
        </pc:sldMkLst>
        <pc:spChg chg="del">
          <ac:chgData name="g.kaouma@lagoon.nc" userId="176090761_tp_box" providerId="OAuth2" clId="{4C4A6A03-2E6A-DB44-AEC4-482613C333A5}" dt="2019-10-09T23:40:07.312" v="154" actId="478"/>
          <ac:spMkLst>
            <pc:docMk/>
            <pc:sldMk cId="1565975762" sldId="290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0:18.702" v="167" actId="20577"/>
          <ac:spMkLst>
            <pc:docMk/>
            <pc:sldMk cId="1565975762" sldId="290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0:34.638" v="178" actId="20577"/>
        <pc:sldMkLst>
          <pc:docMk/>
          <pc:sldMk cId="2545325273" sldId="291"/>
        </pc:sldMkLst>
        <pc:spChg chg="del">
          <ac:chgData name="g.kaouma@lagoon.nc" userId="176090761_tp_box" providerId="OAuth2" clId="{4C4A6A03-2E6A-DB44-AEC4-482613C333A5}" dt="2019-10-09T23:40:26.751" v="168" actId="478"/>
          <ac:spMkLst>
            <pc:docMk/>
            <pc:sldMk cId="2545325273" sldId="291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0:34.638" v="178" actId="20577"/>
          <ac:spMkLst>
            <pc:docMk/>
            <pc:sldMk cId="2545325273" sldId="291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38:13.122" v="96" actId="20577"/>
        <pc:sldMkLst>
          <pc:docMk/>
          <pc:sldMk cId="2741205514" sldId="292"/>
        </pc:sldMkLst>
        <pc:spChg chg="del">
          <ac:chgData name="g.kaouma@lagoon.nc" userId="176090761_tp_box" providerId="OAuth2" clId="{4C4A6A03-2E6A-DB44-AEC4-482613C333A5}" dt="2019-10-09T23:38:04.739" v="86" actId="478"/>
          <ac:spMkLst>
            <pc:docMk/>
            <pc:sldMk cId="2741205514" sldId="292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38:13.122" v="96" actId="20577"/>
          <ac:spMkLst>
            <pc:docMk/>
            <pc:sldMk cId="2741205514" sldId="292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0:49.508" v="189" actId="20577"/>
        <pc:sldMkLst>
          <pc:docMk/>
          <pc:sldMk cId="290095897" sldId="293"/>
        </pc:sldMkLst>
        <pc:spChg chg="del">
          <ac:chgData name="g.kaouma@lagoon.nc" userId="176090761_tp_box" providerId="OAuth2" clId="{4C4A6A03-2E6A-DB44-AEC4-482613C333A5}" dt="2019-10-09T23:40:41.986" v="179" actId="478"/>
          <ac:spMkLst>
            <pc:docMk/>
            <pc:sldMk cId="290095897" sldId="293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0:49.508" v="189" actId="20577"/>
          <ac:spMkLst>
            <pc:docMk/>
            <pc:sldMk cId="290095897" sldId="293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1:37.695" v="200" actId="20577"/>
        <pc:sldMkLst>
          <pc:docMk/>
          <pc:sldMk cId="341642802" sldId="294"/>
        </pc:sldMkLst>
        <pc:spChg chg="del">
          <ac:chgData name="g.kaouma@lagoon.nc" userId="176090761_tp_box" providerId="OAuth2" clId="{4C4A6A03-2E6A-DB44-AEC4-482613C333A5}" dt="2019-10-09T23:41:30.161" v="190" actId="478"/>
          <ac:spMkLst>
            <pc:docMk/>
            <pc:sldMk cId="341642802" sldId="294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1:37.695" v="200" actId="20577"/>
          <ac:spMkLst>
            <pc:docMk/>
            <pc:sldMk cId="341642802" sldId="294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1:53.321" v="211" actId="20577"/>
        <pc:sldMkLst>
          <pc:docMk/>
          <pc:sldMk cId="1061433540" sldId="295"/>
        </pc:sldMkLst>
        <pc:spChg chg="del">
          <ac:chgData name="g.kaouma@lagoon.nc" userId="176090761_tp_box" providerId="OAuth2" clId="{4C4A6A03-2E6A-DB44-AEC4-482613C333A5}" dt="2019-10-09T23:41:44.971" v="201" actId="478"/>
          <ac:spMkLst>
            <pc:docMk/>
            <pc:sldMk cId="1061433540" sldId="295"/>
            <ac:spMk id="6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1:53.321" v="211" actId="20577"/>
          <ac:spMkLst>
            <pc:docMk/>
            <pc:sldMk cId="1061433540" sldId="295"/>
            <ac:spMk id="7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2:11.072" v="222" actId="20577"/>
        <pc:sldMkLst>
          <pc:docMk/>
          <pc:sldMk cId="1084783730" sldId="296"/>
        </pc:sldMkLst>
        <pc:spChg chg="del">
          <ac:chgData name="g.kaouma@lagoon.nc" userId="176090761_tp_box" providerId="OAuth2" clId="{4C4A6A03-2E6A-DB44-AEC4-482613C333A5}" dt="2019-10-09T23:42:00.390" v="212" actId="478"/>
          <ac:spMkLst>
            <pc:docMk/>
            <pc:sldMk cId="1084783730" sldId="296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2:11.072" v="222" actId="20577"/>
          <ac:spMkLst>
            <pc:docMk/>
            <pc:sldMk cId="1084783730" sldId="296"/>
            <ac:spMk id="6" creationId="{00000000-0000-0000-0000-000000000000}"/>
          </ac:spMkLst>
        </pc:spChg>
      </pc:sldChg>
      <pc:sldChg chg="delSp modSp">
        <pc:chgData name="g.kaouma@lagoon.nc" userId="176090761_tp_box" providerId="OAuth2" clId="{4C4A6A03-2E6A-DB44-AEC4-482613C333A5}" dt="2019-10-09T23:42:28.851" v="232" actId="20577"/>
        <pc:sldMkLst>
          <pc:docMk/>
          <pc:sldMk cId="2454454543" sldId="297"/>
        </pc:sldMkLst>
        <pc:spChg chg="del">
          <ac:chgData name="g.kaouma@lagoon.nc" userId="176090761_tp_box" providerId="OAuth2" clId="{4C4A6A03-2E6A-DB44-AEC4-482613C333A5}" dt="2019-10-09T23:42:18.995" v="223" actId="478"/>
          <ac:spMkLst>
            <pc:docMk/>
            <pc:sldMk cId="2454454543" sldId="297"/>
            <ac:spMk id="5" creationId="{00000000-0000-0000-0000-000000000000}"/>
          </ac:spMkLst>
        </pc:spChg>
        <pc:spChg chg="mod">
          <ac:chgData name="g.kaouma@lagoon.nc" userId="176090761_tp_box" providerId="OAuth2" clId="{4C4A6A03-2E6A-DB44-AEC4-482613C333A5}" dt="2019-10-09T23:42:28.851" v="232" actId="20577"/>
          <ac:spMkLst>
            <pc:docMk/>
            <pc:sldMk cId="2454454543" sldId="29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6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7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8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0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1" name="Rectangle 9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85600" cy="1247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2" name="Rectangle 10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2113" cy="410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54018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96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20645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-11798300" y="-11796713"/>
            <a:ext cx="11798300" cy="1249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9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2339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-11798300" y="-11796713"/>
            <a:ext cx="11798300" cy="1249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30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53035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-11798300" y="-11796713"/>
            <a:ext cx="11790362" cy="12484101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6255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6241-F3B2-47D7-B3FA-DD67184CE0F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08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95B1-37E7-4248-BCAD-FC118CE1E0A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41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82517-7992-4D07-A62F-151EBE05D9F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EA2C-526F-41EE-B6FA-B9D03ACC567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3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26EB-907F-4FAB-9332-28E96DED88B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96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B27C-1865-412F-9AB1-951DD80E376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96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E0F0-BBC9-4E9D-88E2-9DC3FA318C8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97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42C3-31F6-495A-B56E-33A35F2972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05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76696-A8C1-44B7-923C-9B81B93ED0F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8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349D-8034-4978-B0AD-193CA274D80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09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957A-7F77-4BFA-B906-166B971C1BB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85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8B012-282B-46C8-BD79-A38DB4AF3FE9}" type="datetimeFigureOut">
              <a:rPr lang="fr-FR" smtClean="0"/>
              <a:pPr/>
              <a:t>10/10/2019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4F278-31FD-48E1-863B-CB61F5B5496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06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30388"/>
            <a:ext cx="8229600" cy="17383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numCol="1" anchorCtr="0" compatLnSpc="1">
            <a:prstTxWarp prst="textNoShape">
              <a:avLst/>
            </a:prstTxWarp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br>
              <a:rPr lang="fr-FR" altLang="fr-FR" sz="1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br>
              <a:rPr lang="fr-FR" altLang="fr-FR" sz="1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br>
              <a:rPr lang="fr-FR" altLang="fr-FR" sz="1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r>
              <a:rPr lang="fr-FR" altLang="fr-FR" sz="7200" u="sng" dirty="0">
                <a:solidFill>
                  <a:srgbClr val="0070C0"/>
                </a:solidFill>
                <a:latin typeface="Arial" panose="020B0604020202020204" pitchFamily="34" charset="0"/>
              </a:rPr>
              <a:t>ORGANISATION DE LA SECURITE</a:t>
            </a:r>
          </a:p>
        </p:txBody>
      </p:sp>
      <p:sp>
        <p:nvSpPr>
          <p:cNvPr id="5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Une réflexion générale sur la sécurité en apnée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connaissances pratiques pour gérer la composant « Sécurité » dans le cadre de votre activité d’initiateur-entraineur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Une démarche favorisant l’autoévaluation et la réflexion pédagogique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427291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Dangers et risques de l’apnée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PCM, SYNCOPE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=&gt; IMMERSION / NOYADE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Barotraumatismes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(surtout en mer)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Hypothermie, déshydratation, hypoglycémie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Accidents divers (+/- selon publics et circonstances)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ex : glissades et chutes, chocs, piqures, etc. 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394593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Paramètres à prendre en compte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u="sng" dirty="0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fr-FR" u="sng" dirty="0" err="1">
                <a:latin typeface="Arial" panose="020B0604020202020204" pitchFamily="34" charset="0"/>
                <a:cs typeface="Arial" panose="020B0604020202020204" pitchFamily="34" charset="0"/>
              </a:rPr>
              <a:t>apnéiste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âge, santé, fatigue, niveau, stress,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entrainement</a:t>
            </a:r>
          </a:p>
          <a:p>
            <a:pPr marL="0" indent="0" defTabSz="25200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52000"/>
            <a:r>
              <a:rPr lang="fr-FR" u="sng" dirty="0">
                <a:latin typeface="Arial" panose="020B0604020202020204" pitchFamily="34" charset="0"/>
                <a:cs typeface="Arial" panose="020B0604020202020204" pitchFamily="34" charset="0"/>
              </a:rPr>
              <a:t>Le milieu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piscine, mer, lieu (accès, évacuation), profondeur, 	température,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visi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météo</a:t>
            </a:r>
          </a:p>
          <a:p>
            <a:pPr defTabSz="252000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52000"/>
            <a:r>
              <a:rPr lang="fr-FR" u="sng" dirty="0">
                <a:latin typeface="Arial" panose="020B0604020202020204" pitchFamily="34" charset="0"/>
                <a:cs typeface="Arial" panose="020B0604020202020204" pitchFamily="34" charset="0"/>
              </a:rPr>
              <a:t>Le matériel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fr-F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individuel (état, adaptation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collectif (activités, secours)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50837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Votre rôle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Assumer seul la sécurité d’une séance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apnéistes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tous niveaux / 8 maxi / 6m)</a:t>
            </a:r>
          </a:p>
          <a:p>
            <a:pPr marL="0" indent="0" defTabSz="25200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5200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Enseigner et valider des compétences « sécurité » niveaux 1 et 2</a:t>
            </a:r>
          </a:p>
          <a:p>
            <a:pPr defTabSz="252000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252000">
              <a:buNone/>
            </a:pPr>
            <a:r>
              <a:rPr lang="fr-FR" u="sng" dirty="0"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développer l’esprit d’équipe</a:t>
            </a:r>
          </a:p>
          <a:p>
            <a:pPr marL="457200" lvl="1" indent="0" algn="ctr" defTabSz="252000">
              <a:buNone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SECURITE EST COLLECTIVE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225386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Assurer la sécurité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Adaptation de l’entrainement pour limiter les risques de PCM/Syncope ou chocs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Condition et niveaux des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apnéistes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Identifier les exercices à risques (hypoxie, perfs max, profondeur)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Renforcer la surveillance pendant les exercices à risque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: la piscine semble être un milieu sécurisé, à tort !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309569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Mise en place d’une surveillance garantissant une intervention rapide :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Surveillance spécifique par une personne agréé à l’extérieur du bassin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Surveillance collective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- à prévoir et contrôler par l’encadrant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- adapter en fonction de la situation (fatigue, froid, 	nombre de personnes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381874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Rappeler la nécessité d’une confiance mutuelle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Mise en confiance par une surveillance qui lui permet de repousser ses limites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Etre présent sans gêner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binôme doit inspirer confiance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274120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enseigner la sécurité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Des situations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Consignes spécifiques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Simulations d’accidents</a:t>
            </a:r>
          </a:p>
          <a:p>
            <a:pPr marL="457200" lvl="1" indent="0">
              <a:buNone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>
              <a:spcBef>
                <a:spcPts val="1000"/>
              </a:spcBef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Communication spécifique :</a:t>
            </a:r>
          </a:p>
          <a:p>
            <a:pPr marL="800100" lvl="2" indent="-34290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Expliquer et rappeler les objectifs « sécurité »</a:t>
            </a:r>
          </a:p>
          <a:p>
            <a:pPr marL="800100" lvl="2" indent="-34290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Donner des consignes « sécurité » claires à chaque exercice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Intervenir en cas de respect insuffisant 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376268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Exercices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Quels sont les points clés du protocole de sortie ?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Imaginer un exercice permettant d’enseigner ce protocole à des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apnéistes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débutants (ex : décomposition, informations et consignes qui l’accompagnent)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Suite à donner dans les séances suivantes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  <p:extLst>
      <p:ext uri="{BB962C8B-B14F-4D97-AF65-F5344CB8AC3E}">
        <p14:creationId xmlns:p14="http://schemas.microsoft.com/office/powerpoint/2010/main" val="3248847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73038"/>
            <a:ext cx="8228013" cy="1344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numCol="1" anchorCtr="0" compatLnSpc="1">
            <a:prstTxWarp prst="textNoShape">
              <a:avLst/>
            </a:prstTxWarp>
            <a:normAutofit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dirty="0">
                <a:solidFill>
                  <a:srgbClr val="0070C0"/>
                </a:solidFill>
                <a:latin typeface="Arial" panose="020B0604020202020204" pitchFamily="34" charset="0"/>
              </a:rPr>
              <a:t>LES 7 REGLES D'OR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492250"/>
            <a:ext cx="8228013" cy="5202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1. JAMAIS D'APNEE SEUL !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=&gt; SURVEILLANCE SYSTEMATIQUE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i="1" dirty="0">
                <a:latin typeface="Arial" panose="020B0604020202020204" pitchFamily="34" charset="0"/>
                <a:ea typeface="Arial-BoldMT" charset="0"/>
                <a:cs typeface="Arial-BoldMT" charset="0"/>
              </a:rPr>
              <a:t>par un cadre, binôme, groupe en fonction des consignes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2. PROTOCOLE DE SORTIE </a:t>
            </a:r>
            <a:r>
              <a:rPr lang="fr-FR" altLang="fr-FR" sz="2400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=&gt;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dirty="0">
                <a:latin typeface="Arial" panose="020B0604020202020204" pitchFamily="34" charset="0"/>
                <a:ea typeface="Arial-BoldMT" charset="0"/>
                <a:cs typeface="Arial-BoldMT" charset="0"/>
              </a:rPr>
              <a:t>Appui ( lignes d'eau tendues, privilégier le 1er couloir, ventilation, regard/geste pour la surveillance)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3. PROSCRIRE LES ATTITUDES DONNANT L'ALERTE PCM/SYNCOPE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dirty="0">
                <a:latin typeface="Arial" panose="020B0604020202020204" pitchFamily="34" charset="0"/>
                <a:ea typeface="Arial-BoldMT" charset="0"/>
                <a:cs typeface="Arial-BoldMT" charset="0"/>
              </a:rPr>
              <a:t>lâcher bulles, accélération en fin d'apnée, ré immersion des voies aériennes (sauf si prévu par l'exercice)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4. RECONNAITRE LES SIGNAUX DE PCM/SYNCOPE,</a:t>
            </a:r>
          </a:p>
          <a:p>
            <a:pPr marL="342900" indent="-34290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i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INTERVENIR AU MOINDRE DOUTE,DONNER L'ALERTE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168400"/>
            <a:ext cx="8228013" cy="47545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5. NE PAS FORCER !</a:t>
            </a: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	RESTER DANS SES LIMITES / ADAPTER L'EXERCICE A 	SON NIVEAU</a:t>
            </a: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i="1" dirty="0">
                <a:latin typeface="Arial" panose="020B0604020202020204" pitchFamily="34" charset="0"/>
                <a:ea typeface="Arial-BoldMT" charset="0"/>
                <a:cs typeface="Arial-BoldMT" charset="0"/>
              </a:rPr>
              <a:t>	Ne pas toucher le mur à tout prix, ne pas faire comme les autres,</a:t>
            </a: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i="1" dirty="0">
                <a:latin typeface="Arial" panose="020B0604020202020204" pitchFamily="34" charset="0"/>
                <a:ea typeface="Arial-BoldMT" charset="0"/>
                <a:cs typeface="Arial-BoldMT" charset="0"/>
              </a:rPr>
              <a:t>	Ne pas chercher à faire comme d'habitude si on n'est pas dans un bon jour</a:t>
            </a:r>
          </a:p>
          <a:p>
            <a:pPr marL="342900" indent="-342900" fontAlgn="base">
              <a:lnSpc>
                <a:spcPct val="100000"/>
              </a:lnSpc>
              <a:spcAft>
                <a:spcPct val="0"/>
              </a:spcAft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2400" i="1" dirty="0">
              <a:latin typeface="Arial" panose="020B0604020202020204" pitchFamily="34" charset="0"/>
              <a:ea typeface="Arial-BoldMT" charset="0"/>
              <a:cs typeface="Arial-BoldMT" charset="0"/>
            </a:endParaRP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6. PAS D'HYPERVENTILATION</a:t>
            </a: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2400" b="1" dirty="0">
              <a:solidFill>
                <a:srgbClr val="FF0000"/>
              </a:solidFill>
              <a:latin typeface="Arial" panose="020B0604020202020204" pitchFamily="34" charset="0"/>
              <a:ea typeface="Arial-BoldMT" charset="0"/>
              <a:cs typeface="Arial-BoldMT" charset="0"/>
            </a:endParaRP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7. SIGNALER LES PERF,LA ZONE DE PROXIMITE DES MAX,</a:t>
            </a:r>
          </a:p>
          <a:p>
            <a:pPr marL="0" indent="0" fontAlgn="base">
              <a:lnSpc>
                <a:spcPct val="100000"/>
              </a:lnSpc>
              <a:spcAft>
                <a:spcPct val="0"/>
              </a:spcAft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  <a:ea typeface="Arial-BoldMT" charset="0"/>
                <a:cs typeface="Arial-BoldMT" charset="0"/>
              </a:rPr>
              <a:t>	LA FATIGUE, TOUT PROBLEME à l’encadrant</a:t>
            </a:r>
          </a:p>
        </p:txBody>
      </p:sp>
      <p:sp>
        <p:nvSpPr>
          <p:cNvPr id="5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piscine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70000" lnSpcReduction="2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Connaître l’organigramme du club :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vérifier les aspects réglementaires du club et des personnes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placées sous votre responsabilité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(certif, licence, règlement interne, etc.)</a:t>
            </a:r>
          </a:p>
          <a:p>
            <a:pPr marL="0" indent="0" defTabSz="25200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5200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Connaître la piscine :</a:t>
            </a:r>
          </a:p>
          <a:p>
            <a:pPr lvl="1" defTabSz="252000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personnels présents (ou pas), localisation et fonctionnement des équipements de secours (oxygénothérapie, etc.), moyens d’appel des secours</a:t>
            </a:r>
          </a:p>
          <a:p>
            <a:pPr lvl="1" defTabSz="252000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accès des secours</a:t>
            </a:r>
          </a:p>
          <a:p>
            <a:pPr lvl="1" defTabSz="252000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bassins</a:t>
            </a:r>
          </a:p>
          <a:p>
            <a:pPr defTabSz="252000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25200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Importance de la formation 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rôle de l’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apnéiste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 sécurité</a:t>
            </a: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</a:t>
            </a:r>
          </a:p>
        </p:txBody>
      </p:sp>
    </p:spTree>
    <p:extLst>
      <p:ext uri="{BB962C8B-B14F-4D97-AF65-F5344CB8AC3E}">
        <p14:creationId xmlns:p14="http://schemas.microsoft.com/office/powerpoint/2010/main" val="3988528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statique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binômes ou cercles dans l’eau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Contrôle régulier de la conscience par sollicitation / réponse d’un signe convenu non ambiguë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Annonce du temps ou d’une éventualité de perf.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Pas de tuba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IEA </a:t>
            </a:r>
          </a:p>
        </p:txBody>
      </p:sp>
    </p:spTree>
    <p:extLst>
      <p:ext uri="{BB962C8B-B14F-4D97-AF65-F5344CB8AC3E}">
        <p14:creationId xmlns:p14="http://schemas.microsoft.com/office/powerpoint/2010/main" val="156597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dynamique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binômes (si exercice à risque)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Attention aux consignes de gestion d’un groupe dans la ligne d’eau (croisements, virages, etc.)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les zones à risques (hypoxie, max, etc.)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Surveillance surface au bord du bassin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Surveillance pendant le protocole de surface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Annonce des limites (attention à la fierté, etc.)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Vérifier que la sécu est placée au départ</a:t>
            </a: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</p:spTree>
    <p:extLst>
      <p:ext uri="{BB962C8B-B14F-4D97-AF65-F5344CB8AC3E}">
        <p14:creationId xmlns:p14="http://schemas.microsoft.com/office/powerpoint/2010/main" val="2545325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mer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Milieu ouvert qui augmente la part d’aléas liés au matériel, à l’environnement, aux individus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=&gt; nécessité d’une organisation 				rigoureuse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Sentiment de liberté d’une sortie « loisir »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=&gt; faire respecter le niveau de sécurité, en 		gardant l’esprit détente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de la formation piscine !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</p:spTree>
    <p:extLst>
      <p:ext uri="{BB962C8B-B14F-4D97-AF65-F5344CB8AC3E}">
        <p14:creationId xmlns:p14="http://schemas.microsoft.com/office/powerpoint/2010/main" val="29009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mer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 = Profondeur :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=&gt;Attention à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Barotraumatisme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Lestage adapté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Capacité de réaliser un sauvetage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>
              <a:spcBef>
                <a:spcPts val="1000"/>
              </a:spcBef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Mer = Milieu naturel :</a:t>
            </a:r>
          </a:p>
          <a:p>
            <a:pPr marL="0" indent="0" defTabSz="25200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=&gt;Attention à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Météo (vent, vagues, courant)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Dangers liés à la faune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Signalisation à respecter</a:t>
            </a:r>
          </a:p>
          <a:p>
            <a:pPr marL="228600" lvl="1">
              <a:spcBef>
                <a:spcPts val="1000"/>
              </a:spcBef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</p:spTree>
    <p:extLst>
      <p:ext uri="{BB962C8B-B14F-4D97-AF65-F5344CB8AC3E}">
        <p14:creationId xmlns:p14="http://schemas.microsoft.com/office/powerpoint/2010/main" val="341642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123655"/>
          </a:xfrm>
        </p:spPr>
        <p:txBody>
          <a:bodyPr>
            <a:normAutofit fontScale="92500" lnSpcReduction="1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 = Matériel adapté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Même bases qu’en piscine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Utilisation d’une ligne de vie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Utilisation d’une longe si mauvaise visibilité, courant, proche du max.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Travail en visuel (masques transparents)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Utilisation d’un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contre-poids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pour des profondeurs &gt;30m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Danger spécifique avec la gueuse</a:t>
            </a:r>
          </a:p>
          <a:p>
            <a:pPr marL="457200" lvl="1" indent="0">
              <a:buNone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Travail sur profondeurs maîtrisées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mer</a:t>
            </a:r>
          </a:p>
        </p:txBody>
      </p:sp>
    </p:spTree>
    <p:extLst>
      <p:ext uri="{BB962C8B-B14F-4D97-AF65-F5344CB8AC3E}">
        <p14:creationId xmlns:p14="http://schemas.microsoft.com/office/powerpoint/2010/main" val="1061433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Respect de la règlementation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Respect des prérogatives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Obligation de moyens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>
              <a:spcBef>
                <a:spcPts val="1000"/>
              </a:spcBef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Surveiller et intervenir si nécessaire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Vérifier le respect des consignes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Repérer les comportements à risques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Intervenir gentiment, puis fermement</a:t>
            </a:r>
          </a:p>
          <a:p>
            <a:pPr marL="457200" lvl="1" indent="0">
              <a:buNone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Rappel : ne pas hésiter à exclure un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apnéiste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qui ne se plie pas aux exigences de sécurité.</a:t>
            </a:r>
          </a:p>
          <a:p>
            <a:pPr marL="457200" lvl="1" indent="0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C’est votre responsabilité qui est engagée !</a:t>
            </a:r>
          </a:p>
          <a:p>
            <a:pPr marL="228600" lvl="1">
              <a:spcBef>
                <a:spcPts val="1000"/>
              </a:spcBef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</p:spTree>
    <p:extLst>
      <p:ext uri="{BB962C8B-B14F-4D97-AF65-F5344CB8AC3E}">
        <p14:creationId xmlns:p14="http://schemas.microsoft.com/office/powerpoint/2010/main" val="1084783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Trouver votre équilibre entre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Sérénité (peu de ne pas tout maîtriser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Reponsabilité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(qui contrôle quoi)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Confiance mutuelle (prise de risques maîtrisés)</a:t>
            </a:r>
          </a:p>
          <a:p>
            <a:pPr marL="0" lvl="1" indent="0">
              <a:spcBef>
                <a:spcPts val="1000"/>
              </a:spcBef>
              <a:buNone/>
            </a:pPr>
            <a:endParaRPr lang="fr-F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sécurité prime sur tout le reste, mais ne doit pas être un facteur bloquant</a:t>
            </a:r>
          </a:p>
          <a:p>
            <a:pPr marL="0" lvl="1" indent="0">
              <a:spcBef>
                <a:spcPts val="1000"/>
              </a:spcBef>
              <a:buNone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</a:t>
            </a:r>
          </a:p>
        </p:txBody>
      </p:sp>
    </p:spTree>
    <p:extLst>
      <p:ext uri="{BB962C8B-B14F-4D97-AF65-F5344CB8AC3E}">
        <p14:creationId xmlns:p14="http://schemas.microsoft.com/office/powerpoint/2010/main" val="2454454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68288"/>
            <a:ext cx="8220075" cy="44275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39725" indent="-339725" algn="ctr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fr-FR" altLang="fr-FR" sz="40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39725" indent="-339725" algn="ctr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fr-FR" altLang="fr-FR" sz="40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 algn="ctr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fr-FR" altLang="fr-FR" sz="6000" b="1" i="1" dirty="0">
                <a:solidFill>
                  <a:srgbClr val="FF0000"/>
                </a:solidFill>
                <a:latin typeface="Arial" panose="020B0604020202020204" pitchFamily="34" charset="0"/>
              </a:rPr>
              <a:t>BON</a:t>
            </a:r>
          </a:p>
          <a:p>
            <a:pPr marL="339725" indent="-339725" algn="ctr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fr-FR" altLang="fr-FR" sz="26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 algn="ctr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fr-FR" altLang="fr-FR" sz="6000" b="1" i="1" dirty="0">
                <a:solidFill>
                  <a:srgbClr val="FF0000"/>
                </a:solidFill>
                <a:latin typeface="Arial" panose="020B0604020202020204" pitchFamily="34" charset="0"/>
              </a:rPr>
              <a:t>ENTRAINEMENT !!</a:t>
            </a:r>
          </a:p>
        </p:txBody>
      </p:sp>
      <p:sp>
        <p:nvSpPr>
          <p:cNvPr id="5" name="Espace réservé de la date 3"/>
          <p:cNvSpPr txBox="1">
            <a:spLocks/>
          </p:cNvSpPr>
          <p:nvPr/>
        </p:nvSpPr>
        <p:spPr>
          <a:xfrm>
            <a:off x="179512" y="6309320"/>
            <a:ext cx="2808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 Unicode MS" panose="020B0604020202020204" pitchFamily="34" charset="-128"/>
              </a:defRPr>
            </a:lvl9pPr>
          </a:lstStyle>
          <a:p>
            <a:r>
              <a:rPr lang="fr-FR" dirty="0"/>
              <a:t>Club ASA - Formation IE2A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885</Words>
  <Application>Microsoft Office PowerPoint</Application>
  <PresentationFormat>Affichage à l'écran (4:3)</PresentationFormat>
  <Paragraphs>219</Paragraphs>
  <Slides>21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Office Theme</vt:lpstr>
      <vt:lpstr>   ORGANISATION DE LA SECURITE</vt:lpstr>
      <vt:lpstr>Objectifs</vt:lpstr>
      <vt:lpstr>Dangers et risques de l’apnée</vt:lpstr>
      <vt:lpstr>Paramètres à prendre en compte</vt:lpstr>
      <vt:lpstr>Votre rôle</vt:lpstr>
      <vt:lpstr>Assurer la sécurité</vt:lpstr>
      <vt:lpstr>Présentation PowerPoint</vt:lpstr>
      <vt:lpstr>Présentation PowerPoint</vt:lpstr>
      <vt:lpstr>Comment enseigner la sécurité ?</vt:lpstr>
      <vt:lpstr>Présentation PowerPoint</vt:lpstr>
      <vt:lpstr>LES 7 REGLES D'OR</vt:lpstr>
      <vt:lpstr>Présentation PowerPoint</vt:lpstr>
      <vt:lpstr>En piscine</vt:lpstr>
      <vt:lpstr>Le statique</vt:lpstr>
      <vt:lpstr>Le dynamique</vt:lpstr>
      <vt:lpstr>En mer</vt:lpstr>
      <vt:lpstr>En mer</vt:lpstr>
      <vt:lpstr>En mer</vt:lpstr>
      <vt:lpstr>Conclusion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Physiologie et anatomie.</dc:title>
  <dc:creator>ASA</dc:creator>
  <cp:lastModifiedBy>gilbert kaouma</cp:lastModifiedBy>
  <cp:revision>67</cp:revision>
  <cp:lastPrinted>1601-01-01T00:00:00Z</cp:lastPrinted>
  <dcterms:created xsi:type="dcterms:W3CDTF">2007-02-28T18:57:40Z</dcterms:created>
  <dcterms:modified xsi:type="dcterms:W3CDTF">2019-10-09T23:43:00Z</dcterms:modified>
</cp:coreProperties>
</file>