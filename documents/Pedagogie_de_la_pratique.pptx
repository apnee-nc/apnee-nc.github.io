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7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16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85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34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375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076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855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67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40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60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9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6605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1886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572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061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019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953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84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B0C53F-6CEF-4768-9547-7C7B160E53BB}" type="datetimeFigureOut">
              <a:rPr lang="fr-FR" smtClean="0"/>
              <a:t>25/03/2017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05692-80B4-4FEC-B38F-1D71F20ADD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790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PEDAGOGIE DE LA PRATIQUE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9700591" cy="2785510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Julien LEAU / Thomas Duret</a:t>
            </a:r>
          </a:p>
          <a:p>
            <a:endParaRPr lang="fr-FR" dirty="0"/>
          </a:p>
          <a:p>
            <a:pPr algn="l"/>
            <a:r>
              <a:rPr lang="fr-FR" dirty="0"/>
              <a:t>Source  :</a:t>
            </a:r>
          </a:p>
          <a:p>
            <a:pPr algn="l"/>
            <a:r>
              <a:rPr lang="fr-FR" dirty="0"/>
              <a:t>Eric MAQUET, MEF2° Apnée / COMMISSION Apn2e cote d’azur</a:t>
            </a:r>
          </a:p>
          <a:p>
            <a:pPr algn="l"/>
            <a:r>
              <a:rPr lang="fr-FR" dirty="0"/>
              <a:t>MANUEL DE PREPARATION A’EXAMEN DE MF1 D’APNEE(Niveau C3)2011 Elaboré par Eric CLUA1 Bernard ANDREANI2</a:t>
            </a:r>
          </a:p>
          <a:p>
            <a:pPr algn="l"/>
            <a:r>
              <a:rPr lang="fr-FR" dirty="0"/>
              <a:t>et Jean-Pierre LEROUX3</a:t>
            </a:r>
          </a:p>
          <a:p>
            <a:pPr algn="l"/>
            <a:br>
              <a:rPr lang="fr-FR" dirty="0"/>
            </a:br>
            <a:endParaRPr lang="fr-FR" dirty="0"/>
          </a:p>
          <a:p>
            <a:pPr algn="l"/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754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ELABORATION D’UNE SEANCE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500" dirty="0"/>
              <a:t>Les étapes optimales pour la réalisation d’une séance 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27" y="3105322"/>
            <a:ext cx="10849584" cy="299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4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1 Identification du public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557" y="1294684"/>
            <a:ext cx="9117193" cy="5265142"/>
          </a:xfrm>
          <a:prstGeom prst="rect">
            <a:avLst/>
          </a:prstGeom>
        </p:spPr>
      </p:pic>
      <p:sp>
        <p:nvSpPr>
          <p:cNvPr id="5" name="Explosion : 14 points 4"/>
          <p:cNvSpPr/>
          <p:nvPr/>
        </p:nvSpPr>
        <p:spPr>
          <a:xfrm>
            <a:off x="8107802" y="1127097"/>
            <a:ext cx="3884102" cy="214157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 qui s’adresse ma séance</a:t>
            </a:r>
          </a:p>
        </p:txBody>
      </p:sp>
    </p:spTree>
    <p:extLst>
      <p:ext uri="{BB962C8B-B14F-4D97-AF65-F5344CB8AC3E}">
        <p14:creationId xmlns:p14="http://schemas.microsoft.com/office/powerpoint/2010/main" val="3271789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2 : Exposition du thème et du déroulement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6836" y="2052917"/>
            <a:ext cx="10999304" cy="5222525"/>
          </a:xfrm>
        </p:spPr>
        <p:txBody>
          <a:bodyPr>
            <a:normAutofit fontScale="70000" lnSpcReduction="20000"/>
          </a:bodyPr>
          <a:lstStyle/>
          <a:p>
            <a:r>
              <a:rPr lang="fr-FR" sz="2900" b="1" dirty="0"/>
              <a:t>Présentation du cours à l'élève :  STRATEGIE GLOBALE  </a:t>
            </a:r>
          </a:p>
          <a:p>
            <a:pPr marL="0" indent="0">
              <a:buNone/>
            </a:pPr>
            <a:endParaRPr lang="fr-FR" sz="2900" b="1" dirty="0"/>
          </a:p>
          <a:p>
            <a:pPr marL="0" indent="0">
              <a:buNone/>
            </a:pPr>
            <a:r>
              <a:rPr lang="fr-FR" sz="2900" dirty="0"/>
              <a:t>Replacer dans le contexte de la progression générale ( initiation, </a:t>
            </a:r>
            <a:r>
              <a:rPr lang="fr-FR" sz="2900" dirty="0" err="1"/>
              <a:t>ppg</a:t>
            </a:r>
            <a:r>
              <a:rPr lang="fr-FR" sz="2900" dirty="0"/>
              <a:t>…)</a:t>
            </a:r>
          </a:p>
          <a:p>
            <a:pPr marL="0" indent="0">
              <a:buNone/>
            </a:pPr>
            <a:br>
              <a:rPr lang="fr-FR" sz="2900" dirty="0"/>
            </a:br>
            <a:r>
              <a:rPr lang="fr-FR" sz="2900" dirty="0"/>
              <a:t>Objectifs final de la séance ( </a:t>
            </a:r>
            <a:r>
              <a:rPr lang="fr-FR" sz="2900" dirty="0" err="1"/>
              <a:t>aquacité</a:t>
            </a:r>
            <a:r>
              <a:rPr lang="fr-FR" sz="2900" dirty="0"/>
              <a:t>, développement musculaire, maitriser un virage…)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r>
              <a:rPr lang="fr-FR" sz="2900" dirty="0"/>
              <a:t>Définir les Différentes partie de la séance et type de travail en précisant la durée de chaque étape:</a:t>
            </a:r>
          </a:p>
          <a:p>
            <a:pPr marL="0" indent="0">
              <a:buNone/>
            </a:pPr>
            <a:r>
              <a:rPr lang="fr-FR" sz="2900" dirty="0"/>
              <a:t>(ex : 30 min de renforcement, et 1h de travail hypercapnie…)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r>
              <a:rPr lang="fr-FR" sz="2900" b="1" dirty="0"/>
              <a:t>C’est à cette étape que l’</a:t>
            </a:r>
            <a:r>
              <a:rPr lang="fr-FR" sz="2900" b="1" dirty="0" err="1"/>
              <a:t>eleve</a:t>
            </a:r>
            <a:r>
              <a:rPr lang="fr-FR" sz="2900" b="1" dirty="0"/>
              <a:t> doit comprendre le but de sa séance, pour y adhérer, et ou la relation entre encadrant/encadré se crée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br>
              <a:rPr lang="fr-FR" dirty="0"/>
            </a:br>
            <a:br>
              <a:rPr lang="fr-FR" dirty="0"/>
            </a:b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xplosion : 14 points 3"/>
          <p:cNvSpPr/>
          <p:nvPr/>
        </p:nvSpPr>
        <p:spPr>
          <a:xfrm>
            <a:off x="8307898" y="782459"/>
            <a:ext cx="3884102" cy="214157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Qu’Est-ce que je Propose et Pourquoi </a:t>
            </a:r>
          </a:p>
        </p:txBody>
      </p:sp>
    </p:spTree>
    <p:extLst>
      <p:ext uri="{BB962C8B-B14F-4D97-AF65-F5344CB8AC3E}">
        <p14:creationId xmlns:p14="http://schemas.microsoft.com/office/powerpoint/2010/main" val="421798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3 : Explication des Exos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5287" y="1298714"/>
            <a:ext cx="9559523" cy="51550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500" dirty="0"/>
              <a:t>Décrire les exercices en prenant soin de :</a:t>
            </a:r>
          </a:p>
          <a:p>
            <a:pPr marL="0" indent="0">
              <a:buNone/>
            </a:pPr>
            <a:br>
              <a:rPr lang="fr-FR" sz="2500" dirty="0"/>
            </a:br>
            <a:r>
              <a:rPr lang="fr-FR" sz="2500" dirty="0"/>
              <a:t>- justifier ( le but de l’exo)</a:t>
            </a:r>
            <a:br>
              <a:rPr lang="fr-FR" sz="2500" dirty="0"/>
            </a:br>
            <a:r>
              <a:rPr lang="fr-FR" sz="2500" dirty="0"/>
              <a:t>- expliquer le déroulement</a:t>
            </a:r>
            <a:br>
              <a:rPr lang="fr-FR" sz="2500" dirty="0"/>
            </a:br>
            <a:r>
              <a:rPr lang="fr-FR" sz="2500" dirty="0"/>
              <a:t>- donner des conseils pour la réalisation</a:t>
            </a:r>
            <a:br>
              <a:rPr lang="fr-FR" sz="2500" dirty="0"/>
            </a:br>
            <a:r>
              <a:rPr lang="fr-FR" sz="2500" dirty="0"/>
              <a:t>- présenter le matériel utilisé</a:t>
            </a:r>
            <a:br>
              <a:rPr lang="fr-FR" sz="2500" dirty="0"/>
            </a:br>
            <a:endParaRPr lang="fr-FR" sz="2500" dirty="0"/>
          </a:p>
          <a:p>
            <a:pPr marL="0" indent="0">
              <a:buNone/>
            </a:pPr>
            <a:r>
              <a:rPr lang="fr-FR" sz="2500" dirty="0"/>
              <a:t>Donner les consignes de sécurité et vérifier leur compréhension</a:t>
            </a:r>
            <a:br>
              <a:rPr lang="fr-FR" sz="2500" dirty="0"/>
            </a:br>
            <a:endParaRPr lang="fr-FR" sz="2500" dirty="0"/>
          </a:p>
          <a:p>
            <a:pPr marL="0" indent="0">
              <a:buNone/>
            </a:pPr>
            <a:r>
              <a:rPr lang="fr-FR" sz="2500" dirty="0"/>
              <a:t>Contrôler le matériel individuel</a:t>
            </a:r>
            <a:br>
              <a:rPr lang="fr-FR" sz="2500" dirty="0"/>
            </a:br>
            <a:r>
              <a:rPr lang="fr-FR" sz="2500" dirty="0"/>
              <a:t> </a:t>
            </a:r>
          </a:p>
        </p:txBody>
      </p:sp>
      <p:sp>
        <p:nvSpPr>
          <p:cNvPr id="4" name="Explosion : 14 points 3"/>
          <p:cNvSpPr/>
          <p:nvPr/>
        </p:nvSpPr>
        <p:spPr>
          <a:xfrm>
            <a:off x="8107802" y="1127097"/>
            <a:ext cx="3884102" cy="214157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Comment y Parvenir</a:t>
            </a:r>
          </a:p>
        </p:txBody>
      </p:sp>
    </p:spTree>
    <p:extLst>
      <p:ext uri="{BB962C8B-B14F-4D97-AF65-F5344CB8AC3E}">
        <p14:creationId xmlns:p14="http://schemas.microsoft.com/office/powerpoint/2010/main" val="2983362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4 : Explication des mesures de sécurité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4070" y="1853248"/>
            <a:ext cx="9625783" cy="4395151"/>
          </a:xfrm>
        </p:spPr>
        <p:txBody>
          <a:bodyPr/>
          <a:lstStyle/>
          <a:p>
            <a:r>
              <a:rPr lang="fr-FR" b="1" dirty="0"/>
              <a:t>LA SECURITE DOIT ETRE PERMANENTE ET OMNIPRESENTE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Obligations de Moyens ( sécurité passive): Imposé par la législation ( </a:t>
            </a:r>
            <a:r>
              <a:rPr lang="fr-FR" dirty="0" err="1"/>
              <a:t>Oxy</a:t>
            </a:r>
            <a:r>
              <a:rPr lang="fr-FR" dirty="0"/>
              <a:t> / VHF…)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Obligation de résultat (sécurité active ):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TOUT CE QUE VOUS ALLER METTRE EN ŒUVRE POUR ASSURER LA SECURITE DE VOS ELEVES</a:t>
            </a:r>
          </a:p>
          <a:p>
            <a:pPr marL="0" indent="0">
              <a:buNone/>
            </a:pPr>
            <a:r>
              <a:rPr lang="fr-FR" dirty="0"/>
              <a:t>BINOME – TRINOME – ADAPTATION AUX CONDITIONS - ….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Explosion : 14 points 6"/>
          <p:cNvSpPr/>
          <p:nvPr/>
        </p:nvSpPr>
        <p:spPr>
          <a:xfrm>
            <a:off x="7870576" y="782459"/>
            <a:ext cx="3884102" cy="214157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En toute </a:t>
            </a:r>
            <a:r>
              <a:rPr lang="fr-FR" dirty="0" err="1"/>
              <a:t>securite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1433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5 : DEROULEMENT DES EXOS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460"/>
            <a:ext cx="11741426" cy="58574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400" dirty="0"/>
              <a:t>Vérifier le bon déroulement de la séance</a:t>
            </a:r>
          </a:p>
          <a:p>
            <a:pPr marL="0" indent="0">
              <a:buNone/>
            </a:pPr>
            <a:r>
              <a:rPr lang="fr-FR" sz="2400" dirty="0"/>
              <a:t>Le respect du travail en Binôme et de la sécurité</a:t>
            </a:r>
          </a:p>
          <a:p>
            <a:pPr marL="0" indent="0">
              <a:buNone/>
            </a:pPr>
            <a:r>
              <a:rPr lang="fr-FR" sz="2400" dirty="0"/>
              <a:t>être attentif et à l’</a:t>
            </a:r>
            <a:r>
              <a:rPr lang="fr-FR" sz="2400" dirty="0" err="1"/>
              <a:t>ecoute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Contrôler:</a:t>
            </a:r>
          </a:p>
          <a:p>
            <a:pPr marL="0" indent="0">
              <a:buNone/>
            </a:pPr>
            <a:br>
              <a:rPr lang="fr-FR" sz="2400" dirty="0"/>
            </a:br>
            <a:r>
              <a:rPr lang="fr-FR" sz="2400" dirty="0"/>
              <a:t>- respect des consignes de sécurité</a:t>
            </a:r>
            <a:br>
              <a:rPr lang="fr-FR" sz="2400" dirty="0"/>
            </a:br>
            <a:r>
              <a:rPr lang="fr-FR" sz="2400" dirty="0"/>
              <a:t>- état physique et psychologique des élèves</a:t>
            </a:r>
            <a:br>
              <a:rPr lang="fr-FR" sz="2400" dirty="0"/>
            </a:br>
            <a:r>
              <a:rPr lang="fr-FR" sz="2400" dirty="0"/>
              <a:t>- évolution de l'environnement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Un cours doit être:</a:t>
            </a:r>
          </a:p>
          <a:p>
            <a:pPr marL="0" indent="0">
              <a:buNone/>
            </a:pPr>
            <a:br>
              <a:rPr lang="fr-FR" sz="2400" dirty="0"/>
            </a:br>
            <a:r>
              <a:rPr lang="fr-FR" sz="2400" dirty="0"/>
              <a:t>- attrayant (utiliser des jeux, le plaisir d'être dans l'eau, …)</a:t>
            </a:r>
            <a:br>
              <a:rPr lang="fr-FR" sz="2400" dirty="0"/>
            </a:br>
            <a:r>
              <a:rPr lang="fr-FR" sz="2400" dirty="0"/>
              <a:t>- varié et répétitif (utiliser plusieurs exercices pour atteindre un même objectif)</a:t>
            </a:r>
            <a:br>
              <a:rPr lang="fr-FR" sz="2400" dirty="0"/>
            </a:br>
            <a:r>
              <a:rPr lang="fr-FR" sz="2400" dirty="0"/>
              <a:t>- cohérent et progressif (respect des prérogatives, progression logique)</a:t>
            </a:r>
            <a:br>
              <a:rPr lang="fr-FR" sz="2400" dirty="0"/>
            </a:br>
            <a:r>
              <a:rPr lang="fr-FR" sz="2400" dirty="0"/>
              <a:t>Il faut savoir s'adapter aux particularités des élèves et du milieu</a:t>
            </a:r>
            <a:br>
              <a:rPr lang="fr-FR" sz="2400" dirty="0"/>
            </a:br>
            <a:endParaRPr lang="fr-FR" sz="2400" dirty="0"/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</p:txBody>
      </p:sp>
      <p:sp>
        <p:nvSpPr>
          <p:cNvPr id="4" name="Explosion : 14 points 3"/>
          <p:cNvSpPr/>
          <p:nvPr/>
        </p:nvSpPr>
        <p:spPr>
          <a:xfrm>
            <a:off x="8107802" y="1127097"/>
            <a:ext cx="3884102" cy="214157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Etre attentif et a l’</a:t>
            </a:r>
            <a:r>
              <a:rPr lang="fr-FR" dirty="0" err="1"/>
              <a:t>ecoute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64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Etape 6 : DEBRIEFING ET EVALUATION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2036" y="1853248"/>
            <a:ext cx="9837818" cy="546195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sz="2900" dirty="0"/>
              <a:t>Faire le point sur la séance , voir même après chaque exo:</a:t>
            </a:r>
          </a:p>
          <a:p>
            <a:pPr marL="0" indent="0">
              <a:buNone/>
            </a:pPr>
            <a:br>
              <a:rPr lang="fr-FR" sz="2900" dirty="0"/>
            </a:br>
            <a:r>
              <a:rPr lang="fr-FR" sz="2900" dirty="0"/>
              <a:t>- n'utiliser que des critiques constructives</a:t>
            </a:r>
            <a:br>
              <a:rPr lang="fr-FR" sz="2900" dirty="0"/>
            </a:br>
            <a:r>
              <a:rPr lang="fr-FR" sz="2900" dirty="0"/>
              <a:t>- positiver les résultats obtenus</a:t>
            </a:r>
            <a:br>
              <a:rPr lang="fr-FR" sz="2900" dirty="0"/>
            </a:br>
            <a:r>
              <a:rPr lang="fr-FR" sz="2900" dirty="0"/>
              <a:t>- encourager, il n'y a pas d'échec</a:t>
            </a:r>
            <a:br>
              <a:rPr lang="fr-FR" sz="2900" dirty="0"/>
            </a:br>
            <a:r>
              <a:rPr lang="fr-FR" sz="2900" dirty="0"/>
              <a:t>- Faire la liaison avec la séance suivante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br>
              <a:rPr lang="fr-FR" dirty="0"/>
            </a:br>
            <a:r>
              <a:rPr lang="fr-FR" sz="2900" dirty="0"/>
              <a:t>A la sortie d'une bonne séance, les élèves: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- </a:t>
            </a:r>
            <a:r>
              <a:rPr lang="fr-FR" sz="2900" dirty="0"/>
              <a:t>sont en bonne santé (sécurité)</a:t>
            </a:r>
            <a:br>
              <a:rPr lang="fr-FR" sz="2900" dirty="0"/>
            </a:br>
            <a:r>
              <a:rPr lang="fr-FR" sz="2900" dirty="0"/>
              <a:t>- ont envie de recommencer (plaisir)</a:t>
            </a:r>
            <a:br>
              <a:rPr lang="fr-FR" sz="2900" dirty="0"/>
            </a:br>
            <a:r>
              <a:rPr lang="fr-FR" sz="2900" dirty="0"/>
              <a:t>- ont appris quelque chose (pédagogie)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br>
              <a:rPr lang="fr-FR" dirty="0"/>
            </a:br>
            <a:endParaRPr lang="fr-FR" b="1" dirty="0"/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</p:txBody>
      </p:sp>
      <p:sp>
        <p:nvSpPr>
          <p:cNvPr id="4" name="Explosion : 14 points 3"/>
          <p:cNvSpPr/>
          <p:nvPr/>
        </p:nvSpPr>
        <p:spPr>
          <a:xfrm>
            <a:off x="8307898" y="1152983"/>
            <a:ext cx="3884102" cy="214157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Est-ce </a:t>
            </a:r>
            <a:r>
              <a:rPr lang="fr-FR" dirty="0" err="1"/>
              <a:t>reussi</a:t>
            </a:r>
            <a:r>
              <a:rPr lang="fr-FR" dirty="0"/>
              <a:t> ?</a:t>
            </a:r>
          </a:p>
          <a:p>
            <a:pPr algn="ctr"/>
            <a:r>
              <a:rPr lang="fr-FR" dirty="0"/>
              <a:t>La suite …</a:t>
            </a:r>
          </a:p>
        </p:txBody>
      </p:sp>
    </p:spTree>
    <p:extLst>
      <p:ext uri="{BB962C8B-B14F-4D97-AF65-F5344CB8AC3E}">
        <p14:creationId xmlns:p14="http://schemas.microsoft.com/office/powerpoint/2010/main" val="2195826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69116" y="1526796"/>
            <a:ext cx="11434193" cy="2659310"/>
          </a:xfrm>
        </p:spPr>
        <p:txBody>
          <a:bodyPr/>
          <a:lstStyle/>
          <a:p>
            <a:r>
              <a:rPr lang="fr-FR" dirty="0"/>
              <a:t>Construction d’une séance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003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896" y="571347"/>
            <a:ext cx="1150288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 dirty="0"/>
              <a:t>MOTIVATION DE L'EXERCICE: </a:t>
            </a:r>
            <a:r>
              <a:rPr lang="fr-FR" sz="1500" dirty="0"/>
              <a:t>Ce sont les explications qui permettent d'expliquer aux élèves pourquoi la ou les capacités enseignées dans le cours sont importantes. Il y a deux types de motivations: </a:t>
            </a:r>
          </a:p>
          <a:p>
            <a:r>
              <a:rPr lang="fr-FR" sz="1500" u="sng" dirty="0"/>
              <a:t>Aisance:</a:t>
            </a:r>
            <a:r>
              <a:rPr lang="fr-FR" sz="1500" dirty="0"/>
              <a:t> le contenu du cours apportera plus d'aisance dans un domaine </a:t>
            </a:r>
          </a:p>
          <a:p>
            <a:r>
              <a:rPr lang="fr-FR" sz="1500" u="sng" dirty="0"/>
              <a:t>Sécurité: </a:t>
            </a:r>
            <a:r>
              <a:rPr lang="fr-FR" sz="1500" dirty="0"/>
              <a:t>le contenu du cours apportera plus de sécurité dans un domaine </a:t>
            </a:r>
          </a:p>
          <a:p>
            <a:endParaRPr lang="fr-FR" sz="1500" dirty="0"/>
          </a:p>
          <a:p>
            <a:r>
              <a:rPr lang="fr-FR" sz="1500" b="1" dirty="0"/>
              <a:t>DEFINITION:</a:t>
            </a:r>
            <a:r>
              <a:rPr lang="fr-FR" sz="1500" dirty="0"/>
              <a:t> Définition de(s) capacités enseignée(s) dans le cours.</a:t>
            </a:r>
          </a:p>
          <a:p>
            <a:endParaRPr lang="fr-FR" sz="1500" dirty="0"/>
          </a:p>
          <a:p>
            <a:r>
              <a:rPr lang="fr-FR" sz="1500" b="1" dirty="0"/>
              <a:t>PREREQUIS</a:t>
            </a:r>
            <a:r>
              <a:rPr lang="fr-FR" sz="1500" dirty="0"/>
              <a:t>: Ce sont les capacités qui doivent être acquises par l'élève (les "acquis") pour pouvoir aborder le cours, selon deux logiques:</a:t>
            </a:r>
          </a:p>
          <a:p>
            <a:r>
              <a:rPr lang="fr-FR" sz="1500" u="sng" dirty="0"/>
              <a:t>Logique motrice</a:t>
            </a:r>
            <a:r>
              <a:rPr lang="fr-FR" sz="1500" dirty="0"/>
              <a:t>: Les prérequis permettent à l'élève d'être prêt au point de vue moteur pour suivre le cours.</a:t>
            </a:r>
          </a:p>
          <a:p>
            <a:r>
              <a:rPr lang="fr-FR" sz="1500" u="sng" dirty="0"/>
              <a:t>Logique de sécurité</a:t>
            </a:r>
            <a:r>
              <a:rPr lang="fr-FR" sz="1500" dirty="0"/>
              <a:t>: Les prérequis sont nécessaires pour que l'élève suive le cours en toute sécurité.</a:t>
            </a:r>
          </a:p>
          <a:p>
            <a:endParaRPr lang="fr-FR" sz="1500" dirty="0"/>
          </a:p>
          <a:p>
            <a:r>
              <a:rPr lang="fr-FR" sz="1500" b="1" dirty="0"/>
              <a:t>EVALUATION DES PREREQUIS</a:t>
            </a:r>
            <a:r>
              <a:rPr lang="fr-FR" sz="1500" dirty="0"/>
              <a:t>: Exercices qui permettent de vérifier que l'élève maîtrise bien les prérequis.</a:t>
            </a:r>
          </a:p>
          <a:p>
            <a:endParaRPr lang="fr-FR" sz="1500" dirty="0"/>
          </a:p>
          <a:p>
            <a:r>
              <a:rPr lang="fr-FR" sz="1500" b="1" dirty="0"/>
              <a:t>ORGANISATION Matérielle: </a:t>
            </a:r>
            <a:r>
              <a:rPr lang="fr-FR" sz="1500" dirty="0"/>
              <a:t>L'équipement nécessaire au cours. </a:t>
            </a:r>
          </a:p>
          <a:p>
            <a:endParaRPr lang="fr-FR" sz="1500" dirty="0"/>
          </a:p>
          <a:p>
            <a:r>
              <a:rPr lang="fr-FR" sz="1500" b="1" dirty="0"/>
              <a:t>PREPARATION DU COURS</a:t>
            </a:r>
            <a:r>
              <a:rPr lang="fr-FR" sz="1500" dirty="0"/>
              <a:t>: Ce sont les informations que l'enseignant va transmettre à l'élève avant la réalisation des exercices. </a:t>
            </a:r>
          </a:p>
          <a:p>
            <a:endParaRPr lang="fr-FR" sz="1500" dirty="0"/>
          </a:p>
          <a:p>
            <a:r>
              <a:rPr lang="fr-FR" sz="1500" b="1" dirty="0"/>
              <a:t>OBJECTIFS (NIVEAUX): </a:t>
            </a:r>
            <a:r>
              <a:rPr lang="fr-FR" sz="1500" dirty="0"/>
              <a:t>La ou les savoir, savoir-être, ou savoir-faire que l'élève devra connaître à l'issu de la formation pour obtenir un niveau donné. Il y aura différentes étapes qui permettront d'atteindre l'objectif. Selon les niveaux, le nombre d'objectifs et leurs difficultés est variable. </a:t>
            </a:r>
          </a:p>
          <a:p>
            <a:endParaRPr lang="fr-FR" sz="1500" dirty="0"/>
          </a:p>
          <a:p>
            <a:r>
              <a:rPr lang="fr-FR" sz="1500" b="1" dirty="0"/>
              <a:t>EVALUATION DES OBJECTIFS: </a:t>
            </a:r>
            <a:r>
              <a:rPr lang="fr-FR" sz="1500" dirty="0"/>
              <a:t>Exercices qui permettent de vérifier si les objectifs spécifiques sont atteints (résultats réalisables, précis, mesurables et limités). </a:t>
            </a:r>
          </a:p>
          <a:p>
            <a:endParaRPr lang="fr-FR" sz="1500" dirty="0"/>
          </a:p>
          <a:p>
            <a:r>
              <a:rPr lang="fr-FR" sz="1500" b="1" dirty="0"/>
              <a:t>EXERCICES: </a:t>
            </a:r>
            <a:r>
              <a:rPr lang="fr-FR" sz="1500" dirty="0"/>
              <a:t>Exemples d'exercices pour atteindre les objectifs.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2083873" y="86406"/>
            <a:ext cx="80440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Construction méthodique d'une séance de formation pratique</a:t>
            </a:r>
            <a:br>
              <a:rPr lang="fr-FR" sz="2000" dirty="0">
                <a:solidFill>
                  <a:srgbClr val="000000"/>
                </a:solidFill>
              </a:rPr>
            </a:b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84279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760" y="452718"/>
            <a:ext cx="10930597" cy="597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4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99" y="247324"/>
            <a:ext cx="10892819" cy="630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829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233</TotalTime>
  <Words>513</Words>
  <Application>Microsoft Office PowerPoint</Application>
  <PresentationFormat>Grand écran</PresentationFormat>
  <Paragraphs>89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PEDAGOGIE DE LA PRATIQUE </vt:lpstr>
      <vt:lpstr>ELABORATION D’UNE SEANCE</vt:lpstr>
      <vt:lpstr>Etape 1 Identification du public</vt:lpstr>
      <vt:lpstr>Etape 2 : Exposition du thème et du déroulement</vt:lpstr>
      <vt:lpstr>Etape 3 : Explication des Exos</vt:lpstr>
      <vt:lpstr>Etape 4 : Explication des mesures de sécurité</vt:lpstr>
      <vt:lpstr>Etape 5 : DEROULEMENT DES EXOS</vt:lpstr>
      <vt:lpstr>Etape 6 : DEBRIEFING ET EVALUATION </vt:lpstr>
      <vt:lpstr>Construction d’une séance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PEDAGOGIE DE LA PRATIQUE</dc:title>
  <dc:creator>Thomas Duret</dc:creator>
  <cp:lastModifiedBy>Thomas Duret</cp:lastModifiedBy>
  <cp:revision>25</cp:revision>
  <dcterms:created xsi:type="dcterms:W3CDTF">2017-03-23T05:04:47Z</dcterms:created>
  <dcterms:modified xsi:type="dcterms:W3CDTF">2017-03-24T22:58:09Z</dcterms:modified>
</cp:coreProperties>
</file>