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av" ContentType="audio/wav"/>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handoutMasterIdLst>
    <p:handoutMasterId r:id="rId23"/>
  </p:handoutMasterIdLst>
  <p:sldIdLst>
    <p:sldId id="256" r:id="rId2"/>
    <p:sldId id="257" r:id="rId3"/>
    <p:sldId id="276" r:id="rId4"/>
    <p:sldId id="263" r:id="rId5"/>
    <p:sldId id="260" r:id="rId6"/>
    <p:sldId id="262" r:id="rId7"/>
    <p:sldId id="264" r:id="rId8"/>
    <p:sldId id="261" r:id="rId9"/>
    <p:sldId id="259" r:id="rId10"/>
    <p:sldId id="277" r:id="rId11"/>
    <p:sldId id="278" r:id="rId12"/>
    <p:sldId id="266" r:id="rId13"/>
    <p:sldId id="269" r:id="rId14"/>
    <p:sldId id="268" r:id="rId15"/>
    <p:sldId id="271" r:id="rId16"/>
    <p:sldId id="272" r:id="rId17"/>
    <p:sldId id="273" r:id="rId18"/>
    <p:sldId id="275" r:id="rId19"/>
    <p:sldId id="274" r:id="rId20"/>
    <p:sldId id="279" r:id="rId21"/>
    <p:sldId id="280" r:id="rId22"/>
  </p:sldIdLst>
  <p:sldSz cx="9144000" cy="6858000" type="screen4x3"/>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115" autoAdjust="0"/>
    <p:restoredTop sz="94602" autoAdjust="0"/>
  </p:normalViewPr>
  <p:slideViewPr>
    <p:cSldViewPr>
      <p:cViewPr>
        <p:scale>
          <a:sx n="52" d="100"/>
          <a:sy n="52" d="100"/>
        </p:scale>
        <p:origin x="-1644" y="-348"/>
      </p:cViewPr>
      <p:guideLst>
        <p:guide orient="horz" pos="2160"/>
        <p:guide pos="2880"/>
      </p:guideLst>
    </p:cSldViewPr>
  </p:slideViewPr>
  <p:outlineViewPr>
    <p:cViewPr>
      <p:scale>
        <a:sx n="33" d="100"/>
        <a:sy n="33" d="100"/>
      </p:scale>
      <p:origin x="0" y="364"/>
    </p:cViewPr>
  </p:outlineViewPr>
  <p:notesTextViewPr>
    <p:cViewPr>
      <p:scale>
        <a:sx n="1" d="1"/>
        <a:sy n="1" d="1"/>
      </p:scale>
      <p:origin x="0" y="0"/>
    </p:cViewPr>
  </p:notesTextViewPr>
  <p:sorterViewPr>
    <p:cViewPr>
      <p:scale>
        <a:sx n="100" d="100"/>
        <a:sy n="100" d="100"/>
      </p:scale>
      <p:origin x="0" y="2076"/>
    </p:cViewPr>
  </p:sorterViewPr>
  <p:notesViewPr>
    <p:cSldViewPr>
      <p:cViewPr varScale="1">
        <p:scale>
          <a:sx n="52" d="100"/>
          <a:sy n="52" d="100"/>
        </p:scale>
        <p:origin x="-2700" y="-6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11EE0F19-C2CA-4029-B2AC-C6F43BD2FCD4}" type="datetimeFigureOut">
              <a:rPr lang="fr-FR" smtClean="0"/>
              <a:t>21/03/2017</a:t>
            </a:fld>
            <a:endParaRPr lang="fr-FR"/>
          </a:p>
        </p:txBody>
      </p:sp>
      <p:sp>
        <p:nvSpPr>
          <p:cNvPr id="4" name="Espace réservé du pied de page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fr-FR"/>
          </a:p>
        </p:txBody>
      </p:sp>
      <p:sp>
        <p:nvSpPr>
          <p:cNvPr id="5" name="Espace réservé du numéro de diapositive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AD3B60DC-3E37-49EE-B6EE-45F035F020ED}" type="slidenum">
              <a:rPr lang="fr-FR" smtClean="0"/>
              <a:t>‹N°›</a:t>
            </a:fld>
            <a:endParaRPr lang="fr-FR"/>
          </a:p>
        </p:txBody>
      </p:sp>
    </p:spTree>
    <p:extLst>
      <p:ext uri="{BB962C8B-B14F-4D97-AF65-F5344CB8AC3E}">
        <p14:creationId xmlns:p14="http://schemas.microsoft.com/office/powerpoint/2010/main" val="3438482904"/>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fr-FR" smtClean="0"/>
              <a:t>Modifiez le style du titre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fr-FR" smtClean="0"/>
              <a:t>Modifiez le style des sous-titres du masque</a:t>
            </a:r>
            <a:endParaRPr kumimoji="0" lang="en-US"/>
          </a:p>
        </p:txBody>
      </p:sp>
      <p:sp>
        <p:nvSpPr>
          <p:cNvPr id="30" name="Date Placeholder 29"/>
          <p:cNvSpPr>
            <a:spLocks noGrp="1"/>
          </p:cNvSpPr>
          <p:nvPr>
            <p:ph type="dt" sz="half" idx="10"/>
          </p:nvPr>
        </p:nvSpPr>
        <p:spPr/>
        <p:txBody>
          <a:bodyPr/>
          <a:lstStyle/>
          <a:p>
            <a:fld id="{757FC9D0-86B9-4F7B-9DCB-5037FF442063}" type="datetimeFigureOut">
              <a:rPr lang="fr-FR" smtClean="0"/>
              <a:t>21/03/2017</a:t>
            </a:fld>
            <a:endParaRPr lang="fr-FR" dirty="0"/>
          </a:p>
        </p:txBody>
      </p:sp>
      <p:sp>
        <p:nvSpPr>
          <p:cNvPr id="19" name="Footer Placeholder 18"/>
          <p:cNvSpPr>
            <a:spLocks noGrp="1"/>
          </p:cNvSpPr>
          <p:nvPr>
            <p:ph type="ftr" sz="quarter" idx="11"/>
          </p:nvPr>
        </p:nvSpPr>
        <p:spPr/>
        <p:txBody>
          <a:bodyPr/>
          <a:lstStyle/>
          <a:p>
            <a:endParaRPr lang="fr-FR" dirty="0"/>
          </a:p>
        </p:txBody>
      </p:sp>
      <p:sp>
        <p:nvSpPr>
          <p:cNvPr id="27" name="Slide Number Placeholder 26"/>
          <p:cNvSpPr>
            <a:spLocks noGrp="1"/>
          </p:cNvSpPr>
          <p:nvPr>
            <p:ph type="sldNum" sz="quarter" idx="12"/>
          </p:nvPr>
        </p:nvSpPr>
        <p:spPr/>
        <p:txBody>
          <a:bodyPr/>
          <a:lstStyle/>
          <a:p>
            <a:fld id="{F54C0DE9-B767-410B-9A27-4F2BF6909184}" type="slidenum">
              <a:rPr lang="fr-FR" smtClean="0"/>
              <a:t>‹N°›</a:t>
            </a:fld>
            <a:endParaRPr lang="fr-FR"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fr-FR" smtClean="0"/>
              <a:t>Modifiez le style du titre</a:t>
            </a:r>
            <a:endParaRPr kumimoji="0" lang="en-US"/>
          </a:p>
        </p:txBody>
      </p:sp>
      <p:sp>
        <p:nvSpPr>
          <p:cNvPr id="3" name="Content Placeholder 2"/>
          <p:cNvSpPr>
            <a:spLocks noGrp="1"/>
          </p:cNvSpPr>
          <p:nvPr>
            <p:ph idx="1"/>
          </p:nvPr>
        </p:nvSpPr>
        <p:spPr/>
        <p:txBody>
          <a:bodyPr/>
          <a:lstStyle/>
          <a:p>
            <a:pPr lvl="0" eaLnBrk="1" latinLnBrk="0" hangingPunct="1"/>
            <a:r>
              <a:rPr lang="fr-FR" smtClean="0"/>
              <a:t>Modifiez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4" name="Date Placeholder 3"/>
          <p:cNvSpPr>
            <a:spLocks noGrp="1"/>
          </p:cNvSpPr>
          <p:nvPr>
            <p:ph type="dt" sz="half" idx="10"/>
          </p:nvPr>
        </p:nvSpPr>
        <p:spPr/>
        <p:txBody>
          <a:bodyPr/>
          <a:lstStyle/>
          <a:p>
            <a:fld id="{757FC9D0-86B9-4F7B-9DCB-5037FF442063}" type="datetimeFigureOut">
              <a:rPr lang="fr-FR" smtClean="0"/>
              <a:t>21/03/2017</a:t>
            </a:fld>
            <a:endParaRPr lang="fr-FR" dirty="0"/>
          </a:p>
        </p:txBody>
      </p:sp>
      <p:sp>
        <p:nvSpPr>
          <p:cNvPr id="5" name="Footer Placeholder 4"/>
          <p:cNvSpPr>
            <a:spLocks noGrp="1"/>
          </p:cNvSpPr>
          <p:nvPr>
            <p:ph type="ftr" sz="quarter" idx="11"/>
          </p:nvPr>
        </p:nvSpPr>
        <p:spPr/>
        <p:txBody>
          <a:bodyPr/>
          <a:lstStyle/>
          <a:p>
            <a:endParaRPr lang="fr-FR" dirty="0"/>
          </a:p>
        </p:txBody>
      </p:sp>
      <p:sp>
        <p:nvSpPr>
          <p:cNvPr id="6" name="Slide Number Placeholder 5"/>
          <p:cNvSpPr>
            <a:spLocks noGrp="1"/>
          </p:cNvSpPr>
          <p:nvPr>
            <p:ph type="sldNum" sz="quarter" idx="12"/>
          </p:nvPr>
        </p:nvSpPr>
        <p:spPr/>
        <p:txBody>
          <a:bodyPr/>
          <a:lstStyle/>
          <a:p>
            <a:fld id="{F54C0DE9-B767-410B-9A27-4F2BF6909184}" type="slidenum">
              <a:rPr lang="fr-FR" smtClean="0"/>
              <a:t>‹N°›</a:t>
            </a:fld>
            <a:endParaRPr lang="fr-F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fr-FR" smtClean="0"/>
              <a:t>Modifiez le style du titre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fr-FR" smtClean="0"/>
              <a:t>Modifiez les styles du texte du masque</a:t>
            </a:r>
          </a:p>
        </p:txBody>
      </p:sp>
      <p:sp>
        <p:nvSpPr>
          <p:cNvPr id="4" name="Date Placeholder 3"/>
          <p:cNvSpPr>
            <a:spLocks noGrp="1"/>
          </p:cNvSpPr>
          <p:nvPr>
            <p:ph type="dt" sz="half" idx="10"/>
          </p:nvPr>
        </p:nvSpPr>
        <p:spPr/>
        <p:txBody>
          <a:bodyPr/>
          <a:lstStyle/>
          <a:p>
            <a:fld id="{757FC9D0-86B9-4F7B-9DCB-5037FF442063}" type="datetimeFigureOut">
              <a:rPr lang="fr-FR" smtClean="0"/>
              <a:t>21/03/2017</a:t>
            </a:fld>
            <a:endParaRPr lang="fr-FR" dirty="0"/>
          </a:p>
        </p:txBody>
      </p:sp>
      <p:sp>
        <p:nvSpPr>
          <p:cNvPr id="5" name="Footer Placeholder 4"/>
          <p:cNvSpPr>
            <a:spLocks noGrp="1"/>
          </p:cNvSpPr>
          <p:nvPr>
            <p:ph type="ftr" sz="quarter" idx="11"/>
          </p:nvPr>
        </p:nvSpPr>
        <p:spPr/>
        <p:txBody>
          <a:bodyPr/>
          <a:lstStyle/>
          <a:p>
            <a:endParaRPr lang="fr-FR" dirty="0"/>
          </a:p>
        </p:txBody>
      </p:sp>
      <p:sp>
        <p:nvSpPr>
          <p:cNvPr id="6" name="Slide Number Placeholder 5"/>
          <p:cNvSpPr>
            <a:spLocks noGrp="1"/>
          </p:cNvSpPr>
          <p:nvPr>
            <p:ph type="sldNum" sz="quarter" idx="12"/>
          </p:nvPr>
        </p:nvSpPr>
        <p:spPr/>
        <p:txBody>
          <a:bodyPr/>
          <a:lstStyle/>
          <a:p>
            <a:fld id="{F54C0DE9-B767-410B-9A27-4F2BF6909184}" type="slidenum">
              <a:rPr lang="fr-FR" smtClean="0"/>
              <a:t>‹N°›</a:t>
            </a:fld>
            <a:endParaRPr lang="fr-FR" dirty="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fr-FR" smtClean="0"/>
              <a:t>Modifiez le style du titre</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fr-FR" smtClean="0"/>
              <a:t>Modifiez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fr-FR" smtClean="0"/>
              <a:t>Modifiez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5" name="Date Placeholder 4"/>
          <p:cNvSpPr>
            <a:spLocks noGrp="1"/>
          </p:cNvSpPr>
          <p:nvPr>
            <p:ph type="dt" sz="half" idx="10"/>
          </p:nvPr>
        </p:nvSpPr>
        <p:spPr/>
        <p:txBody>
          <a:bodyPr/>
          <a:lstStyle/>
          <a:p>
            <a:fld id="{757FC9D0-86B9-4F7B-9DCB-5037FF442063}" type="datetimeFigureOut">
              <a:rPr lang="fr-FR" smtClean="0"/>
              <a:t>21/03/2017</a:t>
            </a:fld>
            <a:endParaRPr lang="fr-FR" dirty="0"/>
          </a:p>
        </p:txBody>
      </p:sp>
      <p:sp>
        <p:nvSpPr>
          <p:cNvPr id="6" name="Footer Placeholder 5"/>
          <p:cNvSpPr>
            <a:spLocks noGrp="1"/>
          </p:cNvSpPr>
          <p:nvPr>
            <p:ph type="ftr" sz="quarter" idx="11"/>
          </p:nvPr>
        </p:nvSpPr>
        <p:spPr/>
        <p:txBody>
          <a:bodyPr/>
          <a:lstStyle/>
          <a:p>
            <a:endParaRPr lang="fr-FR" dirty="0"/>
          </a:p>
        </p:txBody>
      </p:sp>
      <p:sp>
        <p:nvSpPr>
          <p:cNvPr id="7" name="Slide Number Placeholder 6"/>
          <p:cNvSpPr>
            <a:spLocks noGrp="1"/>
          </p:cNvSpPr>
          <p:nvPr>
            <p:ph type="sldNum" sz="quarter" idx="12"/>
          </p:nvPr>
        </p:nvSpPr>
        <p:spPr/>
        <p:txBody>
          <a:bodyPr/>
          <a:lstStyle/>
          <a:p>
            <a:fld id="{F54C0DE9-B767-410B-9A27-4F2BF6909184}" type="slidenum">
              <a:rPr lang="fr-FR" smtClean="0"/>
              <a:t>‹N°›</a:t>
            </a:fld>
            <a:endParaRPr lang="fr-F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fr-FR" smtClean="0"/>
              <a:t>Modifiez le style du titre</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fr-FR" smtClean="0"/>
              <a:t>Modifiez les styles du texte du masque</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fr-FR" smtClean="0"/>
              <a:t>Modifiez les styles du texte du masque</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fr-FR" smtClean="0"/>
              <a:t>Modifiez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fr-FR" smtClean="0"/>
              <a:t>Modifiez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7" name="Date Placeholder 6"/>
          <p:cNvSpPr>
            <a:spLocks noGrp="1"/>
          </p:cNvSpPr>
          <p:nvPr>
            <p:ph type="dt" sz="half" idx="10"/>
          </p:nvPr>
        </p:nvSpPr>
        <p:spPr/>
        <p:txBody>
          <a:bodyPr/>
          <a:lstStyle/>
          <a:p>
            <a:fld id="{757FC9D0-86B9-4F7B-9DCB-5037FF442063}" type="datetimeFigureOut">
              <a:rPr lang="fr-FR" smtClean="0"/>
              <a:t>21/03/2017</a:t>
            </a:fld>
            <a:endParaRPr lang="fr-FR" dirty="0"/>
          </a:p>
        </p:txBody>
      </p:sp>
      <p:sp>
        <p:nvSpPr>
          <p:cNvPr id="8" name="Footer Placeholder 7"/>
          <p:cNvSpPr>
            <a:spLocks noGrp="1"/>
          </p:cNvSpPr>
          <p:nvPr>
            <p:ph type="ftr" sz="quarter" idx="11"/>
          </p:nvPr>
        </p:nvSpPr>
        <p:spPr/>
        <p:txBody>
          <a:bodyPr/>
          <a:lstStyle/>
          <a:p>
            <a:endParaRPr lang="fr-FR" dirty="0"/>
          </a:p>
        </p:txBody>
      </p:sp>
      <p:sp>
        <p:nvSpPr>
          <p:cNvPr id="9" name="Slide Number Placeholder 8"/>
          <p:cNvSpPr>
            <a:spLocks noGrp="1"/>
          </p:cNvSpPr>
          <p:nvPr>
            <p:ph type="sldNum" sz="quarter" idx="12"/>
          </p:nvPr>
        </p:nvSpPr>
        <p:spPr/>
        <p:txBody>
          <a:bodyPr/>
          <a:lstStyle/>
          <a:p>
            <a:fld id="{F54C0DE9-B767-410B-9A27-4F2BF6909184}" type="slidenum">
              <a:rPr lang="fr-FR" smtClean="0"/>
              <a:t>‹N°›</a:t>
            </a:fld>
            <a:endParaRPr lang="fr-FR"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fr-FR" smtClean="0"/>
              <a:t>Modifiez le style du titre</a:t>
            </a:r>
            <a:endParaRPr kumimoji="0" lang="en-US"/>
          </a:p>
        </p:txBody>
      </p:sp>
      <p:sp>
        <p:nvSpPr>
          <p:cNvPr id="3" name="Date Placeholder 2"/>
          <p:cNvSpPr>
            <a:spLocks noGrp="1"/>
          </p:cNvSpPr>
          <p:nvPr>
            <p:ph type="dt" sz="half" idx="10"/>
          </p:nvPr>
        </p:nvSpPr>
        <p:spPr/>
        <p:txBody>
          <a:bodyPr/>
          <a:lstStyle/>
          <a:p>
            <a:fld id="{757FC9D0-86B9-4F7B-9DCB-5037FF442063}" type="datetimeFigureOut">
              <a:rPr lang="fr-FR" smtClean="0"/>
              <a:t>21/03/2017</a:t>
            </a:fld>
            <a:endParaRPr lang="fr-FR" dirty="0"/>
          </a:p>
        </p:txBody>
      </p:sp>
      <p:sp>
        <p:nvSpPr>
          <p:cNvPr id="4" name="Footer Placeholder 3"/>
          <p:cNvSpPr>
            <a:spLocks noGrp="1"/>
          </p:cNvSpPr>
          <p:nvPr>
            <p:ph type="ftr" sz="quarter" idx="11"/>
          </p:nvPr>
        </p:nvSpPr>
        <p:spPr/>
        <p:txBody>
          <a:bodyPr/>
          <a:lstStyle/>
          <a:p>
            <a:endParaRPr lang="fr-FR" dirty="0"/>
          </a:p>
        </p:txBody>
      </p:sp>
      <p:sp>
        <p:nvSpPr>
          <p:cNvPr id="5" name="Slide Number Placeholder 4"/>
          <p:cNvSpPr>
            <a:spLocks noGrp="1"/>
          </p:cNvSpPr>
          <p:nvPr>
            <p:ph type="sldNum" sz="quarter" idx="12"/>
          </p:nvPr>
        </p:nvSpPr>
        <p:spPr/>
        <p:txBody>
          <a:bodyPr/>
          <a:lstStyle/>
          <a:p>
            <a:fld id="{F54C0DE9-B767-410B-9A27-4F2BF6909184}" type="slidenum">
              <a:rPr lang="fr-FR" smtClean="0"/>
              <a:t>‹N°›</a:t>
            </a:fld>
            <a:endParaRPr lang="fr-FR"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57FC9D0-86B9-4F7B-9DCB-5037FF442063}" type="datetimeFigureOut">
              <a:rPr lang="fr-FR" smtClean="0"/>
              <a:t>21/03/2017</a:t>
            </a:fld>
            <a:endParaRPr lang="fr-FR" dirty="0"/>
          </a:p>
        </p:txBody>
      </p:sp>
      <p:sp>
        <p:nvSpPr>
          <p:cNvPr id="3" name="Footer Placeholder 2"/>
          <p:cNvSpPr>
            <a:spLocks noGrp="1"/>
          </p:cNvSpPr>
          <p:nvPr>
            <p:ph type="ftr" sz="quarter" idx="11"/>
          </p:nvPr>
        </p:nvSpPr>
        <p:spPr/>
        <p:txBody>
          <a:bodyPr/>
          <a:lstStyle/>
          <a:p>
            <a:endParaRPr lang="fr-FR" dirty="0"/>
          </a:p>
        </p:txBody>
      </p:sp>
      <p:sp>
        <p:nvSpPr>
          <p:cNvPr id="4" name="Slide Number Placeholder 3"/>
          <p:cNvSpPr>
            <a:spLocks noGrp="1"/>
          </p:cNvSpPr>
          <p:nvPr>
            <p:ph type="sldNum" sz="quarter" idx="12"/>
          </p:nvPr>
        </p:nvSpPr>
        <p:spPr/>
        <p:txBody>
          <a:bodyPr/>
          <a:lstStyle/>
          <a:p>
            <a:fld id="{F54C0DE9-B767-410B-9A27-4F2BF6909184}" type="slidenum">
              <a:rPr lang="fr-FR" smtClean="0"/>
              <a:t>‹N°›</a:t>
            </a:fld>
            <a:endParaRPr lang="fr-FR"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fr-FR" smtClean="0"/>
              <a:t>Modifiez le style du titre</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fr-FR" smtClean="0"/>
              <a:t>Modifiez les styles du texte du masque</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fr-FR" smtClean="0"/>
              <a:t>Modifiez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5" name="Date Placeholder 4"/>
          <p:cNvSpPr>
            <a:spLocks noGrp="1"/>
          </p:cNvSpPr>
          <p:nvPr>
            <p:ph type="dt" sz="half" idx="10"/>
          </p:nvPr>
        </p:nvSpPr>
        <p:spPr/>
        <p:txBody>
          <a:bodyPr/>
          <a:lstStyle/>
          <a:p>
            <a:fld id="{757FC9D0-86B9-4F7B-9DCB-5037FF442063}" type="datetimeFigureOut">
              <a:rPr lang="fr-FR" smtClean="0"/>
              <a:t>21/03/2017</a:t>
            </a:fld>
            <a:endParaRPr lang="fr-FR" dirty="0"/>
          </a:p>
        </p:txBody>
      </p:sp>
      <p:sp>
        <p:nvSpPr>
          <p:cNvPr id="6" name="Footer Placeholder 5"/>
          <p:cNvSpPr>
            <a:spLocks noGrp="1"/>
          </p:cNvSpPr>
          <p:nvPr>
            <p:ph type="ftr" sz="quarter" idx="11"/>
          </p:nvPr>
        </p:nvSpPr>
        <p:spPr/>
        <p:txBody>
          <a:bodyPr/>
          <a:lstStyle/>
          <a:p>
            <a:endParaRPr lang="fr-FR" dirty="0"/>
          </a:p>
        </p:txBody>
      </p:sp>
      <p:sp>
        <p:nvSpPr>
          <p:cNvPr id="7" name="Slide Number Placeholder 6"/>
          <p:cNvSpPr>
            <a:spLocks noGrp="1"/>
          </p:cNvSpPr>
          <p:nvPr>
            <p:ph type="sldNum" sz="quarter" idx="12"/>
          </p:nvPr>
        </p:nvSpPr>
        <p:spPr/>
        <p:txBody>
          <a:bodyPr/>
          <a:lstStyle/>
          <a:p>
            <a:fld id="{F54C0DE9-B767-410B-9A27-4F2BF6909184}" type="slidenum">
              <a:rPr lang="fr-FR" smtClean="0"/>
              <a:t>‹N°›</a:t>
            </a:fld>
            <a:endParaRPr lang="fr-FR"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fr-FR" smtClean="0"/>
              <a:t>Modifiez le style du titre</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fr-FR" smtClean="0"/>
              <a:t>Modifiez les styles du texte du masque</a:t>
            </a:r>
          </a:p>
        </p:txBody>
      </p:sp>
      <p:sp>
        <p:nvSpPr>
          <p:cNvPr id="5" name="Date Placeholder 4"/>
          <p:cNvSpPr>
            <a:spLocks noGrp="1"/>
          </p:cNvSpPr>
          <p:nvPr>
            <p:ph type="dt" sz="half" idx="10"/>
          </p:nvPr>
        </p:nvSpPr>
        <p:spPr/>
        <p:txBody>
          <a:bodyPr/>
          <a:lstStyle/>
          <a:p>
            <a:fld id="{757FC9D0-86B9-4F7B-9DCB-5037FF442063}" type="datetimeFigureOut">
              <a:rPr lang="fr-FR" smtClean="0"/>
              <a:t>21/03/2017</a:t>
            </a:fld>
            <a:endParaRPr lang="fr-FR" dirty="0"/>
          </a:p>
        </p:txBody>
      </p:sp>
      <p:sp>
        <p:nvSpPr>
          <p:cNvPr id="6" name="Footer Placeholder 5"/>
          <p:cNvSpPr>
            <a:spLocks noGrp="1"/>
          </p:cNvSpPr>
          <p:nvPr>
            <p:ph type="ftr" sz="quarter" idx="11"/>
          </p:nvPr>
        </p:nvSpPr>
        <p:spPr/>
        <p:txBody>
          <a:bodyPr/>
          <a:lstStyle/>
          <a:p>
            <a:endParaRPr lang="fr-FR" dirty="0"/>
          </a:p>
        </p:txBody>
      </p:sp>
      <p:sp>
        <p:nvSpPr>
          <p:cNvPr id="7" name="Slide Number Placeholder 6"/>
          <p:cNvSpPr>
            <a:spLocks noGrp="1"/>
          </p:cNvSpPr>
          <p:nvPr>
            <p:ph type="sldNum" sz="quarter" idx="12"/>
          </p:nvPr>
        </p:nvSpPr>
        <p:spPr>
          <a:xfrm>
            <a:off x="8077200" y="6356350"/>
            <a:ext cx="609600" cy="365125"/>
          </a:xfrm>
        </p:spPr>
        <p:txBody>
          <a:bodyPr/>
          <a:lstStyle/>
          <a:p>
            <a:fld id="{F54C0DE9-B767-410B-9A27-4F2BF6909184}" type="slidenum">
              <a:rPr lang="fr-FR" smtClean="0"/>
              <a:t>‹N°›</a:t>
            </a:fld>
            <a:endParaRPr lang="fr-FR" dirty="0"/>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fr-FR" smtClean="0"/>
              <a:t>Cliquez sur l'icône pour ajouter une image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fr-FR" smtClean="0"/>
              <a:t>Modifiez le style du titre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fr-FR" smtClean="0"/>
              <a:t>Modifiez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4" name="Date Placeholder 3"/>
          <p:cNvSpPr>
            <a:spLocks noGrp="1"/>
          </p:cNvSpPr>
          <p:nvPr>
            <p:ph type="dt" sz="half" idx="10"/>
          </p:nvPr>
        </p:nvSpPr>
        <p:spPr/>
        <p:txBody>
          <a:bodyPr/>
          <a:lstStyle/>
          <a:p>
            <a:fld id="{757FC9D0-86B9-4F7B-9DCB-5037FF442063}" type="datetimeFigureOut">
              <a:rPr lang="fr-FR" smtClean="0"/>
              <a:t>21/03/2017</a:t>
            </a:fld>
            <a:endParaRPr lang="fr-FR" dirty="0"/>
          </a:p>
        </p:txBody>
      </p:sp>
      <p:sp>
        <p:nvSpPr>
          <p:cNvPr id="5" name="Footer Placeholder 4"/>
          <p:cNvSpPr>
            <a:spLocks noGrp="1"/>
          </p:cNvSpPr>
          <p:nvPr>
            <p:ph type="ftr" sz="quarter" idx="11"/>
          </p:nvPr>
        </p:nvSpPr>
        <p:spPr/>
        <p:txBody>
          <a:bodyPr/>
          <a:lstStyle/>
          <a:p>
            <a:endParaRPr lang="fr-FR" dirty="0"/>
          </a:p>
        </p:txBody>
      </p:sp>
      <p:sp>
        <p:nvSpPr>
          <p:cNvPr id="6" name="Slide Number Placeholder 5"/>
          <p:cNvSpPr>
            <a:spLocks noGrp="1"/>
          </p:cNvSpPr>
          <p:nvPr>
            <p:ph type="sldNum" sz="quarter" idx="12"/>
          </p:nvPr>
        </p:nvSpPr>
        <p:spPr/>
        <p:txBody>
          <a:bodyPr/>
          <a:lstStyle/>
          <a:p>
            <a:fld id="{F54C0DE9-B767-410B-9A27-4F2BF6909184}" type="slidenum">
              <a:rPr lang="fr-FR" smtClean="0"/>
              <a:t>‹N°›</a:t>
            </a:fld>
            <a:endParaRPr lang="fr-FR"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fr-FR" smtClean="0"/>
              <a:t>Modifiez le style du titre</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fr-FR" smtClean="0"/>
              <a:t>Modifiez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4" name="Date Placeholder 3"/>
          <p:cNvSpPr>
            <a:spLocks noGrp="1"/>
          </p:cNvSpPr>
          <p:nvPr>
            <p:ph type="dt" sz="half" idx="10"/>
          </p:nvPr>
        </p:nvSpPr>
        <p:spPr/>
        <p:txBody>
          <a:bodyPr/>
          <a:lstStyle/>
          <a:p>
            <a:fld id="{757FC9D0-86B9-4F7B-9DCB-5037FF442063}" type="datetimeFigureOut">
              <a:rPr lang="fr-FR" smtClean="0"/>
              <a:t>21/03/2017</a:t>
            </a:fld>
            <a:endParaRPr lang="fr-FR" dirty="0"/>
          </a:p>
        </p:txBody>
      </p:sp>
      <p:sp>
        <p:nvSpPr>
          <p:cNvPr id="5" name="Footer Placeholder 4"/>
          <p:cNvSpPr>
            <a:spLocks noGrp="1"/>
          </p:cNvSpPr>
          <p:nvPr>
            <p:ph type="ftr" sz="quarter" idx="11"/>
          </p:nvPr>
        </p:nvSpPr>
        <p:spPr/>
        <p:txBody>
          <a:bodyPr/>
          <a:lstStyle/>
          <a:p>
            <a:endParaRPr lang="fr-FR" dirty="0"/>
          </a:p>
        </p:txBody>
      </p:sp>
      <p:sp>
        <p:nvSpPr>
          <p:cNvPr id="6" name="Slide Number Placeholder 5"/>
          <p:cNvSpPr>
            <a:spLocks noGrp="1"/>
          </p:cNvSpPr>
          <p:nvPr>
            <p:ph type="sldNum" sz="quarter" idx="12"/>
          </p:nvPr>
        </p:nvSpPr>
        <p:spPr/>
        <p:txBody>
          <a:bodyPr/>
          <a:lstStyle/>
          <a:p>
            <a:fld id="{F54C0DE9-B767-410B-9A27-4F2BF6909184}" type="slidenum">
              <a:rPr lang="fr-FR" smtClean="0"/>
              <a:t>‹N°›</a:t>
            </a:fld>
            <a:endParaRPr lang="fr-FR"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fr-FR" smtClean="0"/>
              <a:t>Modifiez le style du titre</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fr-FR" smtClean="0"/>
              <a:t>Modifiez les styles du texte du masque</a:t>
            </a:r>
          </a:p>
          <a:p>
            <a:pPr lvl="1" eaLnBrk="1" latinLnBrk="0" hangingPunct="1"/>
            <a:r>
              <a:rPr kumimoji="0" lang="fr-FR" smtClean="0"/>
              <a:t>Deuxième niveau</a:t>
            </a:r>
          </a:p>
          <a:p>
            <a:pPr lvl="2" eaLnBrk="1" latinLnBrk="0" hangingPunct="1"/>
            <a:r>
              <a:rPr kumimoji="0" lang="fr-FR" smtClean="0"/>
              <a:t>Troisième niveau</a:t>
            </a:r>
          </a:p>
          <a:p>
            <a:pPr lvl="3" eaLnBrk="1" latinLnBrk="0" hangingPunct="1"/>
            <a:r>
              <a:rPr kumimoji="0" lang="fr-FR" smtClean="0"/>
              <a:t>Quatrième niveau</a:t>
            </a:r>
          </a:p>
          <a:p>
            <a:pPr lvl="4" eaLnBrk="1" latinLnBrk="0" hangingPunct="1"/>
            <a:r>
              <a:rPr kumimoji="0" lang="fr-FR" smtClean="0"/>
              <a:t>Cinquième niveau</a:t>
            </a:r>
            <a:endParaRPr kumimoji="0" lang="en-US"/>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757FC9D0-86B9-4F7B-9DCB-5037FF442063}" type="datetimeFigureOut">
              <a:rPr lang="fr-FR" smtClean="0"/>
              <a:t>21/03/2017</a:t>
            </a:fld>
            <a:endParaRPr lang="fr-FR" dirty="0"/>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fr-FR" dirty="0"/>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F54C0DE9-B767-410B-9A27-4F2BF6909184}" type="slidenum">
              <a:rPr lang="fr-FR" smtClean="0"/>
              <a:t>‹N°›</a:t>
            </a:fld>
            <a:endParaRPr lang="fr-FR" dirty="0"/>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Facteurs%20de%20la%20performance.pptx"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fr.wikipedia.org/wiki/Apn%C3%A9e_dynamique" TargetMode="Externa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hyperlink" Target="https://fr.wikipedia.org/wiki/Apn%C3%A9e_statique" TargetMode="Externa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fr.wikipedia.org/wiki/Immersion_libre" TargetMode="Externa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fr.wikipedia.org/wiki/Poids_constant" TargetMode="Externa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hyperlink" Target="https://fr.wikipedia.org/wiki/Gueuse_(sid%C3%A9rurgie)" TargetMode="External"/><Relationship Id="rId2" Type="http://schemas.openxmlformats.org/officeDocument/2006/relationships/hyperlink" Target="https://fr.wikipedia.org/wiki/Poids_variable" TargetMode="Externa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hyperlink" Target="https://fr.wikipedia.org/wiki/Herbert_Nitsch" TargetMode="External"/><Relationship Id="rId2" Type="http://schemas.openxmlformats.org/officeDocument/2006/relationships/hyperlink" Target="https://fr.wikipedia.org/wiki/Apn%C3%A9e_No_Limit" TargetMode="Externa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hyperlink" Target="IV%20Am&#233;lioration%20des%20facteurs%20de%20performances.pptx" TargetMode="Externa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a:xfrm>
            <a:off x="467544" y="2636912"/>
            <a:ext cx="7851648" cy="1828800"/>
          </a:xfrm>
        </p:spPr>
        <p:txBody>
          <a:bodyPr>
            <a:normAutofit fontScale="90000"/>
          </a:bodyPr>
          <a:lstStyle/>
          <a:p>
            <a:pPr algn="ctr"/>
            <a:r>
              <a:rPr lang="fr-FR" dirty="0" smtClean="0"/>
              <a:t/>
            </a:r>
            <a:br>
              <a:rPr lang="fr-FR" dirty="0" smtClean="0"/>
            </a:br>
            <a:r>
              <a:rPr lang="fr-FR" dirty="0" smtClean="0">
                <a:effectLst/>
              </a:rPr>
              <a:t> </a:t>
            </a:r>
            <a:r>
              <a:rPr lang="fr-FR" dirty="0">
                <a:effectLst/>
              </a:rPr>
              <a:t>Paramètres de la </a:t>
            </a:r>
            <a:r>
              <a:rPr lang="fr-FR" dirty="0" smtClean="0">
                <a:effectLst/>
              </a:rPr>
              <a:t>Performance</a:t>
            </a:r>
            <a:br>
              <a:rPr lang="fr-FR" dirty="0" smtClean="0">
                <a:effectLst/>
              </a:rPr>
            </a:br>
            <a:r>
              <a:rPr lang="fr-FR" dirty="0" smtClean="0">
                <a:effectLst/>
              </a:rPr>
              <a:t>Construction </a:t>
            </a:r>
            <a:r>
              <a:rPr lang="fr-FR" dirty="0">
                <a:effectLst/>
              </a:rPr>
              <a:t>d'un Entraînement </a:t>
            </a:r>
            <a:endParaRPr lang="fr-FR" dirty="0"/>
          </a:p>
        </p:txBody>
      </p:sp>
    </p:spTree>
    <p:extLst>
      <p:ext uri="{BB962C8B-B14F-4D97-AF65-F5344CB8AC3E}">
        <p14:creationId xmlns:p14="http://schemas.microsoft.com/office/powerpoint/2010/main" val="314263395"/>
      </p:ext>
    </p:extLst>
  </p:cSld>
  <p:clrMapOvr>
    <a:masterClrMapping/>
  </p:clrMapOvr>
  <mc:AlternateContent xmlns:mc="http://schemas.openxmlformats.org/markup-compatibility/2006" xmlns:p14="http://schemas.microsoft.com/office/powerpoint/2010/main">
    <mc:Choice Requires="p14">
      <p:transition spd="slow" p14:dur="3000">
        <p14:ripple/>
        <p:sndAc>
          <p:stSnd>
            <p:snd r:embed="rId2" name="wind.wav"/>
          </p:stSnd>
        </p:sndAc>
      </p:transition>
    </mc:Choice>
    <mc:Fallback xmlns="">
      <p:transition spd="slow">
        <p:fade/>
        <p:sndAc>
          <p:stSnd>
            <p:snd r:embed="rId3" name="wind.wav"/>
          </p:stSnd>
        </p:sndAc>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xit" presetSubtype="1" fill="hold" grpId="0" nodeType="clickEffect">
                                  <p:stCondLst>
                                    <p:cond delay="0"/>
                                  </p:stCondLst>
                                  <p:childTnLst>
                                    <p:animEffect transition="out" filter="wheel(1)">
                                      <p:cBhvr>
                                        <p:cTn id="6" dur="2000"/>
                                        <p:tgtEl>
                                          <p:spTgt spid="2"/>
                                        </p:tgtEl>
                                      </p:cBhvr>
                                    </p:animEffect>
                                    <p:set>
                                      <p:cBhvr>
                                        <p:cTn id="7" dur="1" fill="hold">
                                          <p:stCondLst>
                                            <p:cond delay="1999"/>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Plan de notre présentation</a:t>
            </a:r>
            <a:endParaRPr lang="fr-FR" dirty="0"/>
          </a:p>
        </p:txBody>
      </p:sp>
      <p:sp>
        <p:nvSpPr>
          <p:cNvPr id="3" name="Espace réservé du contenu 2"/>
          <p:cNvSpPr>
            <a:spLocks noGrp="1"/>
          </p:cNvSpPr>
          <p:nvPr>
            <p:ph idx="1"/>
          </p:nvPr>
        </p:nvSpPr>
        <p:spPr/>
        <p:txBody>
          <a:bodyPr/>
          <a:lstStyle/>
          <a:p>
            <a:r>
              <a:rPr lang="fr-FR" dirty="0"/>
              <a:t>I L</a:t>
            </a:r>
            <a:r>
              <a:rPr lang="fr-FR" dirty="0" smtClean="0"/>
              <a:t>es facteurs de performance.</a:t>
            </a:r>
            <a:endParaRPr lang="fr-FR" dirty="0"/>
          </a:p>
          <a:p>
            <a:pPr marL="0" indent="0">
              <a:buNone/>
            </a:pPr>
            <a:endParaRPr lang="fr-FR" dirty="0"/>
          </a:p>
          <a:p>
            <a:r>
              <a:rPr lang="fr-FR" dirty="0" smtClean="0"/>
              <a:t>II les disciplines</a:t>
            </a:r>
            <a:endParaRPr lang="fr-FR" dirty="0"/>
          </a:p>
          <a:p>
            <a:pPr marL="0" indent="0">
              <a:buNone/>
            </a:pPr>
            <a:endParaRPr lang="fr-FR" dirty="0"/>
          </a:p>
          <a:p>
            <a:r>
              <a:rPr lang="fr-FR" dirty="0" smtClean="0"/>
              <a:t>III </a:t>
            </a:r>
            <a:r>
              <a:rPr lang="fr-FR" dirty="0"/>
              <a:t>Amélioration des facteurs de </a:t>
            </a:r>
            <a:r>
              <a:rPr lang="fr-FR" dirty="0" smtClean="0"/>
              <a:t>performances</a:t>
            </a:r>
          </a:p>
          <a:p>
            <a:endParaRPr lang="fr-FR" dirty="0"/>
          </a:p>
          <a:p>
            <a:r>
              <a:rPr lang="fr-FR" dirty="0" smtClean="0"/>
              <a:t>IV Principes </a:t>
            </a:r>
            <a:r>
              <a:rPr lang="fr-FR" dirty="0"/>
              <a:t>généraux </a:t>
            </a:r>
            <a:r>
              <a:rPr lang="fr-FR" dirty="0" smtClean="0"/>
              <a:t>d’ un programme en </a:t>
            </a:r>
            <a:r>
              <a:rPr lang="fr-FR" dirty="0"/>
              <a:t>apnée</a:t>
            </a:r>
          </a:p>
          <a:p>
            <a:endParaRPr lang="fr-FR" dirty="0"/>
          </a:p>
          <a:p>
            <a:pPr marL="0" indent="0" algn="ctr">
              <a:buNone/>
            </a:pPr>
            <a:endParaRPr lang="fr-FR" dirty="0" smtClean="0"/>
          </a:p>
          <a:p>
            <a:endParaRPr lang="fr-FR" dirty="0" smtClean="0"/>
          </a:p>
        </p:txBody>
      </p:sp>
    </p:spTree>
    <p:extLst>
      <p:ext uri="{BB962C8B-B14F-4D97-AF65-F5344CB8AC3E}">
        <p14:creationId xmlns:p14="http://schemas.microsoft.com/office/powerpoint/2010/main" val="2446496044"/>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595993" y="1"/>
            <a:ext cx="7886700" cy="1325563"/>
          </a:xfrm>
        </p:spPr>
        <p:txBody>
          <a:bodyPr>
            <a:normAutofit fontScale="90000"/>
          </a:bodyPr>
          <a:lstStyle/>
          <a:p>
            <a:pPr algn="ctr"/>
            <a:r>
              <a:rPr lang="fr-FR" b="1" dirty="0" smtClean="0">
                <a:solidFill>
                  <a:schemeClr val="tx1"/>
                </a:solidFill>
              </a:rPr>
              <a:t> I Les facteurs de la performance</a:t>
            </a:r>
            <a:endParaRPr lang="fr-FR" b="1" dirty="0">
              <a:solidFill>
                <a:schemeClr val="tx1"/>
              </a:solidFill>
            </a:endParaRPr>
          </a:p>
        </p:txBody>
      </p:sp>
      <p:sp>
        <p:nvSpPr>
          <p:cNvPr id="11" name="Forme libre 10">
            <a:hlinkClick r:id="rId2" action="ppaction://hlinkpres?slideindex=1&amp;slidetitle="/>
          </p:cNvPr>
          <p:cNvSpPr/>
          <p:nvPr/>
        </p:nvSpPr>
        <p:spPr>
          <a:xfrm>
            <a:off x="1331640" y="2344449"/>
            <a:ext cx="5328592" cy="3240000"/>
          </a:xfrm>
          <a:custGeom>
            <a:avLst/>
            <a:gdLst>
              <a:gd name="connsiteX0" fmla="*/ 0 w 2997347"/>
              <a:gd name="connsiteY0" fmla="*/ 1498674 h 2997347"/>
              <a:gd name="connsiteX1" fmla="*/ 1498674 w 2997347"/>
              <a:gd name="connsiteY1" fmla="*/ 0 h 2997347"/>
              <a:gd name="connsiteX2" fmla="*/ 2997348 w 2997347"/>
              <a:gd name="connsiteY2" fmla="*/ 1498674 h 2997347"/>
              <a:gd name="connsiteX3" fmla="*/ 1498674 w 2997347"/>
              <a:gd name="connsiteY3" fmla="*/ 2997348 h 2997347"/>
              <a:gd name="connsiteX4" fmla="*/ 0 w 2997347"/>
              <a:gd name="connsiteY4" fmla="*/ 1498674 h 29973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97347" h="2997347">
                <a:moveTo>
                  <a:pt x="0" y="1498674"/>
                </a:moveTo>
                <a:cubicBezTo>
                  <a:pt x="0" y="670979"/>
                  <a:pt x="670979" y="0"/>
                  <a:pt x="1498674" y="0"/>
                </a:cubicBezTo>
                <a:cubicBezTo>
                  <a:pt x="2326369" y="0"/>
                  <a:pt x="2997348" y="670979"/>
                  <a:pt x="2997348" y="1498674"/>
                </a:cubicBezTo>
                <a:cubicBezTo>
                  <a:pt x="2997348" y="2326369"/>
                  <a:pt x="2326369" y="2997348"/>
                  <a:pt x="1498674" y="2997348"/>
                </a:cubicBezTo>
                <a:cubicBezTo>
                  <a:pt x="670979" y="2997348"/>
                  <a:pt x="0" y="2326369"/>
                  <a:pt x="0" y="1498674"/>
                </a:cubicBezTo>
                <a:close/>
              </a:path>
            </a:pathLst>
          </a:custGeom>
          <a:solidFill>
            <a:schemeClr val="accent3">
              <a:lumMod val="50000"/>
              <a:alpha val="50000"/>
            </a:schemeClr>
          </a:solidFill>
        </p:spPr>
        <p:style>
          <a:lnRef idx="2">
            <a:schemeClr val="lt1">
              <a:hueOff val="0"/>
              <a:satOff val="0"/>
              <a:lumOff val="0"/>
              <a:alphaOff val="0"/>
            </a:schemeClr>
          </a:lnRef>
          <a:fillRef idx="1">
            <a:schemeClr val="accent2">
              <a:alpha val="50000"/>
              <a:hueOff val="0"/>
              <a:satOff val="0"/>
              <a:lumOff val="0"/>
              <a:alphaOff val="0"/>
            </a:schemeClr>
          </a:fillRef>
          <a:effectRef idx="0">
            <a:schemeClr val="accent2">
              <a:alpha val="50000"/>
              <a:hueOff val="0"/>
              <a:satOff val="0"/>
              <a:lumOff val="0"/>
              <a:alphaOff val="0"/>
            </a:schemeClr>
          </a:effectRef>
          <a:fontRef idx="minor">
            <a:schemeClr val="tx1"/>
          </a:fontRef>
        </p:style>
        <p:txBody>
          <a:bodyPr spcFirstLastPara="0" vert="horz" wrap="square" lIns="470701" tIns="470701" rIns="470701" bIns="470701" numCol="1" spcCol="1270" anchor="ctr" anchorCtr="0">
            <a:noAutofit/>
          </a:bodyPr>
          <a:lstStyle/>
          <a:p>
            <a:pPr lvl="0" algn="ctr" defTabSz="1111250">
              <a:lnSpc>
                <a:spcPct val="90000"/>
              </a:lnSpc>
              <a:spcBef>
                <a:spcPct val="0"/>
              </a:spcBef>
              <a:spcAft>
                <a:spcPct val="35000"/>
              </a:spcAft>
            </a:pPr>
            <a:r>
              <a:rPr lang="fr-FR" sz="2500" kern="1200" dirty="0" smtClean="0"/>
              <a:t>PERFORMANCE</a:t>
            </a:r>
          </a:p>
          <a:p>
            <a:pPr lvl="0" algn="ctr" defTabSz="1111250">
              <a:lnSpc>
                <a:spcPct val="90000"/>
              </a:lnSpc>
              <a:spcBef>
                <a:spcPct val="0"/>
              </a:spcBef>
              <a:spcAft>
                <a:spcPct val="35000"/>
              </a:spcAft>
            </a:pPr>
            <a:r>
              <a:rPr lang="fr-FR" sz="2500" dirty="0" smtClean="0"/>
              <a:t>Lien présentation Valentin </a:t>
            </a:r>
            <a:endParaRPr lang="fr-FR" sz="2500" kern="1200" dirty="0"/>
          </a:p>
        </p:txBody>
      </p:sp>
    </p:spTree>
    <p:extLst>
      <p:ext uri="{BB962C8B-B14F-4D97-AF65-F5344CB8AC3E}">
        <p14:creationId xmlns:p14="http://schemas.microsoft.com/office/powerpoint/2010/main" val="24671018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anim calcmode="lin" valueType="num">
                                      <p:cBhvr>
                                        <p:cTn id="8" dur="500" fill="hold"/>
                                        <p:tgtEl>
                                          <p:spTgt spid="11"/>
                                        </p:tgtEl>
                                        <p:attrNameLst>
                                          <p:attrName>ppt_x</p:attrName>
                                        </p:attrNameLst>
                                      </p:cBhvr>
                                      <p:tavLst>
                                        <p:tav tm="0">
                                          <p:val>
                                            <p:strVal val="#ppt_x"/>
                                          </p:val>
                                        </p:tav>
                                        <p:tav tm="100000">
                                          <p:val>
                                            <p:strVal val="#ppt_x"/>
                                          </p:val>
                                        </p:tav>
                                      </p:tavLst>
                                    </p:anim>
                                    <p:anim calcmode="lin" valueType="num">
                                      <p:cBhvr>
                                        <p:cTn id="9" dur="5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43608" y="692696"/>
            <a:ext cx="7086600" cy="881608"/>
          </a:xfrm>
        </p:spPr>
        <p:txBody>
          <a:bodyPr/>
          <a:lstStyle/>
          <a:p>
            <a:r>
              <a:rPr lang="fr-FR" dirty="0" smtClean="0"/>
              <a:t>Plusieurs disciplines</a:t>
            </a:r>
            <a:endParaRPr lang="fr-FR" dirty="0"/>
          </a:p>
        </p:txBody>
      </p:sp>
      <p:sp>
        <p:nvSpPr>
          <p:cNvPr id="3" name="Espace réservé du texte 2"/>
          <p:cNvSpPr>
            <a:spLocks noGrp="1"/>
          </p:cNvSpPr>
          <p:nvPr>
            <p:ph type="body" idx="1"/>
          </p:nvPr>
        </p:nvSpPr>
        <p:spPr>
          <a:xfrm>
            <a:off x="755576" y="2852936"/>
            <a:ext cx="7488832" cy="3384376"/>
          </a:xfrm>
        </p:spPr>
        <p:txBody>
          <a:bodyPr>
            <a:normAutofit/>
          </a:bodyPr>
          <a:lstStyle/>
          <a:p>
            <a:r>
              <a:rPr lang="fr-FR" dirty="0" smtClean="0"/>
              <a:t>L'</a:t>
            </a:r>
            <a:r>
              <a:rPr lang="fr-FR" dirty="0" smtClean="0">
                <a:hlinkClick r:id="rId2" tooltip="Apnée dynamique"/>
              </a:rPr>
              <a:t>apnée </a:t>
            </a:r>
            <a:r>
              <a:rPr lang="fr-FR" dirty="0">
                <a:hlinkClick r:id="rId2" tooltip="Apnée dynamique"/>
              </a:rPr>
              <a:t>dynamique</a:t>
            </a:r>
            <a:r>
              <a:rPr lang="fr-FR" dirty="0"/>
              <a:t>, avec ou sans palmes, qui consiste à parcourir la plus longue distance horizontalement.</a:t>
            </a:r>
          </a:p>
          <a:p>
            <a:r>
              <a:rPr lang="fr-FR" dirty="0"/>
              <a:t>Le demi-fond de l'apnée consiste à nager successivement un nombre décidé à l'avance de longueurs de bassin, le plus vite possible. Les compétitions se pratiquent généralement sur seize fois cinquante mètres. C'est l'</a:t>
            </a:r>
            <a:r>
              <a:rPr lang="fr-FR" dirty="0" err="1"/>
              <a:t>apnéiste</a:t>
            </a:r>
            <a:r>
              <a:rPr lang="fr-FR" dirty="0"/>
              <a:t> qui décide de son temps de récupération entre chaque longueur de bassin, de manière à obtenir le temps total le plus court possible.</a:t>
            </a:r>
          </a:p>
          <a:p>
            <a:endParaRPr lang="fr-FR" dirty="0"/>
          </a:p>
        </p:txBody>
      </p:sp>
      <p:sp>
        <p:nvSpPr>
          <p:cNvPr id="5" name="Titre 1"/>
          <p:cNvSpPr txBox="1">
            <a:spLocks/>
          </p:cNvSpPr>
          <p:nvPr/>
        </p:nvSpPr>
        <p:spPr>
          <a:xfrm>
            <a:off x="755576" y="1726704"/>
            <a:ext cx="7446640" cy="881608"/>
          </a:xfrm>
          <a:prstGeom prst="rect">
            <a:avLst/>
          </a:prstGeom>
        </p:spPr>
        <p:txBody>
          <a:bodyPr vert="horz" bIns="0" anchor="b">
            <a:noAutofit/>
            <a:scene3d>
              <a:camera prst="orthographicFront"/>
              <a:lightRig rig="soft" dir="t">
                <a:rot lat="0" lon="0" rev="17220000"/>
              </a:lightRig>
            </a:scene3d>
            <a:sp3d prstMaterial="softEdge">
              <a:bevelT w="38100" h="38100"/>
              <a:contourClr>
                <a:schemeClr val="tx2">
                  <a:shade val="50000"/>
                </a:schemeClr>
              </a:contourClr>
            </a:sp3d>
          </a:bodyPr>
          <a:lstStyle>
            <a:lvl1pPr algn="l" rtl="0" eaLnBrk="1" latinLnBrk="0" hangingPunct="1">
              <a:spcBef>
                <a:spcPct val="0"/>
              </a:spcBef>
              <a:buNone/>
              <a:defRPr kumimoji="0" sz="4800" b="1" kern="1200" cap="none" baseline="0">
                <a:ln w="6350">
                  <a:noFill/>
                </a:ln>
                <a:solidFill>
                  <a:schemeClr val="accent1">
                    <a:tint val="90000"/>
                    <a:satMod val="120000"/>
                  </a:schemeClr>
                </a:solidFill>
                <a:effectLst>
                  <a:outerShdw blurRad="114300" dist="101600" dir="2700000" algn="tl" rotWithShape="0">
                    <a:srgbClr val="000000">
                      <a:alpha val="40000"/>
                    </a:srgbClr>
                  </a:outerShdw>
                </a:effectLst>
                <a:latin typeface="+mj-lt"/>
                <a:ea typeface="+mj-ea"/>
                <a:cs typeface="+mj-cs"/>
              </a:defRPr>
            </a:lvl1pPr>
          </a:lstStyle>
          <a:p>
            <a:r>
              <a:rPr lang="fr-FR" dirty="0" smtClean="0"/>
              <a:t>L’apnée dynamique</a:t>
            </a:r>
            <a:endParaRPr lang="fr-FR" dirty="0"/>
          </a:p>
        </p:txBody>
      </p:sp>
    </p:spTree>
    <p:extLst>
      <p:ext uri="{BB962C8B-B14F-4D97-AF65-F5344CB8AC3E}">
        <p14:creationId xmlns:p14="http://schemas.microsoft.com/office/powerpoint/2010/main" val="681271246"/>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4" presetClass="emph" presetSubtype="0" fill="hold" grpId="0" nodeType="clickEffect">
                                  <p:stCondLst>
                                    <p:cond delay="0"/>
                                  </p:stCondLst>
                                  <p:iterate type="lt">
                                    <p:tmPct val="10000"/>
                                  </p:iterate>
                                  <p:childTnLst>
                                    <p:animMotion origin="layout" path="M 0.0 0.0 L 0.0 -0.07213" pathEditMode="relative" ptsTypes="">
                                      <p:cBhvr>
                                        <p:cTn id="6" dur="250" accel="50000" decel="50000" autoRev="1" fill="hold">
                                          <p:stCondLst>
                                            <p:cond delay="0"/>
                                          </p:stCondLst>
                                        </p:cTn>
                                        <p:tgtEl>
                                          <p:spTgt spid="2"/>
                                        </p:tgtEl>
                                        <p:attrNameLst>
                                          <p:attrName>ppt_x</p:attrName>
                                          <p:attrName>ppt_y</p:attrName>
                                        </p:attrNameLst>
                                      </p:cBhvr>
                                    </p:animMotion>
                                    <p:animRot by="1500000">
                                      <p:cBhvr>
                                        <p:cTn id="7" dur="125" fill="hold">
                                          <p:stCondLst>
                                            <p:cond delay="0"/>
                                          </p:stCondLst>
                                        </p:cTn>
                                        <p:tgtEl>
                                          <p:spTgt spid="2"/>
                                        </p:tgtEl>
                                        <p:attrNameLst>
                                          <p:attrName>r</p:attrName>
                                        </p:attrNameLst>
                                      </p:cBhvr>
                                    </p:animRot>
                                    <p:animRot by="-1500000">
                                      <p:cBhvr>
                                        <p:cTn id="8" dur="125" fill="hold">
                                          <p:stCondLst>
                                            <p:cond delay="125"/>
                                          </p:stCondLst>
                                        </p:cTn>
                                        <p:tgtEl>
                                          <p:spTgt spid="2"/>
                                        </p:tgtEl>
                                        <p:attrNameLst>
                                          <p:attrName>r</p:attrName>
                                        </p:attrNameLst>
                                      </p:cBhvr>
                                    </p:animRot>
                                    <p:animRot by="-1500000">
                                      <p:cBhvr>
                                        <p:cTn id="9" dur="125" fill="hold">
                                          <p:stCondLst>
                                            <p:cond delay="250"/>
                                          </p:stCondLst>
                                        </p:cTn>
                                        <p:tgtEl>
                                          <p:spTgt spid="2"/>
                                        </p:tgtEl>
                                        <p:attrNameLst>
                                          <p:attrName>r</p:attrName>
                                        </p:attrNameLst>
                                      </p:cBhvr>
                                    </p:animRot>
                                    <p:animRot by="1500000">
                                      <p:cBhvr>
                                        <p:cTn id="10" dur="125" fill="hold">
                                          <p:stCondLst>
                                            <p:cond delay="375"/>
                                          </p:stCondLst>
                                        </p:cTn>
                                        <p:tgtEl>
                                          <p:spTgt spid="2"/>
                                        </p:tgtEl>
                                        <p:attrNameLst>
                                          <p:attrName>r</p:attrName>
                                        </p:attrNameLst>
                                      </p:cBhvr>
                                    </p:animRot>
                                  </p:childTnLst>
                                </p:cTn>
                              </p:par>
                            </p:childTnLst>
                          </p:cTn>
                        </p:par>
                      </p:childTnLst>
                    </p:cTn>
                  </p:par>
                  <p:par>
                    <p:cTn id="11" fill="hold">
                      <p:stCondLst>
                        <p:cond delay="indefinite"/>
                      </p:stCondLst>
                      <p:childTnLst>
                        <p:par>
                          <p:cTn id="12" fill="hold">
                            <p:stCondLst>
                              <p:cond delay="0"/>
                            </p:stCondLst>
                            <p:childTnLst>
                              <p:par>
                                <p:cTn id="13" presetID="34" presetClass="emph" presetSubtype="0" fill="hold" grpId="0" nodeType="clickEffect">
                                  <p:stCondLst>
                                    <p:cond delay="0"/>
                                  </p:stCondLst>
                                  <p:iterate type="lt">
                                    <p:tmPct val="10000"/>
                                  </p:iterate>
                                  <p:childTnLst>
                                    <p:animMotion origin="layout" path="M 0.0 0.0 L 0.0 -0.07213" pathEditMode="relative" ptsTypes="">
                                      <p:cBhvr>
                                        <p:cTn id="14" dur="250" accel="50000" decel="50000" autoRev="1" fill="hold">
                                          <p:stCondLst>
                                            <p:cond delay="0"/>
                                          </p:stCondLst>
                                        </p:cTn>
                                        <p:tgtEl>
                                          <p:spTgt spid="5"/>
                                        </p:tgtEl>
                                        <p:attrNameLst>
                                          <p:attrName>ppt_x</p:attrName>
                                          <p:attrName>ppt_y</p:attrName>
                                        </p:attrNameLst>
                                      </p:cBhvr>
                                    </p:animMotion>
                                    <p:animRot by="1500000">
                                      <p:cBhvr>
                                        <p:cTn id="15" dur="125" fill="hold">
                                          <p:stCondLst>
                                            <p:cond delay="0"/>
                                          </p:stCondLst>
                                        </p:cTn>
                                        <p:tgtEl>
                                          <p:spTgt spid="5"/>
                                        </p:tgtEl>
                                        <p:attrNameLst>
                                          <p:attrName>r</p:attrName>
                                        </p:attrNameLst>
                                      </p:cBhvr>
                                    </p:animRot>
                                    <p:animRot by="-1500000">
                                      <p:cBhvr>
                                        <p:cTn id="16" dur="125" fill="hold">
                                          <p:stCondLst>
                                            <p:cond delay="125"/>
                                          </p:stCondLst>
                                        </p:cTn>
                                        <p:tgtEl>
                                          <p:spTgt spid="5"/>
                                        </p:tgtEl>
                                        <p:attrNameLst>
                                          <p:attrName>r</p:attrName>
                                        </p:attrNameLst>
                                      </p:cBhvr>
                                    </p:animRot>
                                    <p:animRot by="-1500000">
                                      <p:cBhvr>
                                        <p:cTn id="17" dur="125" fill="hold">
                                          <p:stCondLst>
                                            <p:cond delay="250"/>
                                          </p:stCondLst>
                                        </p:cTn>
                                        <p:tgtEl>
                                          <p:spTgt spid="5"/>
                                        </p:tgtEl>
                                        <p:attrNameLst>
                                          <p:attrName>r</p:attrName>
                                        </p:attrNameLst>
                                      </p:cBhvr>
                                    </p:animRot>
                                    <p:animRot by="1500000">
                                      <p:cBhvr>
                                        <p:cTn id="18" dur="125" fill="hold">
                                          <p:stCondLst>
                                            <p:cond delay="375"/>
                                          </p:stCondLst>
                                        </p:cTn>
                                        <p:tgtEl>
                                          <p:spTgt spid="5"/>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43608" y="692696"/>
            <a:ext cx="7086600" cy="881608"/>
          </a:xfrm>
        </p:spPr>
        <p:txBody>
          <a:bodyPr/>
          <a:lstStyle/>
          <a:p>
            <a:r>
              <a:rPr lang="fr-FR" dirty="0" smtClean="0"/>
              <a:t>Plusieurs disciplines</a:t>
            </a:r>
            <a:endParaRPr lang="fr-FR" dirty="0"/>
          </a:p>
        </p:txBody>
      </p:sp>
      <p:sp>
        <p:nvSpPr>
          <p:cNvPr id="3" name="Espace réservé du texte 2"/>
          <p:cNvSpPr>
            <a:spLocks noGrp="1"/>
          </p:cNvSpPr>
          <p:nvPr>
            <p:ph type="body" idx="1"/>
          </p:nvPr>
        </p:nvSpPr>
        <p:spPr>
          <a:xfrm>
            <a:off x="683568" y="2852936"/>
            <a:ext cx="7931224" cy="4608512"/>
          </a:xfrm>
        </p:spPr>
        <p:txBody>
          <a:bodyPr>
            <a:normAutofit/>
          </a:bodyPr>
          <a:lstStyle/>
          <a:p>
            <a:r>
              <a:rPr lang="fr-FR" dirty="0"/>
              <a:t>L'</a:t>
            </a:r>
            <a:r>
              <a:rPr lang="fr-FR" dirty="0">
                <a:hlinkClick r:id="rId2" tooltip="Apnée statique"/>
              </a:rPr>
              <a:t>apnée statique</a:t>
            </a:r>
            <a:r>
              <a:rPr lang="fr-FR" dirty="0"/>
              <a:t> qui consiste à rester le plus longtemps possible avec les voies respiratoires immergées</a:t>
            </a:r>
            <a:r>
              <a:rPr lang="fr-FR" dirty="0" smtClean="0"/>
              <a:t>.</a:t>
            </a:r>
            <a:endParaRPr lang="fr-FR" dirty="0"/>
          </a:p>
        </p:txBody>
      </p:sp>
      <p:sp>
        <p:nvSpPr>
          <p:cNvPr id="4" name="Titre 1"/>
          <p:cNvSpPr txBox="1">
            <a:spLocks/>
          </p:cNvSpPr>
          <p:nvPr/>
        </p:nvSpPr>
        <p:spPr>
          <a:xfrm>
            <a:off x="2411760" y="1726704"/>
            <a:ext cx="5790456" cy="881608"/>
          </a:xfrm>
          <a:prstGeom prst="rect">
            <a:avLst/>
          </a:prstGeom>
        </p:spPr>
        <p:txBody>
          <a:bodyPr vert="horz" bIns="0" anchor="b">
            <a:noAutofit/>
            <a:scene3d>
              <a:camera prst="orthographicFront"/>
              <a:lightRig rig="soft" dir="t">
                <a:rot lat="0" lon="0" rev="17220000"/>
              </a:lightRig>
            </a:scene3d>
            <a:sp3d prstMaterial="softEdge">
              <a:bevelT w="38100" h="38100"/>
              <a:contourClr>
                <a:schemeClr val="tx2">
                  <a:shade val="50000"/>
                </a:schemeClr>
              </a:contourClr>
            </a:sp3d>
          </a:bodyPr>
          <a:lstStyle>
            <a:lvl1pPr algn="l" rtl="0" eaLnBrk="1" latinLnBrk="0" hangingPunct="1">
              <a:spcBef>
                <a:spcPct val="0"/>
              </a:spcBef>
              <a:buNone/>
              <a:defRPr kumimoji="0" sz="4800" b="1" kern="1200" cap="none" baseline="0">
                <a:ln w="6350">
                  <a:noFill/>
                </a:ln>
                <a:solidFill>
                  <a:schemeClr val="accent1">
                    <a:tint val="90000"/>
                    <a:satMod val="120000"/>
                  </a:schemeClr>
                </a:solidFill>
                <a:effectLst>
                  <a:outerShdw blurRad="114300" dist="101600" dir="2700000" algn="tl" rotWithShape="0">
                    <a:srgbClr val="000000">
                      <a:alpha val="40000"/>
                    </a:srgbClr>
                  </a:outerShdw>
                </a:effectLst>
                <a:latin typeface="+mj-lt"/>
                <a:ea typeface="+mj-ea"/>
                <a:cs typeface="+mj-cs"/>
              </a:defRPr>
            </a:lvl1pPr>
          </a:lstStyle>
          <a:p>
            <a:r>
              <a:rPr lang="fr-FR" dirty="0" smtClean="0"/>
              <a:t>L’apnée statique</a:t>
            </a:r>
            <a:endParaRPr lang="fr-FR" dirty="0"/>
          </a:p>
        </p:txBody>
      </p:sp>
    </p:spTree>
    <p:extLst>
      <p:ext uri="{BB962C8B-B14F-4D97-AF65-F5344CB8AC3E}">
        <p14:creationId xmlns:p14="http://schemas.microsoft.com/office/powerpoint/2010/main" val="697846579"/>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4" presetClass="emph" presetSubtype="0" fill="hold" grpId="0" nodeType="clickEffect">
                                  <p:stCondLst>
                                    <p:cond delay="0"/>
                                  </p:stCondLst>
                                  <p:iterate type="lt">
                                    <p:tmPct val="10000"/>
                                  </p:iterate>
                                  <p:childTnLst>
                                    <p:animMotion origin="layout" path="M 0.0 0.0 L 0.0 -0.07213" pathEditMode="relative" ptsTypes="">
                                      <p:cBhvr>
                                        <p:cTn id="6" dur="250" accel="50000" decel="50000" autoRev="1" fill="hold">
                                          <p:stCondLst>
                                            <p:cond delay="0"/>
                                          </p:stCondLst>
                                        </p:cTn>
                                        <p:tgtEl>
                                          <p:spTgt spid="2"/>
                                        </p:tgtEl>
                                        <p:attrNameLst>
                                          <p:attrName>ppt_x</p:attrName>
                                          <p:attrName>ppt_y</p:attrName>
                                        </p:attrNameLst>
                                      </p:cBhvr>
                                    </p:animMotion>
                                    <p:animRot by="1500000">
                                      <p:cBhvr>
                                        <p:cTn id="7" dur="125" fill="hold">
                                          <p:stCondLst>
                                            <p:cond delay="0"/>
                                          </p:stCondLst>
                                        </p:cTn>
                                        <p:tgtEl>
                                          <p:spTgt spid="2"/>
                                        </p:tgtEl>
                                        <p:attrNameLst>
                                          <p:attrName>r</p:attrName>
                                        </p:attrNameLst>
                                      </p:cBhvr>
                                    </p:animRot>
                                    <p:animRot by="-1500000">
                                      <p:cBhvr>
                                        <p:cTn id="8" dur="125" fill="hold">
                                          <p:stCondLst>
                                            <p:cond delay="125"/>
                                          </p:stCondLst>
                                        </p:cTn>
                                        <p:tgtEl>
                                          <p:spTgt spid="2"/>
                                        </p:tgtEl>
                                        <p:attrNameLst>
                                          <p:attrName>r</p:attrName>
                                        </p:attrNameLst>
                                      </p:cBhvr>
                                    </p:animRot>
                                    <p:animRot by="-1500000">
                                      <p:cBhvr>
                                        <p:cTn id="9" dur="125" fill="hold">
                                          <p:stCondLst>
                                            <p:cond delay="250"/>
                                          </p:stCondLst>
                                        </p:cTn>
                                        <p:tgtEl>
                                          <p:spTgt spid="2"/>
                                        </p:tgtEl>
                                        <p:attrNameLst>
                                          <p:attrName>r</p:attrName>
                                        </p:attrNameLst>
                                      </p:cBhvr>
                                    </p:animRot>
                                    <p:animRot by="1500000">
                                      <p:cBhvr>
                                        <p:cTn id="10" dur="125" fill="hold">
                                          <p:stCondLst>
                                            <p:cond delay="375"/>
                                          </p:stCondLst>
                                        </p:cTn>
                                        <p:tgtEl>
                                          <p:spTgt spid="2"/>
                                        </p:tgtEl>
                                        <p:attrNameLst>
                                          <p:attrName>r</p:attrName>
                                        </p:attrNameLst>
                                      </p:cBhvr>
                                    </p:animRot>
                                  </p:childTnLst>
                                </p:cTn>
                              </p:par>
                            </p:childTnLst>
                          </p:cTn>
                        </p:par>
                      </p:childTnLst>
                    </p:cTn>
                  </p:par>
                  <p:par>
                    <p:cTn id="11" fill="hold">
                      <p:stCondLst>
                        <p:cond delay="indefinite"/>
                      </p:stCondLst>
                      <p:childTnLst>
                        <p:par>
                          <p:cTn id="12" fill="hold">
                            <p:stCondLst>
                              <p:cond delay="0"/>
                            </p:stCondLst>
                            <p:childTnLst>
                              <p:par>
                                <p:cTn id="13" presetID="34" presetClass="emph" presetSubtype="0" fill="hold" grpId="0" nodeType="clickEffect">
                                  <p:stCondLst>
                                    <p:cond delay="0"/>
                                  </p:stCondLst>
                                  <p:iterate type="lt">
                                    <p:tmPct val="10000"/>
                                  </p:iterate>
                                  <p:childTnLst>
                                    <p:animMotion origin="layout" path="M 0.0 0.0 L 0.0 -0.07213" pathEditMode="relative" ptsTypes="">
                                      <p:cBhvr>
                                        <p:cTn id="14" dur="250" accel="50000" decel="50000" autoRev="1" fill="hold">
                                          <p:stCondLst>
                                            <p:cond delay="0"/>
                                          </p:stCondLst>
                                        </p:cTn>
                                        <p:tgtEl>
                                          <p:spTgt spid="4"/>
                                        </p:tgtEl>
                                        <p:attrNameLst>
                                          <p:attrName>ppt_x</p:attrName>
                                          <p:attrName>ppt_y</p:attrName>
                                        </p:attrNameLst>
                                      </p:cBhvr>
                                    </p:animMotion>
                                    <p:animRot by="1500000">
                                      <p:cBhvr>
                                        <p:cTn id="15" dur="125" fill="hold">
                                          <p:stCondLst>
                                            <p:cond delay="0"/>
                                          </p:stCondLst>
                                        </p:cTn>
                                        <p:tgtEl>
                                          <p:spTgt spid="4"/>
                                        </p:tgtEl>
                                        <p:attrNameLst>
                                          <p:attrName>r</p:attrName>
                                        </p:attrNameLst>
                                      </p:cBhvr>
                                    </p:animRot>
                                    <p:animRot by="-1500000">
                                      <p:cBhvr>
                                        <p:cTn id="16" dur="125" fill="hold">
                                          <p:stCondLst>
                                            <p:cond delay="125"/>
                                          </p:stCondLst>
                                        </p:cTn>
                                        <p:tgtEl>
                                          <p:spTgt spid="4"/>
                                        </p:tgtEl>
                                        <p:attrNameLst>
                                          <p:attrName>r</p:attrName>
                                        </p:attrNameLst>
                                      </p:cBhvr>
                                    </p:animRot>
                                    <p:animRot by="-1500000">
                                      <p:cBhvr>
                                        <p:cTn id="17" dur="125" fill="hold">
                                          <p:stCondLst>
                                            <p:cond delay="250"/>
                                          </p:stCondLst>
                                        </p:cTn>
                                        <p:tgtEl>
                                          <p:spTgt spid="4"/>
                                        </p:tgtEl>
                                        <p:attrNameLst>
                                          <p:attrName>r</p:attrName>
                                        </p:attrNameLst>
                                      </p:cBhvr>
                                    </p:animRot>
                                    <p:animRot by="1500000">
                                      <p:cBhvr>
                                        <p:cTn id="18" dur="125" fill="hold">
                                          <p:stCondLst>
                                            <p:cond delay="375"/>
                                          </p:stCondLst>
                                        </p:cTn>
                                        <p:tgtEl>
                                          <p:spTgt spid="4"/>
                                        </p:tgtEl>
                                        <p:attrNameLst>
                                          <p:attrName>r</p:attrName>
                                        </p:attrNameLst>
                                      </p:cBhvr>
                                    </p:animRot>
                                  </p:childTnLst>
                                </p:cTn>
                              </p:par>
                            </p:childTnLst>
                          </p:cTn>
                        </p:par>
                      </p:childTnLst>
                    </p:cTn>
                  </p:par>
                  <p:par>
                    <p:cTn id="19" fill="hold">
                      <p:stCondLst>
                        <p:cond delay="indefinite"/>
                      </p:stCondLst>
                      <p:childTnLst>
                        <p:par>
                          <p:cTn id="20" fill="hold">
                            <p:stCondLst>
                              <p:cond delay="0"/>
                            </p:stCondLst>
                            <p:childTnLst>
                              <p:par>
                                <p:cTn id="21" presetID="34" presetClass="emph" presetSubtype="0" fill="hold" nodeType="clickEffect">
                                  <p:stCondLst>
                                    <p:cond delay="0"/>
                                  </p:stCondLst>
                                  <p:iterate type="lt">
                                    <p:tmPct val="10000"/>
                                  </p:iterate>
                                  <p:childTnLst>
                                    <p:animMotion origin="layout" path="M 0.0 0.0 L 0.0 -0.07213" pathEditMode="relative" ptsTypes="">
                                      <p:cBhvr>
                                        <p:cTn id="22" dur="250" accel="50000" decel="50000" autoRev="1" fill="hold">
                                          <p:stCondLst>
                                            <p:cond delay="0"/>
                                          </p:stCondLst>
                                        </p:cTn>
                                        <p:tgtEl>
                                          <p:spTgt spid="3">
                                            <p:txEl>
                                              <p:pRg st="0" end="0"/>
                                            </p:txEl>
                                          </p:spTgt>
                                        </p:tgtEl>
                                        <p:attrNameLst>
                                          <p:attrName>ppt_x</p:attrName>
                                          <p:attrName>ppt_y</p:attrName>
                                        </p:attrNameLst>
                                      </p:cBhvr>
                                    </p:animMotion>
                                    <p:animRot by="1500000">
                                      <p:cBhvr>
                                        <p:cTn id="23" dur="125" fill="hold">
                                          <p:stCondLst>
                                            <p:cond delay="0"/>
                                          </p:stCondLst>
                                        </p:cTn>
                                        <p:tgtEl>
                                          <p:spTgt spid="3">
                                            <p:txEl>
                                              <p:pRg st="0" end="0"/>
                                            </p:txEl>
                                          </p:spTgt>
                                        </p:tgtEl>
                                        <p:attrNameLst>
                                          <p:attrName>r</p:attrName>
                                        </p:attrNameLst>
                                      </p:cBhvr>
                                    </p:animRot>
                                    <p:animRot by="-1500000">
                                      <p:cBhvr>
                                        <p:cTn id="24" dur="125" fill="hold">
                                          <p:stCondLst>
                                            <p:cond delay="125"/>
                                          </p:stCondLst>
                                        </p:cTn>
                                        <p:tgtEl>
                                          <p:spTgt spid="3">
                                            <p:txEl>
                                              <p:pRg st="0" end="0"/>
                                            </p:txEl>
                                          </p:spTgt>
                                        </p:tgtEl>
                                        <p:attrNameLst>
                                          <p:attrName>r</p:attrName>
                                        </p:attrNameLst>
                                      </p:cBhvr>
                                    </p:animRot>
                                    <p:animRot by="-1500000">
                                      <p:cBhvr>
                                        <p:cTn id="25" dur="125" fill="hold">
                                          <p:stCondLst>
                                            <p:cond delay="250"/>
                                          </p:stCondLst>
                                        </p:cTn>
                                        <p:tgtEl>
                                          <p:spTgt spid="3">
                                            <p:txEl>
                                              <p:pRg st="0" end="0"/>
                                            </p:txEl>
                                          </p:spTgt>
                                        </p:tgtEl>
                                        <p:attrNameLst>
                                          <p:attrName>r</p:attrName>
                                        </p:attrNameLst>
                                      </p:cBhvr>
                                    </p:animRot>
                                    <p:animRot by="1500000">
                                      <p:cBhvr>
                                        <p:cTn id="26" dur="125" fill="hold">
                                          <p:stCondLst>
                                            <p:cond delay="375"/>
                                          </p:stCondLst>
                                        </p:cTn>
                                        <p:tgtEl>
                                          <p:spTgt spid="3">
                                            <p:txEl>
                                              <p:pRg st="0" end="0"/>
                                            </p:txEl>
                                          </p:spTgt>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971600" y="332656"/>
            <a:ext cx="7086600" cy="881608"/>
          </a:xfrm>
        </p:spPr>
        <p:txBody>
          <a:bodyPr/>
          <a:lstStyle/>
          <a:p>
            <a:r>
              <a:rPr lang="fr-FR" dirty="0" smtClean="0"/>
              <a:t>Immersion libre</a:t>
            </a:r>
            <a:endParaRPr lang="fr-FR" dirty="0"/>
          </a:p>
        </p:txBody>
      </p:sp>
      <p:sp>
        <p:nvSpPr>
          <p:cNvPr id="3" name="Espace réservé du texte 2"/>
          <p:cNvSpPr>
            <a:spLocks noGrp="1"/>
          </p:cNvSpPr>
          <p:nvPr>
            <p:ph type="body" idx="1"/>
          </p:nvPr>
        </p:nvSpPr>
        <p:spPr>
          <a:xfrm>
            <a:off x="694029" y="2852936"/>
            <a:ext cx="4104456" cy="4608512"/>
          </a:xfrm>
        </p:spPr>
        <p:txBody>
          <a:bodyPr>
            <a:normAutofit/>
          </a:bodyPr>
          <a:lstStyle/>
          <a:p>
            <a:r>
              <a:rPr lang="fr-FR" dirty="0" smtClean="0"/>
              <a:t>L'apnée </a:t>
            </a:r>
            <a:r>
              <a:rPr lang="fr-FR" dirty="0"/>
              <a:t>en </a:t>
            </a:r>
            <a:r>
              <a:rPr lang="fr-FR" dirty="0">
                <a:hlinkClick r:id="rId2" tooltip="Immersion libre"/>
              </a:rPr>
              <a:t>immersion libre</a:t>
            </a:r>
            <a:r>
              <a:rPr lang="fr-FR" dirty="0"/>
              <a:t> où il faut atteindre la profondeur la plus importante en tirant sur le câble à la seule force des bras, à la descente comme à la </a:t>
            </a:r>
            <a:r>
              <a:rPr lang="fr-FR" dirty="0" smtClean="0"/>
              <a:t>remontée </a:t>
            </a:r>
          </a:p>
          <a:p>
            <a:endParaRPr lang="fr-FR" dirty="0"/>
          </a:p>
        </p:txBody>
      </p:sp>
      <p:pic>
        <p:nvPicPr>
          <p:cNvPr id="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68144" y="2094379"/>
            <a:ext cx="1214317" cy="3342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Rectangle 5"/>
          <p:cNvSpPr/>
          <p:nvPr/>
        </p:nvSpPr>
        <p:spPr>
          <a:xfrm>
            <a:off x="755576" y="1205329"/>
            <a:ext cx="7776864" cy="923330"/>
          </a:xfrm>
          <a:prstGeom prst="rect">
            <a:avLst/>
          </a:prstGeom>
        </p:spPr>
        <p:txBody>
          <a:bodyPr wrap="square">
            <a:spAutoFit/>
          </a:bodyPr>
          <a:lstStyle/>
          <a:p>
            <a:r>
              <a:rPr lang="fr-FR" dirty="0" smtClean="0"/>
              <a:t>L'apnée en profondeur regroupe plusieurs disciplines. Toutes ces disciplines se font le long d'un câble vertical servant de guide pour la descente et la remontée.</a:t>
            </a:r>
          </a:p>
        </p:txBody>
      </p:sp>
    </p:spTree>
    <p:extLst>
      <p:ext uri="{BB962C8B-B14F-4D97-AF65-F5344CB8AC3E}">
        <p14:creationId xmlns:p14="http://schemas.microsoft.com/office/powerpoint/2010/main" val="378200102"/>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4" presetClass="emph" presetSubtype="0" fill="hold" grpId="0" nodeType="clickEffect">
                                  <p:stCondLst>
                                    <p:cond delay="0"/>
                                  </p:stCondLst>
                                  <p:iterate type="lt">
                                    <p:tmPct val="10000"/>
                                  </p:iterate>
                                  <p:childTnLst>
                                    <p:animMotion origin="layout" path="M 0.0 0.0 L 0.0 -0.07213" pathEditMode="relative" ptsTypes="">
                                      <p:cBhvr>
                                        <p:cTn id="6" dur="250" accel="50000" decel="50000" autoRev="1" fill="hold">
                                          <p:stCondLst>
                                            <p:cond delay="0"/>
                                          </p:stCondLst>
                                        </p:cTn>
                                        <p:tgtEl>
                                          <p:spTgt spid="2"/>
                                        </p:tgtEl>
                                        <p:attrNameLst>
                                          <p:attrName>ppt_x</p:attrName>
                                          <p:attrName>ppt_y</p:attrName>
                                        </p:attrNameLst>
                                      </p:cBhvr>
                                    </p:animMotion>
                                    <p:animRot by="1500000">
                                      <p:cBhvr>
                                        <p:cTn id="7" dur="125" fill="hold">
                                          <p:stCondLst>
                                            <p:cond delay="0"/>
                                          </p:stCondLst>
                                        </p:cTn>
                                        <p:tgtEl>
                                          <p:spTgt spid="2"/>
                                        </p:tgtEl>
                                        <p:attrNameLst>
                                          <p:attrName>r</p:attrName>
                                        </p:attrNameLst>
                                      </p:cBhvr>
                                    </p:animRot>
                                    <p:animRot by="-1500000">
                                      <p:cBhvr>
                                        <p:cTn id="8" dur="125" fill="hold">
                                          <p:stCondLst>
                                            <p:cond delay="125"/>
                                          </p:stCondLst>
                                        </p:cTn>
                                        <p:tgtEl>
                                          <p:spTgt spid="2"/>
                                        </p:tgtEl>
                                        <p:attrNameLst>
                                          <p:attrName>r</p:attrName>
                                        </p:attrNameLst>
                                      </p:cBhvr>
                                    </p:animRot>
                                    <p:animRot by="-1500000">
                                      <p:cBhvr>
                                        <p:cTn id="9" dur="125" fill="hold">
                                          <p:stCondLst>
                                            <p:cond delay="250"/>
                                          </p:stCondLst>
                                        </p:cTn>
                                        <p:tgtEl>
                                          <p:spTgt spid="2"/>
                                        </p:tgtEl>
                                        <p:attrNameLst>
                                          <p:attrName>r</p:attrName>
                                        </p:attrNameLst>
                                      </p:cBhvr>
                                    </p:animRot>
                                    <p:animRot by="1500000">
                                      <p:cBhvr>
                                        <p:cTn id="10" dur="125" fill="hold">
                                          <p:stCondLst>
                                            <p:cond delay="375"/>
                                          </p:stCondLst>
                                        </p:cTn>
                                        <p:tgtEl>
                                          <p:spTgt spid="2"/>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755576" y="332656"/>
            <a:ext cx="7086600" cy="953616"/>
          </a:xfrm>
        </p:spPr>
        <p:txBody>
          <a:bodyPr/>
          <a:lstStyle/>
          <a:p>
            <a:r>
              <a:rPr lang="fr-FR" dirty="0" smtClean="0"/>
              <a:t>Poids constant</a:t>
            </a:r>
            <a:endParaRPr lang="fr-FR" dirty="0"/>
          </a:p>
        </p:txBody>
      </p:sp>
      <p:sp>
        <p:nvSpPr>
          <p:cNvPr id="3" name="Espace réservé du texte 2"/>
          <p:cNvSpPr>
            <a:spLocks noGrp="1"/>
          </p:cNvSpPr>
          <p:nvPr>
            <p:ph type="body" idx="1"/>
          </p:nvPr>
        </p:nvSpPr>
        <p:spPr>
          <a:xfrm>
            <a:off x="683568" y="2636912"/>
            <a:ext cx="4051920" cy="3369486"/>
          </a:xfrm>
        </p:spPr>
        <p:txBody>
          <a:bodyPr>
            <a:normAutofit/>
          </a:bodyPr>
          <a:lstStyle/>
          <a:p>
            <a:r>
              <a:rPr lang="fr-FR" dirty="0"/>
              <a:t>L'apnée à </a:t>
            </a:r>
            <a:r>
              <a:rPr lang="fr-FR" dirty="0">
                <a:hlinkClick r:id="rId2" tooltip="Poids constant"/>
              </a:rPr>
              <a:t>poids constant</a:t>
            </a:r>
            <a:r>
              <a:rPr lang="fr-FR" dirty="0"/>
              <a:t>, avec ou sans palmes, pendant laquelle l'</a:t>
            </a:r>
            <a:r>
              <a:rPr lang="fr-FR" dirty="0" err="1"/>
              <a:t>apnéiste</a:t>
            </a:r>
            <a:r>
              <a:rPr lang="fr-FR" dirty="0"/>
              <a:t> descend le plus profond possible à la seule force des muscles des jambes et des bras.</a:t>
            </a:r>
          </a:p>
          <a:p>
            <a:endParaRPr lang="fr-FR" dirty="0"/>
          </a:p>
        </p:txBody>
      </p:sp>
      <p:pic>
        <p:nvPicPr>
          <p:cNvPr id="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72200" y="1666994"/>
            <a:ext cx="2657475" cy="4914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5608156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4" presetClass="emph" presetSubtype="0" fill="hold" grpId="0" nodeType="clickEffect">
                                  <p:stCondLst>
                                    <p:cond delay="0"/>
                                  </p:stCondLst>
                                  <p:iterate type="lt">
                                    <p:tmPct val="10000"/>
                                  </p:iterate>
                                  <p:childTnLst>
                                    <p:animMotion origin="layout" path="M 0.0 0.0 L 0.0 -0.07213" pathEditMode="relative" ptsTypes="">
                                      <p:cBhvr>
                                        <p:cTn id="6" dur="250" accel="50000" decel="50000" autoRev="1" fill="hold">
                                          <p:stCondLst>
                                            <p:cond delay="0"/>
                                          </p:stCondLst>
                                        </p:cTn>
                                        <p:tgtEl>
                                          <p:spTgt spid="2"/>
                                        </p:tgtEl>
                                        <p:attrNameLst>
                                          <p:attrName>ppt_x</p:attrName>
                                          <p:attrName>ppt_y</p:attrName>
                                        </p:attrNameLst>
                                      </p:cBhvr>
                                    </p:animMotion>
                                    <p:animRot by="1500000">
                                      <p:cBhvr>
                                        <p:cTn id="7" dur="125" fill="hold">
                                          <p:stCondLst>
                                            <p:cond delay="0"/>
                                          </p:stCondLst>
                                        </p:cTn>
                                        <p:tgtEl>
                                          <p:spTgt spid="2"/>
                                        </p:tgtEl>
                                        <p:attrNameLst>
                                          <p:attrName>r</p:attrName>
                                        </p:attrNameLst>
                                      </p:cBhvr>
                                    </p:animRot>
                                    <p:animRot by="-1500000">
                                      <p:cBhvr>
                                        <p:cTn id="8" dur="125" fill="hold">
                                          <p:stCondLst>
                                            <p:cond delay="125"/>
                                          </p:stCondLst>
                                        </p:cTn>
                                        <p:tgtEl>
                                          <p:spTgt spid="2"/>
                                        </p:tgtEl>
                                        <p:attrNameLst>
                                          <p:attrName>r</p:attrName>
                                        </p:attrNameLst>
                                      </p:cBhvr>
                                    </p:animRot>
                                    <p:animRot by="-1500000">
                                      <p:cBhvr>
                                        <p:cTn id="9" dur="125" fill="hold">
                                          <p:stCondLst>
                                            <p:cond delay="250"/>
                                          </p:stCondLst>
                                        </p:cTn>
                                        <p:tgtEl>
                                          <p:spTgt spid="2"/>
                                        </p:tgtEl>
                                        <p:attrNameLst>
                                          <p:attrName>r</p:attrName>
                                        </p:attrNameLst>
                                      </p:cBhvr>
                                    </p:animRot>
                                    <p:animRot by="1500000">
                                      <p:cBhvr>
                                        <p:cTn id="10" dur="125" fill="hold">
                                          <p:stCondLst>
                                            <p:cond delay="375"/>
                                          </p:stCondLst>
                                        </p:cTn>
                                        <p:tgtEl>
                                          <p:spTgt spid="2"/>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43608" y="692696"/>
            <a:ext cx="7086600" cy="881608"/>
          </a:xfrm>
        </p:spPr>
        <p:txBody>
          <a:bodyPr/>
          <a:lstStyle/>
          <a:p>
            <a:r>
              <a:rPr lang="fr-FR" dirty="0" smtClean="0"/>
              <a:t>Poids variable</a:t>
            </a:r>
            <a:endParaRPr lang="fr-FR" dirty="0"/>
          </a:p>
        </p:txBody>
      </p:sp>
      <p:sp>
        <p:nvSpPr>
          <p:cNvPr id="3" name="Espace réservé du texte 2"/>
          <p:cNvSpPr>
            <a:spLocks noGrp="1"/>
          </p:cNvSpPr>
          <p:nvPr>
            <p:ph type="body" idx="1"/>
          </p:nvPr>
        </p:nvSpPr>
        <p:spPr>
          <a:xfrm>
            <a:off x="755576" y="1772816"/>
            <a:ext cx="4824536" cy="4608512"/>
          </a:xfrm>
        </p:spPr>
        <p:txBody>
          <a:bodyPr>
            <a:normAutofit/>
          </a:bodyPr>
          <a:lstStyle/>
          <a:p>
            <a:r>
              <a:rPr lang="fr-FR" dirty="0" smtClean="0"/>
              <a:t>L'apnée </a:t>
            </a:r>
            <a:r>
              <a:rPr lang="fr-FR" dirty="0"/>
              <a:t>à </a:t>
            </a:r>
            <a:r>
              <a:rPr lang="fr-FR" dirty="0">
                <a:hlinkClick r:id="rId2" tooltip="Poids variable"/>
              </a:rPr>
              <a:t>poids variable</a:t>
            </a:r>
            <a:r>
              <a:rPr lang="fr-FR" dirty="0"/>
              <a:t> où il faut atteindre la profondeur la plus importante à l'aide d'une </a:t>
            </a:r>
            <a:r>
              <a:rPr lang="fr-FR" dirty="0">
                <a:hlinkClick r:id="rId3" tooltip="Gueuse (sidérurgie)"/>
              </a:rPr>
              <a:t>gueuse</a:t>
            </a:r>
            <a:r>
              <a:rPr lang="fr-FR" dirty="0"/>
              <a:t>. La remontée s'effectue à la palme ou en se tirant au câble. Cette discipline est considérée comme moins dangereuse que le </a:t>
            </a:r>
            <a:r>
              <a:rPr lang="fr-FR" i="1" dirty="0"/>
              <a:t>no </a:t>
            </a:r>
            <a:r>
              <a:rPr lang="fr-FR" i="1" dirty="0" err="1"/>
              <a:t>limit</a:t>
            </a:r>
            <a:r>
              <a:rPr lang="fr-FR" dirty="0"/>
              <a:t> car l'</a:t>
            </a:r>
            <a:r>
              <a:rPr lang="fr-FR" dirty="0" err="1"/>
              <a:t>apnéiste</a:t>
            </a:r>
            <a:r>
              <a:rPr lang="fr-FR" dirty="0"/>
              <a:t> n'est pas tributaire du bon fonctionnement du parachute lors de la remontée. En effet, celui-ci remonte par ses propres moyens et n'a pas à craindre un éventuel dysfonctionnement du </a:t>
            </a:r>
            <a:r>
              <a:rPr lang="fr-FR" dirty="0" smtClean="0"/>
              <a:t>matériel.</a:t>
            </a:r>
          </a:p>
          <a:p>
            <a:endParaRPr lang="fr-FR" dirty="0"/>
          </a:p>
        </p:txBody>
      </p:sp>
    </p:spTree>
    <p:extLst>
      <p:ext uri="{BB962C8B-B14F-4D97-AF65-F5344CB8AC3E}">
        <p14:creationId xmlns:p14="http://schemas.microsoft.com/office/powerpoint/2010/main" val="175862588"/>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4" presetClass="emph" presetSubtype="0" fill="hold" grpId="0" nodeType="clickEffect">
                                  <p:stCondLst>
                                    <p:cond delay="0"/>
                                  </p:stCondLst>
                                  <p:iterate type="lt">
                                    <p:tmPct val="10000"/>
                                  </p:iterate>
                                  <p:childTnLst>
                                    <p:animMotion origin="layout" path="M 0.0 0.0 L 0.0 -0.07213" pathEditMode="relative" ptsTypes="">
                                      <p:cBhvr>
                                        <p:cTn id="6" dur="250" accel="50000" decel="50000" autoRev="1" fill="hold">
                                          <p:stCondLst>
                                            <p:cond delay="0"/>
                                          </p:stCondLst>
                                        </p:cTn>
                                        <p:tgtEl>
                                          <p:spTgt spid="2"/>
                                        </p:tgtEl>
                                        <p:attrNameLst>
                                          <p:attrName>ppt_x</p:attrName>
                                          <p:attrName>ppt_y</p:attrName>
                                        </p:attrNameLst>
                                      </p:cBhvr>
                                    </p:animMotion>
                                    <p:animRot by="1500000">
                                      <p:cBhvr>
                                        <p:cTn id="7" dur="125" fill="hold">
                                          <p:stCondLst>
                                            <p:cond delay="0"/>
                                          </p:stCondLst>
                                        </p:cTn>
                                        <p:tgtEl>
                                          <p:spTgt spid="2"/>
                                        </p:tgtEl>
                                        <p:attrNameLst>
                                          <p:attrName>r</p:attrName>
                                        </p:attrNameLst>
                                      </p:cBhvr>
                                    </p:animRot>
                                    <p:animRot by="-1500000">
                                      <p:cBhvr>
                                        <p:cTn id="8" dur="125" fill="hold">
                                          <p:stCondLst>
                                            <p:cond delay="125"/>
                                          </p:stCondLst>
                                        </p:cTn>
                                        <p:tgtEl>
                                          <p:spTgt spid="2"/>
                                        </p:tgtEl>
                                        <p:attrNameLst>
                                          <p:attrName>r</p:attrName>
                                        </p:attrNameLst>
                                      </p:cBhvr>
                                    </p:animRot>
                                    <p:animRot by="-1500000">
                                      <p:cBhvr>
                                        <p:cTn id="9" dur="125" fill="hold">
                                          <p:stCondLst>
                                            <p:cond delay="250"/>
                                          </p:stCondLst>
                                        </p:cTn>
                                        <p:tgtEl>
                                          <p:spTgt spid="2"/>
                                        </p:tgtEl>
                                        <p:attrNameLst>
                                          <p:attrName>r</p:attrName>
                                        </p:attrNameLst>
                                      </p:cBhvr>
                                    </p:animRot>
                                    <p:animRot by="1500000">
                                      <p:cBhvr>
                                        <p:cTn id="10" dur="125" fill="hold">
                                          <p:stCondLst>
                                            <p:cond delay="375"/>
                                          </p:stCondLst>
                                        </p:cTn>
                                        <p:tgtEl>
                                          <p:spTgt spid="2"/>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1043608" y="692696"/>
            <a:ext cx="7086600" cy="881608"/>
          </a:xfrm>
        </p:spPr>
        <p:txBody>
          <a:bodyPr/>
          <a:lstStyle/>
          <a:p>
            <a:r>
              <a:rPr lang="fr-FR" dirty="0" smtClean="0"/>
              <a:t>Le No </a:t>
            </a:r>
            <a:r>
              <a:rPr lang="fr-FR" dirty="0" err="1" smtClean="0"/>
              <a:t>limit</a:t>
            </a:r>
            <a:endParaRPr lang="fr-FR" dirty="0"/>
          </a:p>
        </p:txBody>
      </p:sp>
      <p:sp>
        <p:nvSpPr>
          <p:cNvPr id="3" name="Espace réservé du texte 2"/>
          <p:cNvSpPr>
            <a:spLocks noGrp="1"/>
          </p:cNvSpPr>
          <p:nvPr>
            <p:ph type="body" idx="1"/>
          </p:nvPr>
        </p:nvSpPr>
        <p:spPr>
          <a:xfrm>
            <a:off x="755576" y="1772816"/>
            <a:ext cx="5184576" cy="4608512"/>
          </a:xfrm>
        </p:spPr>
        <p:txBody>
          <a:bodyPr>
            <a:normAutofit/>
          </a:bodyPr>
          <a:lstStyle/>
          <a:p>
            <a:r>
              <a:rPr lang="fr-FR" dirty="0" smtClean="0"/>
              <a:t>L'</a:t>
            </a:r>
            <a:r>
              <a:rPr lang="fr-FR" dirty="0" smtClean="0">
                <a:hlinkClick r:id="rId2" tooltip="Apnée No Limit"/>
              </a:rPr>
              <a:t>apnée</a:t>
            </a:r>
            <a:r>
              <a:rPr lang="fr-FR" dirty="0">
                <a:hlinkClick r:id="rId2" tooltip="Apnée No Limit"/>
              </a:rPr>
              <a:t> </a:t>
            </a:r>
            <a:r>
              <a:rPr lang="fr-FR" i="1" dirty="0">
                <a:hlinkClick r:id="rId2" tooltip="Apnée No Limit"/>
              </a:rPr>
              <a:t>no </a:t>
            </a:r>
            <a:r>
              <a:rPr lang="fr-FR" i="1" dirty="0" err="1">
                <a:hlinkClick r:id="rId2" tooltip="Apnée No Limit"/>
              </a:rPr>
              <a:t>limit</a:t>
            </a:r>
            <a:r>
              <a:rPr lang="fr-FR" dirty="0"/>
              <a:t> : c'est dans cette discipline que les plus grandes profondeurs sont atteintes. L'</a:t>
            </a:r>
            <a:r>
              <a:rPr lang="fr-FR" dirty="0" err="1"/>
              <a:t>apnéiste</a:t>
            </a:r>
            <a:r>
              <a:rPr lang="fr-FR" dirty="0"/>
              <a:t> descend avec une gueuse, un appareil lesté pesant entre quinze et trente kilos, fixé sur le câble et pouvant se déplacer verticalement. Selon le type de gueuse, la descente peut être contrôlée par un frein. La remontée est possible grâce au parachute, un ballon rempli par l'</a:t>
            </a:r>
            <a:r>
              <a:rPr lang="fr-FR" dirty="0" err="1"/>
              <a:t>apnéiste</a:t>
            </a:r>
            <a:r>
              <a:rPr lang="fr-FR" dirty="0"/>
              <a:t> avec une bouteille d'air fixée à la gueuse, ou flotteur rigide dans le cas du dispositif du record de </a:t>
            </a:r>
            <a:r>
              <a:rPr lang="fr-FR" dirty="0">
                <a:hlinkClick r:id="rId3" tooltip="Herbert Nitsch"/>
              </a:rPr>
              <a:t>Herbert </a:t>
            </a:r>
            <a:r>
              <a:rPr lang="fr-FR" dirty="0" err="1">
                <a:hlinkClick r:id="rId3" tooltip="Herbert Nitsch"/>
              </a:rPr>
              <a:t>Nitsch</a:t>
            </a:r>
            <a:r>
              <a:rPr lang="fr-FR" dirty="0"/>
              <a:t>.</a:t>
            </a:r>
          </a:p>
          <a:p>
            <a:endParaRPr lang="fr-FR" dirty="0"/>
          </a:p>
        </p:txBody>
      </p:sp>
      <p:pic>
        <p:nvPicPr>
          <p:cNvPr id="205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00192" y="1628800"/>
            <a:ext cx="2209800" cy="4714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261290869"/>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Exemple 1</a:t>
            </a:r>
            <a:endParaRPr lang="fr-FR" dirty="0"/>
          </a:p>
        </p:txBody>
      </p:sp>
      <p:sp>
        <p:nvSpPr>
          <p:cNvPr id="3" name="Espace réservé du texte 2"/>
          <p:cNvSpPr>
            <a:spLocks noGrp="1"/>
          </p:cNvSpPr>
          <p:nvPr>
            <p:ph type="body" idx="1"/>
          </p:nvPr>
        </p:nvSpPr>
        <p:spPr>
          <a:xfrm>
            <a:off x="530352" y="2704664"/>
            <a:ext cx="7772400" cy="3532648"/>
          </a:xfrm>
        </p:spPr>
        <p:txBody>
          <a:bodyPr>
            <a:normAutofit fontScale="92500" lnSpcReduction="20000"/>
          </a:bodyPr>
          <a:lstStyle/>
          <a:p>
            <a:r>
              <a:rPr lang="fr-FR" dirty="0"/>
              <a:t>Deux facteurs propres </a:t>
            </a:r>
            <a:r>
              <a:rPr lang="fr-FR" dirty="0" smtClean="0"/>
              <a:t>au statique peuvent </a:t>
            </a:r>
            <a:r>
              <a:rPr lang="fr-FR" dirty="0"/>
              <a:t>être cités :</a:t>
            </a:r>
          </a:p>
          <a:p>
            <a:r>
              <a:rPr lang="fr-FR" b="1" dirty="0" smtClean="0"/>
              <a:t>La </a:t>
            </a:r>
            <a:r>
              <a:rPr lang="fr-FR" b="1" dirty="0"/>
              <a:t>capacité à faire le vide </a:t>
            </a:r>
            <a:r>
              <a:rPr lang="fr-FR" dirty="0"/>
              <a:t>: l’apnée statique est propice à une veille cérébrale maximale </a:t>
            </a:r>
            <a:r>
              <a:rPr lang="fr-FR" dirty="0" smtClean="0"/>
              <a:t>pour atteindre </a:t>
            </a:r>
            <a:r>
              <a:rPr lang="fr-FR" dirty="0"/>
              <a:t>ce que les spécialistes appellent un </a:t>
            </a:r>
            <a:r>
              <a:rPr lang="fr-FR" dirty="0" smtClean="0"/>
              <a:t>état d’endormissement</a:t>
            </a:r>
            <a:r>
              <a:rPr lang="fr-FR" dirty="0"/>
              <a:t>", que l’on </a:t>
            </a:r>
            <a:r>
              <a:rPr lang="fr-FR" dirty="0" smtClean="0"/>
              <a:t>peut considérer </a:t>
            </a:r>
            <a:r>
              <a:rPr lang="fr-FR" dirty="0"/>
              <a:t>comme un pré-sommeil. L’atteinte d’un vrai sommeil n’est évidemment </a:t>
            </a:r>
            <a:r>
              <a:rPr lang="fr-FR" dirty="0" smtClean="0"/>
              <a:t>pas souhaitable</a:t>
            </a:r>
            <a:r>
              <a:rPr lang="fr-FR" dirty="0"/>
              <a:t>, car il s’avérerait dangereux en empêchant l’</a:t>
            </a:r>
            <a:r>
              <a:rPr lang="fr-FR" dirty="0" err="1"/>
              <a:t>apnéiste</a:t>
            </a:r>
            <a:r>
              <a:rPr lang="fr-FR" dirty="0"/>
              <a:t> de gérer sa fin d’apnée</a:t>
            </a:r>
            <a:r>
              <a:rPr lang="fr-FR" dirty="0" smtClean="0"/>
              <a:t>.</a:t>
            </a:r>
          </a:p>
          <a:p>
            <a:endParaRPr lang="fr-FR" dirty="0"/>
          </a:p>
          <a:p>
            <a:r>
              <a:rPr lang="fr-FR" b="1" dirty="0" smtClean="0"/>
              <a:t>La </a:t>
            </a:r>
            <a:r>
              <a:rPr lang="fr-FR" b="1" dirty="0"/>
              <a:t>position du corps </a:t>
            </a:r>
            <a:r>
              <a:rPr lang="fr-FR" dirty="0"/>
              <a:t>: elle doit être optimisée tant dans la phase préparatoire (sur le dos de</a:t>
            </a:r>
          </a:p>
          <a:p>
            <a:r>
              <a:rPr lang="fr-FR" dirty="0"/>
              <a:t>préférence) que pendant l’apnée (position de la "méduse", les bras et jambes ballant).</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96136" y="476672"/>
            <a:ext cx="2981325" cy="20764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28193223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Exemple 2 </a:t>
            </a:r>
            <a:endParaRPr lang="fr-FR" dirty="0"/>
          </a:p>
        </p:txBody>
      </p:sp>
      <p:sp>
        <p:nvSpPr>
          <p:cNvPr id="3" name="Espace réservé du texte 2"/>
          <p:cNvSpPr>
            <a:spLocks noGrp="1"/>
          </p:cNvSpPr>
          <p:nvPr>
            <p:ph type="body" idx="1"/>
          </p:nvPr>
        </p:nvSpPr>
        <p:spPr>
          <a:xfrm>
            <a:off x="530352" y="2704664"/>
            <a:ext cx="7772400" cy="868352"/>
          </a:xfrm>
        </p:spPr>
        <p:txBody>
          <a:bodyPr>
            <a:normAutofit/>
          </a:bodyPr>
          <a:lstStyle/>
          <a:p>
            <a:r>
              <a:rPr lang="fr-FR" dirty="0" smtClean="0"/>
              <a:t>Une dizaine de facteurs pour  l’apnée dynamique et le poids constant:</a:t>
            </a:r>
            <a:endParaRPr lang="fr-FR"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76056" y="188640"/>
            <a:ext cx="3448050" cy="2000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Rectangle 6"/>
          <p:cNvSpPr/>
          <p:nvPr/>
        </p:nvSpPr>
        <p:spPr>
          <a:xfrm>
            <a:off x="611560" y="3789040"/>
            <a:ext cx="2088232" cy="504056"/>
          </a:xfrm>
          <a:prstGeom prst="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smtClean="0">
                <a:solidFill>
                  <a:schemeClr val="bg1"/>
                </a:solidFill>
              </a:rPr>
              <a:t>Gestion de la vitesse</a:t>
            </a:r>
            <a:endParaRPr lang="fr-FR" dirty="0">
              <a:solidFill>
                <a:schemeClr val="bg1"/>
              </a:solidFill>
            </a:endParaRPr>
          </a:p>
        </p:txBody>
      </p:sp>
      <p:sp>
        <p:nvSpPr>
          <p:cNvPr id="8" name="Rectangle 7"/>
          <p:cNvSpPr/>
          <p:nvPr/>
        </p:nvSpPr>
        <p:spPr>
          <a:xfrm>
            <a:off x="6450778" y="4605504"/>
            <a:ext cx="2088232" cy="504056"/>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smtClean="0">
                <a:solidFill>
                  <a:schemeClr val="bg1"/>
                </a:solidFill>
              </a:rPr>
              <a:t>La technique du virage</a:t>
            </a:r>
            <a:endParaRPr lang="fr-FR" dirty="0">
              <a:solidFill>
                <a:schemeClr val="bg1"/>
              </a:solidFill>
            </a:endParaRPr>
          </a:p>
        </p:txBody>
      </p:sp>
      <p:sp>
        <p:nvSpPr>
          <p:cNvPr id="9" name="Rectangle 8"/>
          <p:cNvSpPr/>
          <p:nvPr/>
        </p:nvSpPr>
        <p:spPr>
          <a:xfrm>
            <a:off x="539552" y="4488046"/>
            <a:ext cx="2736304" cy="993468"/>
          </a:xfrm>
          <a:prstGeom prst="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smtClean="0">
                <a:solidFill>
                  <a:schemeClr val="bg1"/>
                </a:solidFill>
              </a:rPr>
              <a:t>L’hydrodynamisme et la gestion propulsion</a:t>
            </a:r>
            <a:endParaRPr lang="fr-FR" dirty="0">
              <a:solidFill>
                <a:schemeClr val="bg1"/>
              </a:solidFill>
            </a:endParaRPr>
          </a:p>
        </p:txBody>
      </p:sp>
      <p:sp>
        <p:nvSpPr>
          <p:cNvPr id="10" name="Rectangle 9"/>
          <p:cNvSpPr/>
          <p:nvPr/>
        </p:nvSpPr>
        <p:spPr>
          <a:xfrm>
            <a:off x="6280988" y="3841812"/>
            <a:ext cx="2088232" cy="504056"/>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smtClean="0">
                <a:solidFill>
                  <a:schemeClr val="bg1"/>
                </a:solidFill>
              </a:rPr>
              <a:t>Le </a:t>
            </a:r>
            <a:r>
              <a:rPr lang="fr-FR" dirty="0" err="1" smtClean="0">
                <a:solidFill>
                  <a:schemeClr val="bg1"/>
                </a:solidFill>
              </a:rPr>
              <a:t>palmage</a:t>
            </a:r>
            <a:endParaRPr lang="fr-FR" dirty="0">
              <a:solidFill>
                <a:schemeClr val="bg1"/>
              </a:solidFill>
            </a:endParaRPr>
          </a:p>
        </p:txBody>
      </p:sp>
      <p:sp>
        <p:nvSpPr>
          <p:cNvPr id="11" name="Rectangle 10"/>
          <p:cNvSpPr/>
          <p:nvPr/>
        </p:nvSpPr>
        <p:spPr>
          <a:xfrm>
            <a:off x="630616" y="5661248"/>
            <a:ext cx="2240632" cy="758552"/>
          </a:xfrm>
          <a:prstGeom prst="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smtClean="0">
                <a:solidFill>
                  <a:schemeClr val="bg1"/>
                </a:solidFill>
              </a:rPr>
              <a:t>La souplesse de la chaîne longitudinale</a:t>
            </a:r>
            <a:endParaRPr lang="fr-FR" dirty="0">
              <a:solidFill>
                <a:schemeClr val="bg1"/>
              </a:solidFill>
            </a:endParaRPr>
          </a:p>
        </p:txBody>
      </p:sp>
      <p:sp>
        <p:nvSpPr>
          <p:cNvPr id="12" name="Rectangle 11"/>
          <p:cNvSpPr/>
          <p:nvPr/>
        </p:nvSpPr>
        <p:spPr>
          <a:xfrm>
            <a:off x="3707904" y="3841812"/>
            <a:ext cx="2088232" cy="504056"/>
          </a:xfrm>
          <a:prstGeom prst="rect">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smtClean="0">
                <a:solidFill>
                  <a:schemeClr val="bg1"/>
                </a:solidFill>
              </a:rPr>
              <a:t>Les barrières psychologiques</a:t>
            </a:r>
            <a:endParaRPr lang="fr-FR" dirty="0">
              <a:solidFill>
                <a:schemeClr val="bg1"/>
              </a:solidFill>
            </a:endParaRPr>
          </a:p>
        </p:txBody>
      </p:sp>
      <p:sp>
        <p:nvSpPr>
          <p:cNvPr id="13" name="Rectangle 12"/>
          <p:cNvSpPr/>
          <p:nvPr/>
        </p:nvSpPr>
        <p:spPr>
          <a:xfrm>
            <a:off x="5623160" y="3230504"/>
            <a:ext cx="2736304" cy="504056"/>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smtClean="0">
                <a:solidFill>
                  <a:schemeClr val="bg1"/>
                </a:solidFill>
              </a:rPr>
              <a:t>Technique du canard</a:t>
            </a:r>
            <a:endParaRPr lang="fr-FR" dirty="0">
              <a:solidFill>
                <a:schemeClr val="bg1"/>
              </a:solidFill>
            </a:endParaRPr>
          </a:p>
        </p:txBody>
      </p:sp>
      <p:sp>
        <p:nvSpPr>
          <p:cNvPr id="14" name="Rectangle 13"/>
          <p:cNvSpPr/>
          <p:nvPr/>
        </p:nvSpPr>
        <p:spPr>
          <a:xfrm>
            <a:off x="3367949" y="5037250"/>
            <a:ext cx="2768141" cy="631304"/>
          </a:xfrm>
          <a:prstGeom prst="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smtClean="0">
                <a:solidFill>
                  <a:schemeClr val="bg1"/>
                </a:solidFill>
              </a:rPr>
              <a:t>La force musculaire des jambes</a:t>
            </a:r>
            <a:endParaRPr lang="fr-FR" dirty="0">
              <a:solidFill>
                <a:schemeClr val="bg1"/>
              </a:solidFill>
            </a:endParaRPr>
          </a:p>
        </p:txBody>
      </p:sp>
      <p:sp>
        <p:nvSpPr>
          <p:cNvPr id="15" name="Rectangle 14"/>
          <p:cNvSpPr/>
          <p:nvPr/>
        </p:nvSpPr>
        <p:spPr>
          <a:xfrm>
            <a:off x="3367948" y="5772162"/>
            <a:ext cx="2768141" cy="631304"/>
          </a:xfrm>
          <a:prstGeom prst="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smtClean="0">
                <a:solidFill>
                  <a:schemeClr val="bg1"/>
                </a:solidFill>
              </a:rPr>
              <a:t>La compensation</a:t>
            </a:r>
            <a:endParaRPr lang="fr-FR" dirty="0">
              <a:solidFill>
                <a:schemeClr val="bg1"/>
              </a:solidFill>
            </a:endParaRPr>
          </a:p>
        </p:txBody>
      </p:sp>
      <p:sp>
        <p:nvSpPr>
          <p:cNvPr id="16" name="Rectangle 15"/>
          <p:cNvSpPr/>
          <p:nvPr/>
        </p:nvSpPr>
        <p:spPr>
          <a:xfrm>
            <a:off x="6339086" y="5505302"/>
            <a:ext cx="2768141" cy="631304"/>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smtClean="0">
                <a:solidFill>
                  <a:schemeClr val="bg1"/>
                </a:solidFill>
              </a:rPr>
              <a:t>La compensation</a:t>
            </a:r>
            <a:endParaRPr lang="fr-FR" dirty="0">
              <a:solidFill>
                <a:schemeClr val="bg1"/>
              </a:solidFill>
            </a:endParaRPr>
          </a:p>
        </p:txBody>
      </p:sp>
    </p:spTree>
    <p:extLst>
      <p:ext uri="{BB962C8B-B14F-4D97-AF65-F5344CB8AC3E}">
        <p14:creationId xmlns:p14="http://schemas.microsoft.com/office/powerpoint/2010/main" val="22210005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1000"/>
                                        <p:tgtEl>
                                          <p:spTgt spid="9"/>
                                        </p:tgtEl>
                                      </p:cBhvr>
                                    </p:animEffect>
                                    <p:anim calcmode="lin" valueType="num">
                                      <p:cBhvr>
                                        <p:cTn id="22" dur="1000" fill="hold"/>
                                        <p:tgtEl>
                                          <p:spTgt spid="9"/>
                                        </p:tgtEl>
                                        <p:attrNameLst>
                                          <p:attrName>ppt_x</p:attrName>
                                        </p:attrNameLst>
                                      </p:cBhvr>
                                      <p:tavLst>
                                        <p:tav tm="0">
                                          <p:val>
                                            <p:strVal val="#ppt_x"/>
                                          </p:val>
                                        </p:tav>
                                        <p:tav tm="100000">
                                          <p:val>
                                            <p:strVal val="#ppt_x"/>
                                          </p:val>
                                        </p:tav>
                                      </p:tavLst>
                                    </p:anim>
                                    <p:anim calcmode="lin" valueType="num">
                                      <p:cBhvr>
                                        <p:cTn id="23"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1000"/>
                                        <p:tgtEl>
                                          <p:spTgt spid="10"/>
                                        </p:tgtEl>
                                      </p:cBhvr>
                                    </p:animEffect>
                                    <p:anim calcmode="lin" valueType="num">
                                      <p:cBhvr>
                                        <p:cTn id="29" dur="1000" fill="hold"/>
                                        <p:tgtEl>
                                          <p:spTgt spid="10"/>
                                        </p:tgtEl>
                                        <p:attrNameLst>
                                          <p:attrName>ppt_x</p:attrName>
                                        </p:attrNameLst>
                                      </p:cBhvr>
                                      <p:tavLst>
                                        <p:tav tm="0">
                                          <p:val>
                                            <p:strVal val="#ppt_x"/>
                                          </p:val>
                                        </p:tav>
                                        <p:tav tm="100000">
                                          <p:val>
                                            <p:strVal val="#ppt_x"/>
                                          </p:val>
                                        </p:tav>
                                      </p:tavLst>
                                    </p:anim>
                                    <p:anim calcmode="lin" valueType="num">
                                      <p:cBhvr>
                                        <p:cTn id="30"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1000"/>
                                        <p:tgtEl>
                                          <p:spTgt spid="11"/>
                                        </p:tgtEl>
                                      </p:cBhvr>
                                    </p:animEffect>
                                    <p:anim calcmode="lin" valueType="num">
                                      <p:cBhvr>
                                        <p:cTn id="36" dur="1000" fill="hold"/>
                                        <p:tgtEl>
                                          <p:spTgt spid="11"/>
                                        </p:tgtEl>
                                        <p:attrNameLst>
                                          <p:attrName>ppt_x</p:attrName>
                                        </p:attrNameLst>
                                      </p:cBhvr>
                                      <p:tavLst>
                                        <p:tav tm="0">
                                          <p:val>
                                            <p:strVal val="#ppt_x"/>
                                          </p:val>
                                        </p:tav>
                                        <p:tav tm="100000">
                                          <p:val>
                                            <p:strVal val="#ppt_x"/>
                                          </p:val>
                                        </p:tav>
                                      </p:tavLst>
                                    </p:anim>
                                    <p:anim calcmode="lin" valueType="num">
                                      <p:cBhvr>
                                        <p:cTn id="37"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fade">
                                      <p:cBhvr>
                                        <p:cTn id="42" dur="1000"/>
                                        <p:tgtEl>
                                          <p:spTgt spid="12"/>
                                        </p:tgtEl>
                                      </p:cBhvr>
                                    </p:animEffect>
                                    <p:anim calcmode="lin" valueType="num">
                                      <p:cBhvr>
                                        <p:cTn id="43" dur="1000" fill="hold"/>
                                        <p:tgtEl>
                                          <p:spTgt spid="12"/>
                                        </p:tgtEl>
                                        <p:attrNameLst>
                                          <p:attrName>ppt_x</p:attrName>
                                        </p:attrNameLst>
                                      </p:cBhvr>
                                      <p:tavLst>
                                        <p:tav tm="0">
                                          <p:val>
                                            <p:strVal val="#ppt_x"/>
                                          </p:val>
                                        </p:tav>
                                        <p:tav tm="100000">
                                          <p:val>
                                            <p:strVal val="#ppt_x"/>
                                          </p:val>
                                        </p:tav>
                                      </p:tavLst>
                                    </p:anim>
                                    <p:anim calcmode="lin" valueType="num">
                                      <p:cBhvr>
                                        <p:cTn id="44"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3"/>
                                        </p:tgtEl>
                                        <p:attrNameLst>
                                          <p:attrName>style.visibility</p:attrName>
                                        </p:attrNameLst>
                                      </p:cBhvr>
                                      <p:to>
                                        <p:strVal val="visible"/>
                                      </p:to>
                                    </p:set>
                                    <p:animEffect transition="in" filter="fade">
                                      <p:cBhvr>
                                        <p:cTn id="49" dur="1000"/>
                                        <p:tgtEl>
                                          <p:spTgt spid="13"/>
                                        </p:tgtEl>
                                      </p:cBhvr>
                                    </p:animEffect>
                                    <p:anim calcmode="lin" valueType="num">
                                      <p:cBhvr>
                                        <p:cTn id="50" dur="1000" fill="hold"/>
                                        <p:tgtEl>
                                          <p:spTgt spid="13"/>
                                        </p:tgtEl>
                                        <p:attrNameLst>
                                          <p:attrName>ppt_x</p:attrName>
                                        </p:attrNameLst>
                                      </p:cBhvr>
                                      <p:tavLst>
                                        <p:tav tm="0">
                                          <p:val>
                                            <p:strVal val="#ppt_x"/>
                                          </p:val>
                                        </p:tav>
                                        <p:tav tm="100000">
                                          <p:val>
                                            <p:strVal val="#ppt_x"/>
                                          </p:val>
                                        </p:tav>
                                      </p:tavLst>
                                    </p:anim>
                                    <p:anim calcmode="lin" valueType="num">
                                      <p:cBhvr>
                                        <p:cTn id="51"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14"/>
                                        </p:tgtEl>
                                        <p:attrNameLst>
                                          <p:attrName>style.visibility</p:attrName>
                                        </p:attrNameLst>
                                      </p:cBhvr>
                                      <p:to>
                                        <p:strVal val="visible"/>
                                      </p:to>
                                    </p:set>
                                    <p:animEffect transition="in" filter="fade">
                                      <p:cBhvr>
                                        <p:cTn id="56" dur="1000"/>
                                        <p:tgtEl>
                                          <p:spTgt spid="14"/>
                                        </p:tgtEl>
                                      </p:cBhvr>
                                    </p:animEffect>
                                    <p:anim calcmode="lin" valueType="num">
                                      <p:cBhvr>
                                        <p:cTn id="57" dur="1000" fill="hold"/>
                                        <p:tgtEl>
                                          <p:spTgt spid="14"/>
                                        </p:tgtEl>
                                        <p:attrNameLst>
                                          <p:attrName>ppt_x</p:attrName>
                                        </p:attrNameLst>
                                      </p:cBhvr>
                                      <p:tavLst>
                                        <p:tav tm="0">
                                          <p:val>
                                            <p:strVal val="#ppt_x"/>
                                          </p:val>
                                        </p:tav>
                                        <p:tav tm="100000">
                                          <p:val>
                                            <p:strVal val="#ppt_x"/>
                                          </p:val>
                                        </p:tav>
                                      </p:tavLst>
                                    </p:anim>
                                    <p:anim calcmode="lin" valueType="num">
                                      <p:cBhvr>
                                        <p:cTn id="58"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15"/>
                                        </p:tgtEl>
                                        <p:attrNameLst>
                                          <p:attrName>style.visibility</p:attrName>
                                        </p:attrNameLst>
                                      </p:cBhvr>
                                      <p:to>
                                        <p:strVal val="visible"/>
                                      </p:to>
                                    </p:set>
                                    <p:animEffect transition="in" filter="fade">
                                      <p:cBhvr>
                                        <p:cTn id="63" dur="1000"/>
                                        <p:tgtEl>
                                          <p:spTgt spid="15"/>
                                        </p:tgtEl>
                                      </p:cBhvr>
                                    </p:animEffect>
                                    <p:anim calcmode="lin" valueType="num">
                                      <p:cBhvr>
                                        <p:cTn id="64" dur="1000" fill="hold"/>
                                        <p:tgtEl>
                                          <p:spTgt spid="15"/>
                                        </p:tgtEl>
                                        <p:attrNameLst>
                                          <p:attrName>ppt_x</p:attrName>
                                        </p:attrNameLst>
                                      </p:cBhvr>
                                      <p:tavLst>
                                        <p:tav tm="0">
                                          <p:val>
                                            <p:strVal val="#ppt_x"/>
                                          </p:val>
                                        </p:tav>
                                        <p:tav tm="100000">
                                          <p:val>
                                            <p:strVal val="#ppt_x"/>
                                          </p:val>
                                        </p:tav>
                                      </p:tavLst>
                                    </p:anim>
                                    <p:anim calcmode="lin" valueType="num">
                                      <p:cBhvr>
                                        <p:cTn id="65"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16"/>
                                        </p:tgtEl>
                                        <p:attrNameLst>
                                          <p:attrName>style.visibility</p:attrName>
                                        </p:attrNameLst>
                                      </p:cBhvr>
                                      <p:to>
                                        <p:strVal val="visible"/>
                                      </p:to>
                                    </p:set>
                                    <p:animEffect transition="in" filter="fade">
                                      <p:cBhvr>
                                        <p:cTn id="70" dur="1000"/>
                                        <p:tgtEl>
                                          <p:spTgt spid="16"/>
                                        </p:tgtEl>
                                      </p:cBhvr>
                                    </p:animEffect>
                                    <p:anim calcmode="lin" valueType="num">
                                      <p:cBhvr>
                                        <p:cTn id="71" dur="1000" fill="hold"/>
                                        <p:tgtEl>
                                          <p:spTgt spid="16"/>
                                        </p:tgtEl>
                                        <p:attrNameLst>
                                          <p:attrName>ppt_x</p:attrName>
                                        </p:attrNameLst>
                                      </p:cBhvr>
                                      <p:tavLst>
                                        <p:tav tm="0">
                                          <p:val>
                                            <p:strVal val="#ppt_x"/>
                                          </p:val>
                                        </p:tav>
                                        <p:tav tm="100000">
                                          <p:val>
                                            <p:strVal val="#ppt_x"/>
                                          </p:val>
                                        </p:tav>
                                      </p:tavLst>
                                    </p:anim>
                                    <p:anim calcmode="lin" valueType="num">
                                      <p:cBhvr>
                                        <p:cTn id="72"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ctrTitle"/>
          </p:nvPr>
        </p:nvSpPr>
        <p:spPr>
          <a:xfrm>
            <a:off x="513401" y="333913"/>
            <a:ext cx="8229600" cy="1080120"/>
          </a:xfrm>
        </p:spPr>
        <p:txBody>
          <a:bodyPr>
            <a:normAutofit/>
          </a:bodyPr>
          <a:lstStyle/>
          <a:p>
            <a:r>
              <a:rPr lang="fr-FR" dirty="0" smtClean="0"/>
              <a:t>L’entrainement</a:t>
            </a:r>
            <a:endParaRPr lang="fr-FR" dirty="0"/>
          </a:p>
        </p:txBody>
      </p:sp>
      <p:sp>
        <p:nvSpPr>
          <p:cNvPr id="5" name="Ellipse 4"/>
          <p:cNvSpPr/>
          <p:nvPr/>
        </p:nvSpPr>
        <p:spPr>
          <a:xfrm>
            <a:off x="2051720" y="2924944"/>
            <a:ext cx="4140460" cy="1800199"/>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dirty="0" smtClean="0"/>
              <a:t>ENTRAINEMENT </a:t>
            </a:r>
            <a:endParaRPr lang="fr-FR" sz="2400" dirty="0"/>
          </a:p>
        </p:txBody>
      </p:sp>
      <p:grpSp>
        <p:nvGrpSpPr>
          <p:cNvPr id="10" name="Groupe 9"/>
          <p:cNvGrpSpPr/>
          <p:nvPr/>
        </p:nvGrpSpPr>
        <p:grpSpPr>
          <a:xfrm>
            <a:off x="5580112" y="1414033"/>
            <a:ext cx="3240360" cy="2376264"/>
            <a:chOff x="5148064" y="1988840"/>
            <a:chExt cx="3240360" cy="2376264"/>
          </a:xfrm>
        </p:grpSpPr>
        <p:sp>
          <p:nvSpPr>
            <p:cNvPr id="8" name="Ellipse 7"/>
            <p:cNvSpPr/>
            <p:nvPr/>
          </p:nvSpPr>
          <p:spPr>
            <a:xfrm>
              <a:off x="5148064" y="1988840"/>
              <a:ext cx="3240360" cy="237626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ZoneTexte 8"/>
            <p:cNvSpPr txBox="1"/>
            <p:nvPr/>
          </p:nvSpPr>
          <p:spPr>
            <a:xfrm>
              <a:off x="5502641" y="2474312"/>
              <a:ext cx="2808312" cy="1477328"/>
            </a:xfrm>
            <a:prstGeom prst="rect">
              <a:avLst/>
            </a:prstGeom>
            <a:noFill/>
          </p:spPr>
          <p:txBody>
            <a:bodyPr wrap="square" rtlCol="0">
              <a:spAutoFit/>
            </a:bodyPr>
            <a:lstStyle/>
            <a:p>
              <a:r>
                <a:rPr lang="fr-FR" dirty="0"/>
                <a:t>1. </a:t>
              </a:r>
              <a:r>
                <a:rPr lang="fr-FR" b="1" dirty="0"/>
                <a:t>la répétitivité : </a:t>
              </a:r>
              <a:r>
                <a:rPr lang="fr-FR" dirty="0"/>
                <a:t>les exercices doivent être répétés afin d’améliorer la maîtrise de l’élève et</a:t>
              </a:r>
            </a:p>
            <a:p>
              <a:r>
                <a:rPr lang="fr-FR" dirty="0"/>
                <a:t>l’ancrage du savoir faire </a:t>
              </a:r>
            </a:p>
          </p:txBody>
        </p:sp>
      </p:grpSp>
      <p:grpSp>
        <p:nvGrpSpPr>
          <p:cNvPr id="14" name="Groupe 13"/>
          <p:cNvGrpSpPr/>
          <p:nvPr/>
        </p:nvGrpSpPr>
        <p:grpSpPr>
          <a:xfrm>
            <a:off x="539552" y="4221088"/>
            <a:ext cx="3240360" cy="2376264"/>
            <a:chOff x="5148064" y="1988840"/>
            <a:chExt cx="3240360" cy="2376264"/>
          </a:xfrm>
        </p:grpSpPr>
        <p:sp>
          <p:nvSpPr>
            <p:cNvPr id="15" name="Ellipse 14"/>
            <p:cNvSpPr/>
            <p:nvPr/>
          </p:nvSpPr>
          <p:spPr>
            <a:xfrm>
              <a:off x="5148064" y="1988840"/>
              <a:ext cx="3240360" cy="237626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ZoneTexte 15"/>
            <p:cNvSpPr txBox="1"/>
            <p:nvPr/>
          </p:nvSpPr>
          <p:spPr>
            <a:xfrm>
              <a:off x="5502641" y="2299809"/>
              <a:ext cx="2808312" cy="1754326"/>
            </a:xfrm>
            <a:prstGeom prst="rect">
              <a:avLst/>
            </a:prstGeom>
            <a:noFill/>
          </p:spPr>
          <p:txBody>
            <a:bodyPr wrap="square" rtlCol="0">
              <a:spAutoFit/>
            </a:bodyPr>
            <a:lstStyle/>
            <a:p>
              <a:r>
                <a:rPr lang="fr-FR" dirty="0"/>
                <a:t>3. </a:t>
              </a:r>
              <a:r>
                <a:rPr lang="fr-FR" b="1" dirty="0"/>
                <a:t>la variabilité : </a:t>
              </a:r>
              <a:r>
                <a:rPr lang="fr-FR" dirty="0"/>
                <a:t>les exercices doivent être variés afin de ne pas lasser l’élève et harmoniser les</a:t>
              </a:r>
            </a:p>
            <a:p>
              <a:r>
                <a:rPr lang="fr-FR" dirty="0"/>
                <a:t>acquis techniques ;</a:t>
              </a:r>
            </a:p>
          </p:txBody>
        </p:sp>
      </p:grpSp>
      <p:grpSp>
        <p:nvGrpSpPr>
          <p:cNvPr id="6" name="Groupe 5"/>
          <p:cNvGrpSpPr/>
          <p:nvPr/>
        </p:nvGrpSpPr>
        <p:grpSpPr>
          <a:xfrm>
            <a:off x="4333889" y="4181461"/>
            <a:ext cx="4176464" cy="2537553"/>
            <a:chOff x="4333889" y="4181461"/>
            <a:chExt cx="4176464" cy="2537553"/>
          </a:xfrm>
        </p:grpSpPr>
        <p:sp>
          <p:nvSpPr>
            <p:cNvPr id="18" name="Ellipse 17"/>
            <p:cNvSpPr/>
            <p:nvPr/>
          </p:nvSpPr>
          <p:spPr>
            <a:xfrm>
              <a:off x="4333889" y="4181461"/>
              <a:ext cx="4176464" cy="2537553"/>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Rectangle 2"/>
            <p:cNvSpPr/>
            <p:nvPr/>
          </p:nvSpPr>
          <p:spPr>
            <a:xfrm>
              <a:off x="4929308" y="4393557"/>
              <a:ext cx="3245823" cy="2031325"/>
            </a:xfrm>
            <a:prstGeom prst="rect">
              <a:avLst/>
            </a:prstGeom>
          </p:spPr>
          <p:txBody>
            <a:bodyPr wrap="square">
              <a:spAutoFit/>
            </a:bodyPr>
            <a:lstStyle/>
            <a:p>
              <a:r>
                <a:rPr lang="fr-FR" dirty="0" smtClean="0"/>
                <a:t>2. </a:t>
              </a:r>
              <a:r>
                <a:rPr lang="fr-FR" b="1" dirty="0"/>
                <a:t>la progressivité : </a:t>
              </a:r>
              <a:r>
                <a:rPr lang="fr-FR" dirty="0"/>
                <a:t>les exercices doivent être de difficultés croissante afin de positionner</a:t>
              </a:r>
            </a:p>
            <a:p>
              <a:r>
                <a:rPr lang="fr-FR" dirty="0"/>
                <a:t>l’élève en situation d’apprentissage et de surcharge adaptée ;</a:t>
              </a:r>
            </a:p>
          </p:txBody>
        </p:sp>
      </p:grpSp>
      <p:grpSp>
        <p:nvGrpSpPr>
          <p:cNvPr id="7" name="Groupe 6"/>
          <p:cNvGrpSpPr/>
          <p:nvPr/>
        </p:nvGrpSpPr>
        <p:grpSpPr>
          <a:xfrm>
            <a:off x="110689" y="1270017"/>
            <a:ext cx="3339735" cy="2736304"/>
            <a:chOff x="-108520" y="1484784"/>
            <a:chExt cx="3339735" cy="2736304"/>
          </a:xfrm>
        </p:grpSpPr>
        <p:grpSp>
          <p:nvGrpSpPr>
            <p:cNvPr id="11" name="Groupe 10"/>
            <p:cNvGrpSpPr/>
            <p:nvPr/>
          </p:nvGrpSpPr>
          <p:grpSpPr>
            <a:xfrm>
              <a:off x="-108520" y="1484784"/>
              <a:ext cx="3339735" cy="2736304"/>
              <a:chOff x="5148064" y="1988840"/>
              <a:chExt cx="3240360" cy="2376264"/>
            </a:xfrm>
          </p:grpSpPr>
          <p:sp>
            <p:nvSpPr>
              <p:cNvPr id="12" name="Ellipse 11"/>
              <p:cNvSpPr/>
              <p:nvPr/>
            </p:nvSpPr>
            <p:spPr>
              <a:xfrm>
                <a:off x="5148064" y="1988840"/>
                <a:ext cx="3240360" cy="2376264"/>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ZoneTexte 12"/>
              <p:cNvSpPr txBox="1"/>
              <p:nvPr/>
            </p:nvSpPr>
            <p:spPr>
              <a:xfrm>
                <a:off x="5502641" y="2474312"/>
                <a:ext cx="2808312" cy="369332"/>
              </a:xfrm>
              <a:prstGeom prst="rect">
                <a:avLst/>
              </a:prstGeom>
              <a:noFill/>
            </p:spPr>
            <p:txBody>
              <a:bodyPr wrap="square" rtlCol="0">
                <a:spAutoFit/>
              </a:bodyPr>
              <a:lstStyle/>
              <a:p>
                <a:endParaRPr lang="fr-FR" dirty="0"/>
              </a:p>
            </p:txBody>
          </p:sp>
        </p:grpSp>
        <p:sp>
          <p:nvSpPr>
            <p:cNvPr id="4" name="Rectangle 3"/>
            <p:cNvSpPr/>
            <p:nvPr/>
          </p:nvSpPr>
          <p:spPr>
            <a:xfrm>
              <a:off x="422409" y="1776632"/>
              <a:ext cx="2696711" cy="2031325"/>
            </a:xfrm>
            <a:prstGeom prst="rect">
              <a:avLst/>
            </a:prstGeom>
          </p:spPr>
          <p:txBody>
            <a:bodyPr wrap="square">
              <a:spAutoFit/>
            </a:bodyPr>
            <a:lstStyle/>
            <a:p>
              <a:r>
                <a:rPr lang="fr-FR" dirty="0"/>
                <a:t>4. </a:t>
              </a:r>
              <a:r>
                <a:rPr lang="fr-FR" b="1" dirty="0"/>
                <a:t>la connaissance du résultat : </a:t>
              </a:r>
              <a:r>
                <a:rPr lang="fr-FR" dirty="0"/>
                <a:t>l’élève est avide de constater ses progrès afin de continuer à</a:t>
              </a:r>
            </a:p>
            <a:p>
              <a:r>
                <a:rPr lang="fr-FR" dirty="0"/>
                <a:t>se donner les moyens de </a:t>
              </a:r>
              <a:r>
                <a:rPr lang="fr-FR" dirty="0" smtClean="0"/>
                <a:t>progresser.</a:t>
              </a:r>
              <a:endParaRPr lang="fr-FR" dirty="0"/>
            </a:p>
          </p:txBody>
        </p:sp>
      </p:grpSp>
    </p:spTree>
    <p:extLst>
      <p:ext uri="{BB962C8B-B14F-4D97-AF65-F5344CB8AC3E}">
        <p14:creationId xmlns:p14="http://schemas.microsoft.com/office/powerpoint/2010/main" val="8298705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randombar(horizontal)">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wipe(down)">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wipe(down)">
                                      <p:cBhvr>
                                        <p:cTn id="22"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wipe(down)">
                                      <p:cBhvr>
                                        <p:cTn id="27" dur="50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wipe(down)">
                                      <p:cBhvr>
                                        <p:cTn id="3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z="2400" dirty="0">
                <a:effectLst/>
              </a:rPr>
              <a:t>A1-PRINCIPES GENERAUX DE LA PROGRESSION EN APNEE (A faire) fonctionnement de l'entrainement d'une manière générale, cycles etc...</a:t>
            </a:r>
            <a:br>
              <a:rPr lang="fr-FR" sz="2400" dirty="0">
                <a:effectLst/>
              </a:rPr>
            </a:br>
            <a:endParaRPr lang="fr-FR" sz="2400" dirty="0"/>
          </a:p>
        </p:txBody>
      </p:sp>
      <p:sp>
        <p:nvSpPr>
          <p:cNvPr id="3" name="Espace réservé du texte 2"/>
          <p:cNvSpPr>
            <a:spLocks noGrp="1"/>
          </p:cNvSpPr>
          <p:nvPr>
            <p:ph type="body" idx="1"/>
          </p:nvPr>
        </p:nvSpPr>
        <p:spPr/>
        <p:txBody>
          <a:bodyPr/>
          <a:lstStyle/>
          <a:p>
            <a:endParaRPr lang="fr-FR"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4350" y="2636912"/>
            <a:ext cx="8115300" cy="3905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29777825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 1 - La répétitivité</a:t>
            </a:r>
            <a:endParaRPr lang="fr-FR" dirty="0"/>
          </a:p>
        </p:txBody>
      </p:sp>
      <p:sp>
        <p:nvSpPr>
          <p:cNvPr id="3" name="Espace réservé du texte 2"/>
          <p:cNvSpPr>
            <a:spLocks noGrp="1"/>
          </p:cNvSpPr>
          <p:nvPr>
            <p:ph type="body" idx="1"/>
          </p:nvPr>
        </p:nvSpPr>
        <p:spPr/>
        <p:txBody>
          <a:bodyPr>
            <a:normAutofit lnSpcReduction="10000"/>
          </a:bodyPr>
          <a:lstStyle/>
          <a:p>
            <a:r>
              <a:rPr lang="fr-FR" dirty="0"/>
              <a:t>un organisme caractérisé par un état fonctionnel</a:t>
            </a:r>
          </a:p>
          <a:p>
            <a:r>
              <a:rPr lang="fr-FR" i="1" dirty="0"/>
              <a:t>n </a:t>
            </a:r>
            <a:r>
              <a:rPr lang="fr-FR" dirty="0"/>
              <a:t>s’adapte petit à petit à des demandes physiologiques qui se répètent et évolue vers des états</a:t>
            </a:r>
          </a:p>
          <a:p>
            <a:r>
              <a:rPr lang="fr-FR" dirty="0"/>
              <a:t>fonctionnels </a:t>
            </a:r>
            <a:r>
              <a:rPr lang="fr-FR" i="1" dirty="0"/>
              <a:t>n+1, n+2, … </a:t>
            </a:r>
            <a:r>
              <a:rPr lang="fr-FR" i="1" dirty="0" err="1"/>
              <a:t>n+x</a:t>
            </a:r>
            <a:r>
              <a:rPr lang="fr-FR" i="1" dirty="0"/>
              <a:t> </a:t>
            </a:r>
            <a:r>
              <a:rPr lang="fr-FR" dirty="0"/>
              <a:t>mieux adaptés à des efforts donnés</a:t>
            </a:r>
          </a:p>
        </p:txBody>
      </p:sp>
    </p:spTree>
    <p:extLst>
      <p:ext uri="{BB962C8B-B14F-4D97-AF65-F5344CB8AC3E}">
        <p14:creationId xmlns:p14="http://schemas.microsoft.com/office/powerpoint/2010/main" val="374120818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2 – </a:t>
            </a:r>
            <a:r>
              <a:rPr lang="fr-FR" dirty="0"/>
              <a:t>L</a:t>
            </a:r>
            <a:r>
              <a:rPr lang="fr-FR" dirty="0" smtClean="0"/>
              <a:t>a progressivité </a:t>
            </a:r>
            <a:endParaRPr lang="fr-FR" dirty="0"/>
          </a:p>
        </p:txBody>
      </p:sp>
      <p:sp>
        <p:nvSpPr>
          <p:cNvPr id="3" name="Espace réservé du texte 2"/>
          <p:cNvSpPr>
            <a:spLocks noGrp="1"/>
          </p:cNvSpPr>
          <p:nvPr>
            <p:ph type="body" idx="1"/>
          </p:nvPr>
        </p:nvSpPr>
        <p:spPr/>
        <p:txBody>
          <a:bodyPr>
            <a:normAutofit fontScale="92500" lnSpcReduction="20000"/>
          </a:bodyPr>
          <a:lstStyle/>
          <a:p>
            <a:r>
              <a:rPr lang="fr-FR" dirty="0"/>
              <a:t>Sur une longue durée, le </a:t>
            </a:r>
            <a:r>
              <a:rPr lang="fr-FR" dirty="0" smtClean="0"/>
              <a:t>travail initial </a:t>
            </a:r>
            <a:r>
              <a:rPr lang="fr-FR" dirty="0"/>
              <a:t>à partir d’un état fonctionnel donné va débuter par des exercices imposant une charge légère.</a:t>
            </a:r>
          </a:p>
          <a:p>
            <a:r>
              <a:rPr lang="fr-FR" dirty="0"/>
              <a:t>Au fur et à mesure que l’organisme s’adapte, l’intensité des exercices peut augmenter afin </a:t>
            </a:r>
            <a:r>
              <a:rPr lang="fr-FR" dirty="0" smtClean="0"/>
              <a:t>de maintenir </a:t>
            </a:r>
            <a:r>
              <a:rPr lang="fr-FR" dirty="0"/>
              <a:t>une surcharge propice à l’adaptation progressive. </a:t>
            </a:r>
          </a:p>
        </p:txBody>
      </p:sp>
    </p:spTree>
    <p:extLst>
      <p:ext uri="{BB962C8B-B14F-4D97-AF65-F5344CB8AC3E}">
        <p14:creationId xmlns:p14="http://schemas.microsoft.com/office/powerpoint/2010/main" val="36920945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3  La variabilité</a:t>
            </a:r>
            <a:endParaRPr lang="fr-FR" dirty="0"/>
          </a:p>
        </p:txBody>
      </p:sp>
      <p:sp>
        <p:nvSpPr>
          <p:cNvPr id="3" name="Espace réservé du texte 2"/>
          <p:cNvSpPr>
            <a:spLocks noGrp="1"/>
          </p:cNvSpPr>
          <p:nvPr>
            <p:ph type="body" idx="1"/>
          </p:nvPr>
        </p:nvSpPr>
        <p:spPr/>
        <p:txBody>
          <a:bodyPr>
            <a:normAutofit fontScale="85000" lnSpcReduction="10000"/>
          </a:bodyPr>
          <a:lstStyle/>
          <a:p>
            <a:r>
              <a:rPr lang="fr-FR" dirty="0"/>
              <a:t>En pratique courante de l’apnée en club, la majorité des sportifs, bien qu’ils </a:t>
            </a:r>
            <a:r>
              <a:rPr lang="fr-FR" dirty="0" smtClean="0"/>
              <a:t>veuillent progresser</a:t>
            </a:r>
            <a:r>
              <a:rPr lang="fr-FR" dirty="0"/>
              <a:t>, ne sont pas enclin à supporter des charges d’entrainement importantes. Il est à ce </a:t>
            </a:r>
            <a:r>
              <a:rPr lang="fr-FR" dirty="0" smtClean="0"/>
              <a:t>titre conseillé </a:t>
            </a:r>
            <a:r>
              <a:rPr lang="fr-FR" dirty="0"/>
              <a:t>de varier les types d’exercices afin que la lassitude morale ne vienne pas se rajouter aux</a:t>
            </a:r>
          </a:p>
          <a:p>
            <a:r>
              <a:rPr lang="fr-FR" dirty="0"/>
              <a:t>efforts de volonté consentis sur le plan physique.</a:t>
            </a:r>
          </a:p>
        </p:txBody>
      </p:sp>
    </p:spTree>
    <p:extLst>
      <p:ext uri="{BB962C8B-B14F-4D97-AF65-F5344CB8AC3E}">
        <p14:creationId xmlns:p14="http://schemas.microsoft.com/office/powerpoint/2010/main" val="2645058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4- La connaissance du résultat</a:t>
            </a:r>
            <a:endParaRPr lang="fr-FR" dirty="0"/>
          </a:p>
        </p:txBody>
      </p:sp>
      <p:sp>
        <p:nvSpPr>
          <p:cNvPr id="3" name="Espace réservé du texte 2"/>
          <p:cNvSpPr>
            <a:spLocks noGrp="1"/>
          </p:cNvSpPr>
          <p:nvPr>
            <p:ph type="body" idx="1"/>
          </p:nvPr>
        </p:nvSpPr>
        <p:spPr>
          <a:xfrm>
            <a:off x="530352" y="2704664"/>
            <a:ext cx="7772400" cy="1732448"/>
          </a:xfrm>
        </p:spPr>
        <p:txBody>
          <a:bodyPr>
            <a:normAutofit fontScale="92500"/>
          </a:bodyPr>
          <a:lstStyle/>
          <a:p>
            <a:r>
              <a:rPr lang="fr-FR" dirty="0"/>
              <a:t>Enfin, sur le plan psychologique, il est primordial d’entretenir la motivation. La pratique </a:t>
            </a:r>
            <a:r>
              <a:rPr lang="fr-FR" dirty="0" smtClean="0"/>
              <a:t>en groupe </a:t>
            </a:r>
            <a:r>
              <a:rPr lang="fr-FR" dirty="0"/>
              <a:t>joue un effet positif à ce niveau, par un effet d’entrainement, mais il est aussi important </a:t>
            </a:r>
            <a:r>
              <a:rPr lang="fr-FR" dirty="0" smtClean="0"/>
              <a:t>que l’athlète </a:t>
            </a:r>
            <a:r>
              <a:rPr lang="fr-FR" dirty="0"/>
              <a:t>ait des informations personnelles sur sa progression, en guise de récompense par </a:t>
            </a:r>
            <a:r>
              <a:rPr lang="fr-FR" dirty="0" smtClean="0"/>
              <a:t>rapport aux </a:t>
            </a:r>
            <a:r>
              <a:rPr lang="fr-FR" dirty="0"/>
              <a:t>efforts consentis.</a:t>
            </a:r>
          </a:p>
        </p:txBody>
      </p:sp>
    </p:spTree>
    <p:extLst>
      <p:ext uri="{BB962C8B-B14F-4D97-AF65-F5344CB8AC3E}">
        <p14:creationId xmlns:p14="http://schemas.microsoft.com/office/powerpoint/2010/main" val="191800728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67544" y="476672"/>
            <a:ext cx="7772400" cy="1362456"/>
          </a:xfrm>
        </p:spPr>
        <p:txBody>
          <a:bodyPr/>
          <a:lstStyle/>
          <a:p>
            <a:r>
              <a:rPr lang="fr-FR" sz="2400" dirty="0" smtClean="0">
                <a:effectLst/>
              </a:rPr>
              <a:t>A 2 les cycles d’entrainement...</a:t>
            </a:r>
            <a:r>
              <a:rPr lang="fr-FR" sz="2400" dirty="0">
                <a:effectLst/>
              </a:rPr>
              <a:t/>
            </a:r>
            <a:br>
              <a:rPr lang="fr-FR" sz="2400" dirty="0">
                <a:effectLst/>
              </a:rPr>
            </a:br>
            <a:endParaRPr lang="fr-FR" sz="2400" dirty="0"/>
          </a:p>
        </p:txBody>
      </p:sp>
      <p:sp>
        <p:nvSpPr>
          <p:cNvPr id="3" name="Espace réservé du texte 2"/>
          <p:cNvSpPr>
            <a:spLocks noGrp="1"/>
          </p:cNvSpPr>
          <p:nvPr>
            <p:ph type="body" idx="1"/>
          </p:nvPr>
        </p:nvSpPr>
        <p:spPr>
          <a:xfrm>
            <a:off x="539552" y="1772816"/>
            <a:ext cx="7772400" cy="1509712"/>
          </a:xfrm>
        </p:spPr>
        <p:txBody>
          <a:bodyPr>
            <a:normAutofit fontScale="62500" lnSpcReduction="20000"/>
          </a:bodyPr>
          <a:lstStyle/>
          <a:p>
            <a:r>
              <a:rPr lang="fr-FR" dirty="0"/>
              <a:t>Les adaptations physiologiques découlant de l’entraînement présentent des cinétiques</a:t>
            </a:r>
          </a:p>
          <a:p>
            <a:r>
              <a:rPr lang="fr-FR" dirty="0"/>
              <a:t>différentes. Les résultats obtenus par un travail "foncier" sont plus longs à obtenir mais constituent </a:t>
            </a:r>
            <a:r>
              <a:rPr lang="fr-FR" dirty="0" smtClean="0"/>
              <a:t>un </a:t>
            </a:r>
            <a:r>
              <a:rPr lang="fr-FR" dirty="0" err="1" smtClean="0"/>
              <a:t>pré-requis</a:t>
            </a:r>
            <a:r>
              <a:rPr lang="fr-FR" dirty="0" smtClean="0"/>
              <a:t> </a:t>
            </a:r>
            <a:r>
              <a:rPr lang="fr-FR" dirty="0"/>
              <a:t>indispensable pour une amélioration significative des adaptations liées à un travail</a:t>
            </a:r>
          </a:p>
          <a:p>
            <a:r>
              <a:rPr lang="fr-FR" dirty="0"/>
              <a:t>"fractionné". Ce travail sur la condition physique doit souvent être couplé à l’amélioration de la</a:t>
            </a:r>
          </a:p>
          <a:p>
            <a:r>
              <a:rPr lang="fr-FR" dirty="0"/>
              <a:t>technique. Il est donc fréquent de devoir mener de front plusieurs objectifs, avec des priorités qui</a:t>
            </a:r>
          </a:p>
          <a:p>
            <a:r>
              <a:rPr lang="fr-FR" dirty="0"/>
              <a:t>évoluent au cours du temps.</a:t>
            </a:r>
          </a:p>
        </p:txBody>
      </p:sp>
      <p:sp>
        <p:nvSpPr>
          <p:cNvPr id="4" name="Rectangle 3"/>
          <p:cNvSpPr/>
          <p:nvPr/>
        </p:nvSpPr>
        <p:spPr>
          <a:xfrm>
            <a:off x="611560" y="3789040"/>
            <a:ext cx="2160240" cy="50405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smtClean="0"/>
              <a:t>MACROCYCLES</a:t>
            </a:r>
            <a:endParaRPr lang="fr-FR" dirty="0"/>
          </a:p>
        </p:txBody>
      </p:sp>
      <p:sp>
        <p:nvSpPr>
          <p:cNvPr id="6" name="Rectangle 5"/>
          <p:cNvSpPr/>
          <p:nvPr/>
        </p:nvSpPr>
        <p:spPr>
          <a:xfrm>
            <a:off x="3419872" y="3789040"/>
            <a:ext cx="2160240" cy="50405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smtClean="0"/>
              <a:t>MESOCYCLES</a:t>
            </a:r>
            <a:endParaRPr lang="fr-FR" dirty="0"/>
          </a:p>
        </p:txBody>
      </p:sp>
      <p:sp>
        <p:nvSpPr>
          <p:cNvPr id="7" name="Rectangle 6"/>
          <p:cNvSpPr/>
          <p:nvPr/>
        </p:nvSpPr>
        <p:spPr>
          <a:xfrm>
            <a:off x="6012160" y="3789040"/>
            <a:ext cx="2160240" cy="504056"/>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smtClean="0"/>
              <a:t>MICROCYCLES</a:t>
            </a:r>
            <a:endParaRPr lang="fr-FR" dirty="0"/>
          </a:p>
        </p:txBody>
      </p:sp>
      <p:sp>
        <p:nvSpPr>
          <p:cNvPr id="8" name="Rectangle 7"/>
          <p:cNvSpPr/>
          <p:nvPr/>
        </p:nvSpPr>
        <p:spPr>
          <a:xfrm>
            <a:off x="6012160" y="4581128"/>
            <a:ext cx="2160240" cy="864096"/>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smtClean="0"/>
              <a:t>SEMAINE</a:t>
            </a:r>
            <a:endParaRPr lang="fr-FR" dirty="0"/>
          </a:p>
        </p:txBody>
      </p:sp>
      <p:sp>
        <p:nvSpPr>
          <p:cNvPr id="9" name="Rectangle 8"/>
          <p:cNvSpPr/>
          <p:nvPr/>
        </p:nvSpPr>
        <p:spPr>
          <a:xfrm>
            <a:off x="3419872" y="4581128"/>
            <a:ext cx="2160240" cy="86409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smtClean="0"/>
              <a:t>MOIS</a:t>
            </a:r>
            <a:endParaRPr lang="fr-FR" dirty="0"/>
          </a:p>
        </p:txBody>
      </p:sp>
      <p:sp>
        <p:nvSpPr>
          <p:cNvPr id="10" name="Rectangle 9"/>
          <p:cNvSpPr/>
          <p:nvPr/>
        </p:nvSpPr>
        <p:spPr>
          <a:xfrm>
            <a:off x="647416" y="4547976"/>
            <a:ext cx="2160240" cy="825240"/>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smtClean="0"/>
              <a:t>TRIMESTRE</a:t>
            </a:r>
            <a:endParaRPr lang="fr-FR" dirty="0"/>
          </a:p>
        </p:txBody>
      </p:sp>
    </p:spTree>
    <p:extLst>
      <p:ext uri="{BB962C8B-B14F-4D97-AF65-F5344CB8AC3E}">
        <p14:creationId xmlns:p14="http://schemas.microsoft.com/office/powerpoint/2010/main" val="611254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4" presetClass="emph" presetSubtype="0" fill="hold" grpId="0" nodeType="clickEffect">
                                  <p:stCondLst>
                                    <p:cond delay="0"/>
                                  </p:stCondLst>
                                  <p:iterate type="lt">
                                    <p:tmPct val="10000"/>
                                  </p:iterate>
                                  <p:childTnLst>
                                    <p:animMotion origin="layout" path="M 0.0 0.0 L 0.0 -0.07213" pathEditMode="relative" ptsTypes="">
                                      <p:cBhvr>
                                        <p:cTn id="6" dur="250" accel="50000" decel="50000" autoRev="1" fill="hold">
                                          <p:stCondLst>
                                            <p:cond delay="0"/>
                                          </p:stCondLst>
                                        </p:cTn>
                                        <p:tgtEl>
                                          <p:spTgt spid="2"/>
                                        </p:tgtEl>
                                        <p:attrNameLst>
                                          <p:attrName>ppt_x</p:attrName>
                                          <p:attrName>ppt_y</p:attrName>
                                        </p:attrNameLst>
                                      </p:cBhvr>
                                    </p:animMotion>
                                    <p:animRot by="1500000">
                                      <p:cBhvr>
                                        <p:cTn id="7" dur="125" fill="hold">
                                          <p:stCondLst>
                                            <p:cond delay="0"/>
                                          </p:stCondLst>
                                        </p:cTn>
                                        <p:tgtEl>
                                          <p:spTgt spid="2"/>
                                        </p:tgtEl>
                                        <p:attrNameLst>
                                          <p:attrName>r</p:attrName>
                                        </p:attrNameLst>
                                      </p:cBhvr>
                                    </p:animRot>
                                    <p:animRot by="-1500000">
                                      <p:cBhvr>
                                        <p:cTn id="8" dur="125" fill="hold">
                                          <p:stCondLst>
                                            <p:cond delay="125"/>
                                          </p:stCondLst>
                                        </p:cTn>
                                        <p:tgtEl>
                                          <p:spTgt spid="2"/>
                                        </p:tgtEl>
                                        <p:attrNameLst>
                                          <p:attrName>r</p:attrName>
                                        </p:attrNameLst>
                                      </p:cBhvr>
                                    </p:animRot>
                                    <p:animRot by="-1500000">
                                      <p:cBhvr>
                                        <p:cTn id="9" dur="125" fill="hold">
                                          <p:stCondLst>
                                            <p:cond delay="250"/>
                                          </p:stCondLst>
                                        </p:cTn>
                                        <p:tgtEl>
                                          <p:spTgt spid="2"/>
                                        </p:tgtEl>
                                        <p:attrNameLst>
                                          <p:attrName>r</p:attrName>
                                        </p:attrNameLst>
                                      </p:cBhvr>
                                    </p:animRot>
                                    <p:animRot by="1500000">
                                      <p:cBhvr>
                                        <p:cTn id="10" dur="125" fill="hold">
                                          <p:stCondLst>
                                            <p:cond delay="375"/>
                                          </p:stCondLst>
                                        </p:cTn>
                                        <p:tgtEl>
                                          <p:spTgt spid="2"/>
                                        </p:tgtEl>
                                        <p:attrNameLst>
                                          <p:attrName>r</p:attrName>
                                        </p:attrNameLst>
                                      </p:cBhvr>
                                    </p:animRot>
                                  </p:childTnLst>
                                </p:cTn>
                              </p:par>
                            </p:childTnLst>
                          </p:cTn>
                        </p:par>
                      </p:childTnLst>
                    </p:cTn>
                  </p:par>
                  <p:par>
                    <p:cTn id="11" fill="hold">
                      <p:stCondLst>
                        <p:cond delay="indefinite"/>
                      </p:stCondLst>
                      <p:childTnLst>
                        <p:par>
                          <p:cTn id="12" fill="hold">
                            <p:stCondLst>
                              <p:cond delay="0"/>
                            </p:stCondLst>
                            <p:childTnLst>
                              <p:par>
                                <p:cTn id="13" presetID="42" presetClass="entr" presetSubtype="0" fill="hold" grpId="0" nodeType="click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animEffect transition="in" filter="fade">
                                      <p:cBhvr>
                                        <p:cTn id="15" dur="1000"/>
                                        <p:tgtEl>
                                          <p:spTgt spid="3">
                                            <p:txEl>
                                              <p:pRg st="0" end="0"/>
                                            </p:txEl>
                                          </p:spTgt>
                                        </p:tgtEl>
                                      </p:cBhvr>
                                    </p:animEffect>
                                    <p:anim calcmode="lin" valueType="num">
                                      <p:cBhvr>
                                        <p:cTn id="16"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7"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42" presetClass="entr" presetSubtype="0" fill="hold" grpId="0" nodeType="clickEffect">
                                  <p:stCondLst>
                                    <p:cond delay="0"/>
                                  </p:stCondLst>
                                  <p:childTnLst>
                                    <p:set>
                                      <p:cBhvr>
                                        <p:cTn id="21" dur="1" fill="hold">
                                          <p:stCondLst>
                                            <p:cond delay="0"/>
                                          </p:stCondLst>
                                        </p:cTn>
                                        <p:tgtEl>
                                          <p:spTgt spid="3">
                                            <p:txEl>
                                              <p:pRg st="1" end="1"/>
                                            </p:txEl>
                                          </p:spTgt>
                                        </p:tgtEl>
                                        <p:attrNameLst>
                                          <p:attrName>style.visibility</p:attrName>
                                        </p:attrNameLst>
                                      </p:cBhvr>
                                      <p:to>
                                        <p:strVal val="visible"/>
                                      </p:to>
                                    </p:set>
                                    <p:animEffect transition="in" filter="fade">
                                      <p:cBhvr>
                                        <p:cTn id="22" dur="1000"/>
                                        <p:tgtEl>
                                          <p:spTgt spid="3">
                                            <p:txEl>
                                              <p:pRg st="1" end="1"/>
                                            </p:txEl>
                                          </p:spTgt>
                                        </p:tgtEl>
                                      </p:cBhvr>
                                    </p:animEffect>
                                    <p:anim calcmode="lin" valueType="num">
                                      <p:cBhvr>
                                        <p:cTn id="2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grpId="0" nodeType="clickEffect">
                                  <p:stCondLst>
                                    <p:cond delay="0"/>
                                  </p:stCondLst>
                                  <p:childTnLst>
                                    <p:set>
                                      <p:cBhvr>
                                        <p:cTn id="28" dur="1" fill="hold">
                                          <p:stCondLst>
                                            <p:cond delay="0"/>
                                          </p:stCondLst>
                                        </p:cTn>
                                        <p:tgtEl>
                                          <p:spTgt spid="3">
                                            <p:txEl>
                                              <p:pRg st="2" end="2"/>
                                            </p:txEl>
                                          </p:spTgt>
                                        </p:tgtEl>
                                        <p:attrNameLst>
                                          <p:attrName>style.visibility</p:attrName>
                                        </p:attrNameLst>
                                      </p:cBhvr>
                                      <p:to>
                                        <p:strVal val="visible"/>
                                      </p:to>
                                    </p:set>
                                    <p:animEffect transition="in" filter="fade">
                                      <p:cBhvr>
                                        <p:cTn id="29" dur="1000"/>
                                        <p:tgtEl>
                                          <p:spTgt spid="3">
                                            <p:txEl>
                                              <p:pRg st="2" end="2"/>
                                            </p:txEl>
                                          </p:spTgt>
                                        </p:tgtEl>
                                      </p:cBhvr>
                                    </p:animEffect>
                                    <p:anim calcmode="lin" valueType="num">
                                      <p:cBhvr>
                                        <p:cTn id="30"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31"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grpId="0" nodeType="clickEffect">
                                  <p:stCondLst>
                                    <p:cond delay="0"/>
                                  </p:stCondLst>
                                  <p:childTnLst>
                                    <p:set>
                                      <p:cBhvr>
                                        <p:cTn id="35" dur="1" fill="hold">
                                          <p:stCondLst>
                                            <p:cond delay="0"/>
                                          </p:stCondLst>
                                        </p:cTn>
                                        <p:tgtEl>
                                          <p:spTgt spid="3">
                                            <p:txEl>
                                              <p:pRg st="3" end="3"/>
                                            </p:txEl>
                                          </p:spTgt>
                                        </p:tgtEl>
                                        <p:attrNameLst>
                                          <p:attrName>style.visibility</p:attrName>
                                        </p:attrNameLst>
                                      </p:cBhvr>
                                      <p:to>
                                        <p:strVal val="visible"/>
                                      </p:to>
                                    </p:set>
                                    <p:animEffect transition="in" filter="fade">
                                      <p:cBhvr>
                                        <p:cTn id="36" dur="1000"/>
                                        <p:tgtEl>
                                          <p:spTgt spid="3">
                                            <p:txEl>
                                              <p:pRg st="3" end="3"/>
                                            </p:txEl>
                                          </p:spTgt>
                                        </p:tgtEl>
                                      </p:cBhvr>
                                    </p:animEffect>
                                    <p:anim calcmode="lin" valueType="num">
                                      <p:cBhvr>
                                        <p:cTn id="37"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8"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grpId="0" nodeType="clickEffect">
                                  <p:stCondLst>
                                    <p:cond delay="0"/>
                                  </p:stCondLst>
                                  <p:childTnLst>
                                    <p:set>
                                      <p:cBhvr>
                                        <p:cTn id="42" dur="1" fill="hold">
                                          <p:stCondLst>
                                            <p:cond delay="0"/>
                                          </p:stCondLst>
                                        </p:cTn>
                                        <p:tgtEl>
                                          <p:spTgt spid="3">
                                            <p:txEl>
                                              <p:pRg st="4" end="4"/>
                                            </p:txEl>
                                          </p:spTgt>
                                        </p:tgtEl>
                                        <p:attrNameLst>
                                          <p:attrName>style.visibility</p:attrName>
                                        </p:attrNameLst>
                                      </p:cBhvr>
                                      <p:to>
                                        <p:strVal val="visible"/>
                                      </p:to>
                                    </p:set>
                                    <p:animEffect transition="in" filter="fade">
                                      <p:cBhvr>
                                        <p:cTn id="43" dur="1000"/>
                                        <p:tgtEl>
                                          <p:spTgt spid="3">
                                            <p:txEl>
                                              <p:pRg st="4" end="4"/>
                                            </p:txEl>
                                          </p:spTgt>
                                        </p:tgtEl>
                                      </p:cBhvr>
                                    </p:animEffect>
                                    <p:anim calcmode="lin" valueType="num">
                                      <p:cBhvr>
                                        <p:cTn id="44"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45"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42" presetClass="entr" presetSubtype="0" fill="hold" grpId="0" nodeType="clickEffect">
                                  <p:stCondLst>
                                    <p:cond delay="0"/>
                                  </p:stCondLst>
                                  <p:childTnLst>
                                    <p:set>
                                      <p:cBhvr>
                                        <p:cTn id="49" dur="1" fill="hold">
                                          <p:stCondLst>
                                            <p:cond delay="0"/>
                                          </p:stCondLst>
                                        </p:cTn>
                                        <p:tgtEl>
                                          <p:spTgt spid="4"/>
                                        </p:tgtEl>
                                        <p:attrNameLst>
                                          <p:attrName>style.visibility</p:attrName>
                                        </p:attrNameLst>
                                      </p:cBhvr>
                                      <p:to>
                                        <p:strVal val="visible"/>
                                      </p:to>
                                    </p:set>
                                    <p:animEffect transition="in" filter="fade">
                                      <p:cBhvr>
                                        <p:cTn id="50" dur="1000"/>
                                        <p:tgtEl>
                                          <p:spTgt spid="4"/>
                                        </p:tgtEl>
                                      </p:cBhvr>
                                    </p:animEffect>
                                    <p:anim calcmode="lin" valueType="num">
                                      <p:cBhvr>
                                        <p:cTn id="51" dur="1000" fill="hold"/>
                                        <p:tgtEl>
                                          <p:spTgt spid="4"/>
                                        </p:tgtEl>
                                        <p:attrNameLst>
                                          <p:attrName>ppt_x</p:attrName>
                                        </p:attrNameLst>
                                      </p:cBhvr>
                                      <p:tavLst>
                                        <p:tav tm="0">
                                          <p:val>
                                            <p:strVal val="#ppt_x"/>
                                          </p:val>
                                        </p:tav>
                                        <p:tav tm="100000">
                                          <p:val>
                                            <p:strVal val="#ppt_x"/>
                                          </p:val>
                                        </p:tav>
                                      </p:tavLst>
                                    </p:anim>
                                    <p:anim calcmode="lin" valueType="num">
                                      <p:cBhvr>
                                        <p:cTn id="52"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42" presetClass="entr" presetSubtype="0" fill="hold" grpId="0" nodeType="clickEffect">
                                  <p:stCondLst>
                                    <p:cond delay="0"/>
                                  </p:stCondLst>
                                  <p:childTnLst>
                                    <p:set>
                                      <p:cBhvr>
                                        <p:cTn id="56" dur="1" fill="hold">
                                          <p:stCondLst>
                                            <p:cond delay="0"/>
                                          </p:stCondLst>
                                        </p:cTn>
                                        <p:tgtEl>
                                          <p:spTgt spid="7"/>
                                        </p:tgtEl>
                                        <p:attrNameLst>
                                          <p:attrName>style.visibility</p:attrName>
                                        </p:attrNameLst>
                                      </p:cBhvr>
                                      <p:to>
                                        <p:strVal val="visible"/>
                                      </p:to>
                                    </p:set>
                                    <p:animEffect transition="in" filter="fade">
                                      <p:cBhvr>
                                        <p:cTn id="57" dur="1000"/>
                                        <p:tgtEl>
                                          <p:spTgt spid="7"/>
                                        </p:tgtEl>
                                      </p:cBhvr>
                                    </p:animEffect>
                                    <p:anim calcmode="lin" valueType="num">
                                      <p:cBhvr>
                                        <p:cTn id="58" dur="1000" fill="hold"/>
                                        <p:tgtEl>
                                          <p:spTgt spid="7"/>
                                        </p:tgtEl>
                                        <p:attrNameLst>
                                          <p:attrName>ppt_x</p:attrName>
                                        </p:attrNameLst>
                                      </p:cBhvr>
                                      <p:tavLst>
                                        <p:tav tm="0">
                                          <p:val>
                                            <p:strVal val="#ppt_x"/>
                                          </p:val>
                                        </p:tav>
                                        <p:tav tm="100000">
                                          <p:val>
                                            <p:strVal val="#ppt_x"/>
                                          </p:val>
                                        </p:tav>
                                      </p:tavLst>
                                    </p:anim>
                                    <p:anim calcmode="lin" valueType="num">
                                      <p:cBhvr>
                                        <p:cTn id="5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60" fill="hold">
                      <p:stCondLst>
                        <p:cond delay="indefinite"/>
                      </p:stCondLst>
                      <p:childTnLst>
                        <p:par>
                          <p:cTn id="61" fill="hold">
                            <p:stCondLst>
                              <p:cond delay="0"/>
                            </p:stCondLst>
                            <p:childTnLst>
                              <p:par>
                                <p:cTn id="62" presetID="42" presetClass="entr" presetSubtype="0" fill="hold" grpId="0" nodeType="clickEffect">
                                  <p:stCondLst>
                                    <p:cond delay="0"/>
                                  </p:stCondLst>
                                  <p:childTnLst>
                                    <p:set>
                                      <p:cBhvr>
                                        <p:cTn id="63" dur="1" fill="hold">
                                          <p:stCondLst>
                                            <p:cond delay="0"/>
                                          </p:stCondLst>
                                        </p:cTn>
                                        <p:tgtEl>
                                          <p:spTgt spid="6"/>
                                        </p:tgtEl>
                                        <p:attrNameLst>
                                          <p:attrName>style.visibility</p:attrName>
                                        </p:attrNameLst>
                                      </p:cBhvr>
                                      <p:to>
                                        <p:strVal val="visible"/>
                                      </p:to>
                                    </p:set>
                                    <p:animEffect transition="in" filter="fade">
                                      <p:cBhvr>
                                        <p:cTn id="64" dur="1000"/>
                                        <p:tgtEl>
                                          <p:spTgt spid="6"/>
                                        </p:tgtEl>
                                      </p:cBhvr>
                                    </p:animEffect>
                                    <p:anim calcmode="lin" valueType="num">
                                      <p:cBhvr>
                                        <p:cTn id="65" dur="1000" fill="hold"/>
                                        <p:tgtEl>
                                          <p:spTgt spid="6"/>
                                        </p:tgtEl>
                                        <p:attrNameLst>
                                          <p:attrName>ppt_x</p:attrName>
                                        </p:attrNameLst>
                                      </p:cBhvr>
                                      <p:tavLst>
                                        <p:tav tm="0">
                                          <p:val>
                                            <p:strVal val="#ppt_x"/>
                                          </p:val>
                                        </p:tav>
                                        <p:tav tm="100000">
                                          <p:val>
                                            <p:strVal val="#ppt_x"/>
                                          </p:val>
                                        </p:tav>
                                      </p:tavLst>
                                    </p:anim>
                                    <p:anim calcmode="lin" valueType="num">
                                      <p:cBhvr>
                                        <p:cTn id="6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42" presetClass="entr" presetSubtype="0" fill="hold" grpId="0" nodeType="clickEffect">
                                  <p:stCondLst>
                                    <p:cond delay="0"/>
                                  </p:stCondLst>
                                  <p:childTnLst>
                                    <p:set>
                                      <p:cBhvr>
                                        <p:cTn id="70" dur="1" fill="hold">
                                          <p:stCondLst>
                                            <p:cond delay="0"/>
                                          </p:stCondLst>
                                        </p:cTn>
                                        <p:tgtEl>
                                          <p:spTgt spid="8"/>
                                        </p:tgtEl>
                                        <p:attrNameLst>
                                          <p:attrName>style.visibility</p:attrName>
                                        </p:attrNameLst>
                                      </p:cBhvr>
                                      <p:to>
                                        <p:strVal val="visible"/>
                                      </p:to>
                                    </p:set>
                                    <p:animEffect transition="in" filter="fade">
                                      <p:cBhvr>
                                        <p:cTn id="71" dur="1000"/>
                                        <p:tgtEl>
                                          <p:spTgt spid="8"/>
                                        </p:tgtEl>
                                      </p:cBhvr>
                                    </p:animEffect>
                                    <p:anim calcmode="lin" valueType="num">
                                      <p:cBhvr>
                                        <p:cTn id="72" dur="1000" fill="hold"/>
                                        <p:tgtEl>
                                          <p:spTgt spid="8"/>
                                        </p:tgtEl>
                                        <p:attrNameLst>
                                          <p:attrName>ppt_x</p:attrName>
                                        </p:attrNameLst>
                                      </p:cBhvr>
                                      <p:tavLst>
                                        <p:tav tm="0">
                                          <p:val>
                                            <p:strVal val="#ppt_x"/>
                                          </p:val>
                                        </p:tav>
                                        <p:tav tm="100000">
                                          <p:val>
                                            <p:strVal val="#ppt_x"/>
                                          </p:val>
                                        </p:tav>
                                      </p:tavLst>
                                    </p:anim>
                                    <p:anim calcmode="lin" valueType="num">
                                      <p:cBhvr>
                                        <p:cTn id="7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74" fill="hold">
                      <p:stCondLst>
                        <p:cond delay="indefinite"/>
                      </p:stCondLst>
                      <p:childTnLst>
                        <p:par>
                          <p:cTn id="75" fill="hold">
                            <p:stCondLst>
                              <p:cond delay="0"/>
                            </p:stCondLst>
                            <p:childTnLst>
                              <p:par>
                                <p:cTn id="76" presetID="42" presetClass="entr" presetSubtype="0" fill="hold" grpId="0" nodeType="clickEffect">
                                  <p:stCondLst>
                                    <p:cond delay="0"/>
                                  </p:stCondLst>
                                  <p:childTnLst>
                                    <p:set>
                                      <p:cBhvr>
                                        <p:cTn id="77" dur="1" fill="hold">
                                          <p:stCondLst>
                                            <p:cond delay="0"/>
                                          </p:stCondLst>
                                        </p:cTn>
                                        <p:tgtEl>
                                          <p:spTgt spid="9"/>
                                        </p:tgtEl>
                                        <p:attrNameLst>
                                          <p:attrName>style.visibility</p:attrName>
                                        </p:attrNameLst>
                                      </p:cBhvr>
                                      <p:to>
                                        <p:strVal val="visible"/>
                                      </p:to>
                                    </p:set>
                                    <p:animEffect transition="in" filter="fade">
                                      <p:cBhvr>
                                        <p:cTn id="78" dur="1000"/>
                                        <p:tgtEl>
                                          <p:spTgt spid="9"/>
                                        </p:tgtEl>
                                      </p:cBhvr>
                                    </p:animEffect>
                                    <p:anim calcmode="lin" valueType="num">
                                      <p:cBhvr>
                                        <p:cTn id="79" dur="1000" fill="hold"/>
                                        <p:tgtEl>
                                          <p:spTgt spid="9"/>
                                        </p:tgtEl>
                                        <p:attrNameLst>
                                          <p:attrName>ppt_x</p:attrName>
                                        </p:attrNameLst>
                                      </p:cBhvr>
                                      <p:tavLst>
                                        <p:tav tm="0">
                                          <p:val>
                                            <p:strVal val="#ppt_x"/>
                                          </p:val>
                                        </p:tav>
                                        <p:tav tm="100000">
                                          <p:val>
                                            <p:strVal val="#ppt_x"/>
                                          </p:val>
                                        </p:tav>
                                      </p:tavLst>
                                    </p:anim>
                                    <p:anim calcmode="lin" valueType="num">
                                      <p:cBhvr>
                                        <p:cTn id="80"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42" presetClass="entr" presetSubtype="0" fill="hold" grpId="0" nodeType="clickEffect">
                                  <p:stCondLst>
                                    <p:cond delay="0"/>
                                  </p:stCondLst>
                                  <p:childTnLst>
                                    <p:set>
                                      <p:cBhvr>
                                        <p:cTn id="84" dur="1" fill="hold">
                                          <p:stCondLst>
                                            <p:cond delay="0"/>
                                          </p:stCondLst>
                                        </p:cTn>
                                        <p:tgtEl>
                                          <p:spTgt spid="10"/>
                                        </p:tgtEl>
                                        <p:attrNameLst>
                                          <p:attrName>style.visibility</p:attrName>
                                        </p:attrNameLst>
                                      </p:cBhvr>
                                      <p:to>
                                        <p:strVal val="visible"/>
                                      </p:to>
                                    </p:set>
                                    <p:animEffect transition="in" filter="fade">
                                      <p:cBhvr>
                                        <p:cTn id="85" dur="1000"/>
                                        <p:tgtEl>
                                          <p:spTgt spid="10"/>
                                        </p:tgtEl>
                                      </p:cBhvr>
                                    </p:animEffect>
                                    <p:anim calcmode="lin" valueType="num">
                                      <p:cBhvr>
                                        <p:cTn id="86" dur="1000" fill="hold"/>
                                        <p:tgtEl>
                                          <p:spTgt spid="10"/>
                                        </p:tgtEl>
                                        <p:attrNameLst>
                                          <p:attrName>ppt_x</p:attrName>
                                        </p:attrNameLst>
                                      </p:cBhvr>
                                      <p:tavLst>
                                        <p:tav tm="0">
                                          <p:val>
                                            <p:strVal val="#ppt_x"/>
                                          </p:val>
                                        </p:tav>
                                        <p:tav tm="100000">
                                          <p:val>
                                            <p:strVal val="#ppt_x"/>
                                          </p:val>
                                        </p:tav>
                                      </p:tavLst>
                                    </p:anim>
                                    <p:anim calcmode="lin" valueType="num">
                                      <p:cBhvr>
                                        <p:cTn id="87"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4" grpId="0" animBg="1"/>
      <p:bldP spid="6" grpId="0" animBg="1"/>
      <p:bldP spid="7" grpId="0" animBg="1"/>
      <p:bldP spid="8" grpId="0" animBg="1"/>
      <p:bldP spid="9" grpId="0" animBg="1"/>
      <p:bldP spid="10"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Exemple de programme d’entrainement </a:t>
            </a:r>
            <a:endParaRPr lang="fr-FR" dirty="0"/>
          </a:p>
        </p:txBody>
      </p:sp>
      <p:sp>
        <p:nvSpPr>
          <p:cNvPr id="3" name="Espace réservé du texte 2"/>
          <p:cNvSpPr>
            <a:spLocks noGrp="1"/>
          </p:cNvSpPr>
          <p:nvPr>
            <p:ph type="body" idx="1"/>
          </p:nvPr>
        </p:nvSpPr>
        <p:spPr/>
        <p:txBody>
          <a:bodyPr/>
          <a:lstStyle/>
          <a:p>
            <a:endParaRPr lang="fr-FR"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552" y="2708920"/>
            <a:ext cx="7820025" cy="3600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98650477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Amélioration des facteurs de performance.</a:t>
            </a:r>
            <a:endParaRPr lang="fr-FR" dirty="0"/>
          </a:p>
        </p:txBody>
      </p:sp>
      <p:sp>
        <p:nvSpPr>
          <p:cNvPr id="4" name="Rectangle 3"/>
          <p:cNvSpPr/>
          <p:nvPr/>
        </p:nvSpPr>
        <p:spPr>
          <a:xfrm>
            <a:off x="2286000" y="3105835"/>
            <a:ext cx="4572000" cy="369332"/>
          </a:xfrm>
          <a:prstGeom prst="rect">
            <a:avLst/>
          </a:prstGeom>
        </p:spPr>
        <p:txBody>
          <a:bodyPr>
            <a:spAutoFit/>
          </a:bodyPr>
          <a:lstStyle/>
          <a:p>
            <a:r>
              <a:rPr lang="fr-FR" b="1" dirty="0" smtClean="0">
                <a:solidFill>
                  <a:schemeClr val="bg1"/>
                </a:solidFill>
              </a:rPr>
              <a:t>Voir </a:t>
            </a:r>
            <a:r>
              <a:rPr lang="fr-FR" b="1" dirty="0" smtClean="0">
                <a:solidFill>
                  <a:schemeClr val="bg1"/>
                </a:solidFill>
                <a:hlinkClick r:id="rId2" action="ppaction://hlinkpres?slideindex=1&amp;slidetitle="/>
              </a:rPr>
              <a:t>document</a:t>
            </a:r>
            <a:r>
              <a:rPr lang="fr-FR" b="1" dirty="0" smtClean="0">
                <a:solidFill>
                  <a:schemeClr val="bg1"/>
                </a:solidFill>
              </a:rPr>
              <a:t> Valentin</a:t>
            </a:r>
            <a:endParaRPr lang="fr-FR" dirty="0"/>
          </a:p>
        </p:txBody>
      </p:sp>
    </p:spTree>
    <p:extLst>
      <p:ext uri="{BB962C8B-B14F-4D97-AF65-F5344CB8AC3E}">
        <p14:creationId xmlns:p14="http://schemas.microsoft.com/office/powerpoint/2010/main" val="288914607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riangle isocèle 3"/>
          <p:cNvSpPr/>
          <p:nvPr/>
        </p:nvSpPr>
        <p:spPr>
          <a:xfrm>
            <a:off x="2519772" y="762210"/>
            <a:ext cx="5472608" cy="5112568"/>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cxnSp>
        <p:nvCxnSpPr>
          <p:cNvPr id="6" name="Connecteur droit 5"/>
          <p:cNvCxnSpPr/>
          <p:nvPr/>
        </p:nvCxnSpPr>
        <p:spPr>
          <a:xfrm>
            <a:off x="2987824" y="4941168"/>
            <a:ext cx="4608512" cy="0"/>
          </a:xfrm>
          <a:prstGeom prst="line">
            <a:avLst/>
          </a:prstGeom>
          <a:ln/>
        </p:spPr>
        <p:style>
          <a:lnRef idx="3">
            <a:schemeClr val="dk1"/>
          </a:lnRef>
          <a:fillRef idx="0">
            <a:schemeClr val="dk1"/>
          </a:fillRef>
          <a:effectRef idx="2">
            <a:schemeClr val="dk1"/>
          </a:effectRef>
          <a:fontRef idx="minor">
            <a:schemeClr val="tx1"/>
          </a:fontRef>
        </p:style>
      </p:cxnSp>
      <p:sp>
        <p:nvSpPr>
          <p:cNvPr id="7" name="ZoneTexte 6"/>
          <p:cNvSpPr txBox="1"/>
          <p:nvPr/>
        </p:nvSpPr>
        <p:spPr>
          <a:xfrm>
            <a:off x="3022333" y="5219908"/>
            <a:ext cx="4285971" cy="369332"/>
          </a:xfrm>
          <a:prstGeom prst="rect">
            <a:avLst/>
          </a:prstGeom>
          <a:noFill/>
        </p:spPr>
        <p:txBody>
          <a:bodyPr wrap="square" rtlCol="0">
            <a:spAutoFit/>
          </a:bodyPr>
          <a:lstStyle/>
          <a:p>
            <a:pPr algn="ctr"/>
            <a:r>
              <a:rPr lang="fr-FR" dirty="0" smtClean="0"/>
              <a:t>FONCIER</a:t>
            </a:r>
            <a:endParaRPr lang="fr-FR" dirty="0"/>
          </a:p>
        </p:txBody>
      </p:sp>
      <p:sp>
        <p:nvSpPr>
          <p:cNvPr id="8" name="ZoneTexte 7"/>
          <p:cNvSpPr txBox="1"/>
          <p:nvPr/>
        </p:nvSpPr>
        <p:spPr>
          <a:xfrm>
            <a:off x="3174733" y="4365104"/>
            <a:ext cx="4285971" cy="369332"/>
          </a:xfrm>
          <a:prstGeom prst="rect">
            <a:avLst/>
          </a:prstGeom>
          <a:noFill/>
        </p:spPr>
        <p:txBody>
          <a:bodyPr wrap="square" rtlCol="0">
            <a:spAutoFit/>
          </a:bodyPr>
          <a:lstStyle/>
          <a:p>
            <a:pPr algn="ctr"/>
            <a:r>
              <a:rPr lang="fr-FR" dirty="0" smtClean="0"/>
              <a:t>RENFORCEMENT MUSCULAIRE</a:t>
            </a:r>
            <a:endParaRPr lang="fr-FR" dirty="0"/>
          </a:p>
        </p:txBody>
      </p:sp>
      <p:sp>
        <p:nvSpPr>
          <p:cNvPr id="9" name="ZoneTexte 8"/>
          <p:cNvSpPr txBox="1"/>
          <p:nvPr/>
        </p:nvSpPr>
        <p:spPr>
          <a:xfrm>
            <a:off x="3174733" y="3571518"/>
            <a:ext cx="4285971" cy="369332"/>
          </a:xfrm>
          <a:prstGeom prst="rect">
            <a:avLst/>
          </a:prstGeom>
          <a:noFill/>
        </p:spPr>
        <p:txBody>
          <a:bodyPr wrap="square" rtlCol="0">
            <a:spAutoFit/>
          </a:bodyPr>
          <a:lstStyle/>
          <a:p>
            <a:pPr algn="ctr"/>
            <a:r>
              <a:rPr lang="fr-FR" dirty="0" smtClean="0"/>
              <a:t>HYPERCAPNIE</a:t>
            </a:r>
            <a:endParaRPr lang="fr-FR" dirty="0"/>
          </a:p>
        </p:txBody>
      </p:sp>
      <p:sp>
        <p:nvSpPr>
          <p:cNvPr id="10" name="ZoneTexte 9"/>
          <p:cNvSpPr txBox="1"/>
          <p:nvPr/>
        </p:nvSpPr>
        <p:spPr>
          <a:xfrm>
            <a:off x="3174732" y="2561805"/>
            <a:ext cx="4285971" cy="369332"/>
          </a:xfrm>
          <a:prstGeom prst="rect">
            <a:avLst/>
          </a:prstGeom>
          <a:noFill/>
        </p:spPr>
        <p:txBody>
          <a:bodyPr wrap="square" rtlCol="0">
            <a:spAutoFit/>
          </a:bodyPr>
          <a:lstStyle/>
          <a:p>
            <a:pPr algn="ctr"/>
            <a:r>
              <a:rPr lang="fr-FR" dirty="0" smtClean="0"/>
              <a:t>HYPOXIE</a:t>
            </a:r>
            <a:endParaRPr lang="fr-FR" dirty="0"/>
          </a:p>
        </p:txBody>
      </p:sp>
      <p:cxnSp>
        <p:nvCxnSpPr>
          <p:cNvPr id="11" name="Connecteur droit 10"/>
          <p:cNvCxnSpPr>
            <a:stCxn id="4" idx="1"/>
            <a:endCxn id="4" idx="5"/>
          </p:cNvCxnSpPr>
          <p:nvPr/>
        </p:nvCxnSpPr>
        <p:spPr>
          <a:xfrm>
            <a:off x="3887924" y="3318494"/>
            <a:ext cx="2736304" cy="0"/>
          </a:xfrm>
          <a:prstGeom prst="line">
            <a:avLst/>
          </a:prstGeom>
          <a:ln/>
        </p:spPr>
        <p:style>
          <a:lnRef idx="3">
            <a:schemeClr val="dk1"/>
          </a:lnRef>
          <a:fillRef idx="0">
            <a:schemeClr val="dk1"/>
          </a:fillRef>
          <a:effectRef idx="2">
            <a:schemeClr val="dk1"/>
          </a:effectRef>
          <a:fontRef idx="minor">
            <a:schemeClr val="tx1"/>
          </a:fontRef>
        </p:style>
      </p:cxnSp>
      <p:cxnSp>
        <p:nvCxnSpPr>
          <p:cNvPr id="12" name="Connecteur droit 11"/>
          <p:cNvCxnSpPr/>
          <p:nvPr/>
        </p:nvCxnSpPr>
        <p:spPr>
          <a:xfrm flipV="1">
            <a:off x="3347864" y="4230380"/>
            <a:ext cx="3744416" cy="28404"/>
          </a:xfrm>
          <a:prstGeom prst="line">
            <a:avLst/>
          </a:prstGeom>
          <a:ln/>
        </p:spPr>
        <p:style>
          <a:lnRef idx="3">
            <a:schemeClr val="dk1"/>
          </a:lnRef>
          <a:fillRef idx="0">
            <a:schemeClr val="dk1"/>
          </a:fillRef>
          <a:effectRef idx="2">
            <a:schemeClr val="dk1"/>
          </a:effectRef>
          <a:fontRef idx="minor">
            <a:schemeClr val="tx1"/>
          </a:fontRef>
        </p:style>
      </p:cxnSp>
      <p:cxnSp>
        <p:nvCxnSpPr>
          <p:cNvPr id="18" name="Connecteur droit 17"/>
          <p:cNvCxnSpPr/>
          <p:nvPr/>
        </p:nvCxnSpPr>
        <p:spPr>
          <a:xfrm>
            <a:off x="4499992" y="2204864"/>
            <a:ext cx="1512168" cy="0"/>
          </a:xfrm>
          <a:prstGeom prst="line">
            <a:avLst/>
          </a:prstGeom>
          <a:ln/>
        </p:spPr>
        <p:style>
          <a:lnRef idx="3">
            <a:schemeClr val="dk1"/>
          </a:lnRef>
          <a:fillRef idx="0">
            <a:schemeClr val="dk1"/>
          </a:fillRef>
          <a:effectRef idx="2">
            <a:schemeClr val="dk1"/>
          </a:effectRef>
          <a:fontRef idx="minor">
            <a:schemeClr val="tx1"/>
          </a:fontRef>
        </p:style>
      </p:cxnSp>
      <p:sp>
        <p:nvSpPr>
          <p:cNvPr id="21" name="ZoneTexte 20"/>
          <p:cNvSpPr txBox="1"/>
          <p:nvPr/>
        </p:nvSpPr>
        <p:spPr>
          <a:xfrm>
            <a:off x="3077086" y="1499900"/>
            <a:ext cx="4285971" cy="369332"/>
          </a:xfrm>
          <a:prstGeom prst="rect">
            <a:avLst/>
          </a:prstGeom>
          <a:noFill/>
        </p:spPr>
        <p:txBody>
          <a:bodyPr wrap="square" rtlCol="0">
            <a:spAutoFit/>
          </a:bodyPr>
          <a:lstStyle/>
          <a:p>
            <a:pPr algn="ctr"/>
            <a:r>
              <a:rPr lang="fr-FR" dirty="0" smtClean="0"/>
              <a:t>PERF</a:t>
            </a:r>
            <a:endParaRPr lang="fr-FR" dirty="0"/>
          </a:p>
        </p:txBody>
      </p:sp>
      <p:sp>
        <p:nvSpPr>
          <p:cNvPr id="2" name="Accolade ouvrante 1"/>
          <p:cNvSpPr/>
          <p:nvPr/>
        </p:nvSpPr>
        <p:spPr>
          <a:xfrm>
            <a:off x="2195736" y="4941168"/>
            <a:ext cx="360040" cy="864096"/>
          </a:xfrm>
          <a:prstGeom prst="leftBrace">
            <a:avLst/>
          </a:prstGeom>
          <a:ln/>
        </p:spPr>
        <p:style>
          <a:lnRef idx="3">
            <a:schemeClr val="dk1"/>
          </a:lnRef>
          <a:fillRef idx="0">
            <a:schemeClr val="dk1"/>
          </a:fillRef>
          <a:effectRef idx="2">
            <a:schemeClr val="dk1"/>
          </a:effectRef>
          <a:fontRef idx="minor">
            <a:schemeClr val="tx1"/>
          </a:fontRef>
        </p:style>
        <p:txBody>
          <a:bodyPr rtlCol="0" anchor="ctr"/>
          <a:lstStyle/>
          <a:p>
            <a:pPr algn="ctr"/>
            <a:endParaRPr lang="fr-FR"/>
          </a:p>
        </p:txBody>
      </p:sp>
      <p:sp>
        <p:nvSpPr>
          <p:cNvPr id="3" name="ZoneTexte 2"/>
          <p:cNvSpPr txBox="1"/>
          <p:nvPr/>
        </p:nvSpPr>
        <p:spPr>
          <a:xfrm>
            <a:off x="611560" y="4974288"/>
            <a:ext cx="1440160" cy="1200329"/>
          </a:xfrm>
          <a:prstGeom prst="rect">
            <a:avLst/>
          </a:prstGeom>
          <a:noFill/>
        </p:spPr>
        <p:txBody>
          <a:bodyPr wrap="square" rtlCol="0">
            <a:spAutoFit/>
          </a:bodyPr>
          <a:lstStyle/>
          <a:p>
            <a:r>
              <a:rPr lang="fr-FR" dirty="0" smtClean="0">
                <a:solidFill>
                  <a:schemeClr val="bg1"/>
                </a:solidFill>
              </a:rPr>
              <a:t>Volume et intensité  </a:t>
            </a:r>
            <a:r>
              <a:rPr lang="fr-FR" dirty="0">
                <a:solidFill>
                  <a:schemeClr val="bg1"/>
                </a:solidFill>
              </a:rPr>
              <a:t>++++</a:t>
            </a:r>
          </a:p>
          <a:p>
            <a:r>
              <a:rPr lang="fr-FR" dirty="0" smtClean="0">
                <a:solidFill>
                  <a:schemeClr val="bg1"/>
                </a:solidFill>
              </a:rPr>
              <a:t>temps </a:t>
            </a:r>
            <a:endParaRPr lang="fr-FR" dirty="0">
              <a:solidFill>
                <a:schemeClr val="bg1"/>
              </a:solidFill>
            </a:endParaRPr>
          </a:p>
        </p:txBody>
      </p:sp>
      <p:sp>
        <p:nvSpPr>
          <p:cNvPr id="19" name="Accolade ouvrante 18"/>
          <p:cNvSpPr/>
          <p:nvPr/>
        </p:nvSpPr>
        <p:spPr>
          <a:xfrm>
            <a:off x="3174733" y="2348879"/>
            <a:ext cx="360040" cy="1136255"/>
          </a:xfrm>
          <a:prstGeom prst="leftBrace">
            <a:avLst>
              <a:gd name="adj1" fmla="val 0"/>
              <a:gd name="adj2" fmla="val 50000"/>
            </a:avLst>
          </a:prstGeom>
          <a:ln/>
        </p:spPr>
        <p:style>
          <a:lnRef idx="3">
            <a:schemeClr val="dk1"/>
          </a:lnRef>
          <a:fillRef idx="0">
            <a:schemeClr val="dk1"/>
          </a:fillRef>
          <a:effectRef idx="2">
            <a:schemeClr val="dk1"/>
          </a:effectRef>
          <a:fontRef idx="minor">
            <a:schemeClr val="tx1"/>
          </a:fontRef>
        </p:style>
        <p:txBody>
          <a:bodyPr rtlCol="0" anchor="ctr"/>
          <a:lstStyle/>
          <a:p>
            <a:pPr algn="ctr"/>
            <a:endParaRPr lang="fr-FR"/>
          </a:p>
        </p:txBody>
      </p:sp>
      <p:sp>
        <p:nvSpPr>
          <p:cNvPr id="24" name="Rectangle 23"/>
          <p:cNvSpPr/>
          <p:nvPr/>
        </p:nvSpPr>
        <p:spPr>
          <a:xfrm>
            <a:off x="1872899" y="2313788"/>
            <a:ext cx="1403205" cy="923330"/>
          </a:xfrm>
          <a:prstGeom prst="rect">
            <a:avLst/>
          </a:prstGeom>
        </p:spPr>
        <p:txBody>
          <a:bodyPr wrap="none">
            <a:spAutoFit/>
          </a:bodyPr>
          <a:lstStyle/>
          <a:p>
            <a:r>
              <a:rPr lang="fr-FR" dirty="0">
                <a:solidFill>
                  <a:schemeClr val="bg1"/>
                </a:solidFill>
              </a:rPr>
              <a:t>Volume et </a:t>
            </a:r>
            <a:endParaRPr lang="fr-FR" dirty="0" smtClean="0">
              <a:solidFill>
                <a:schemeClr val="bg1"/>
              </a:solidFill>
            </a:endParaRPr>
          </a:p>
          <a:p>
            <a:r>
              <a:rPr lang="fr-FR" dirty="0" smtClean="0">
                <a:solidFill>
                  <a:schemeClr val="bg1"/>
                </a:solidFill>
              </a:rPr>
              <a:t>intensité  --</a:t>
            </a:r>
          </a:p>
          <a:p>
            <a:r>
              <a:rPr lang="fr-FR" dirty="0" smtClean="0">
                <a:solidFill>
                  <a:schemeClr val="bg1"/>
                </a:solidFill>
              </a:rPr>
              <a:t>et </a:t>
            </a:r>
            <a:r>
              <a:rPr lang="fr-FR" dirty="0">
                <a:solidFill>
                  <a:schemeClr val="bg1"/>
                </a:solidFill>
              </a:rPr>
              <a:t>temps </a:t>
            </a:r>
            <a:r>
              <a:rPr lang="fr-FR" dirty="0" smtClean="0">
                <a:solidFill>
                  <a:schemeClr val="bg1"/>
                </a:solidFill>
              </a:rPr>
              <a:t> ++</a:t>
            </a:r>
            <a:endParaRPr lang="fr-FR" dirty="0">
              <a:solidFill>
                <a:schemeClr val="bg1"/>
              </a:solidFill>
            </a:endParaRPr>
          </a:p>
        </p:txBody>
      </p:sp>
      <p:sp>
        <p:nvSpPr>
          <p:cNvPr id="25" name="Accolade ouvrante 24"/>
          <p:cNvSpPr/>
          <p:nvPr/>
        </p:nvSpPr>
        <p:spPr>
          <a:xfrm>
            <a:off x="2555776" y="4117722"/>
            <a:ext cx="360040" cy="864096"/>
          </a:xfrm>
          <a:prstGeom prst="leftBrace">
            <a:avLst/>
          </a:prstGeom>
          <a:ln/>
        </p:spPr>
        <p:style>
          <a:lnRef idx="3">
            <a:schemeClr val="dk1"/>
          </a:lnRef>
          <a:fillRef idx="0">
            <a:schemeClr val="dk1"/>
          </a:fillRef>
          <a:effectRef idx="2">
            <a:schemeClr val="dk1"/>
          </a:effectRef>
          <a:fontRef idx="minor">
            <a:schemeClr val="tx1"/>
          </a:fontRef>
        </p:style>
        <p:txBody>
          <a:bodyPr rtlCol="0" anchor="ctr"/>
          <a:lstStyle/>
          <a:p>
            <a:pPr algn="ctr"/>
            <a:endParaRPr lang="fr-FR"/>
          </a:p>
        </p:txBody>
      </p:sp>
      <p:sp>
        <p:nvSpPr>
          <p:cNvPr id="26" name="Accolade ouvrante 25"/>
          <p:cNvSpPr/>
          <p:nvPr/>
        </p:nvSpPr>
        <p:spPr>
          <a:xfrm>
            <a:off x="2938541" y="3414276"/>
            <a:ext cx="360040" cy="864096"/>
          </a:xfrm>
          <a:prstGeom prst="leftBrace">
            <a:avLst/>
          </a:prstGeom>
          <a:ln/>
        </p:spPr>
        <p:style>
          <a:lnRef idx="3">
            <a:schemeClr val="dk1"/>
          </a:lnRef>
          <a:fillRef idx="0">
            <a:schemeClr val="dk1"/>
          </a:fillRef>
          <a:effectRef idx="2">
            <a:schemeClr val="dk1"/>
          </a:effectRef>
          <a:fontRef idx="minor">
            <a:schemeClr val="tx1"/>
          </a:fontRef>
        </p:style>
        <p:txBody>
          <a:bodyPr rtlCol="0" anchor="ctr"/>
          <a:lstStyle/>
          <a:p>
            <a:pPr algn="ctr"/>
            <a:endParaRPr lang="fr-FR"/>
          </a:p>
        </p:txBody>
      </p:sp>
      <p:sp>
        <p:nvSpPr>
          <p:cNvPr id="29" name="ZoneTexte 28"/>
          <p:cNvSpPr txBox="1"/>
          <p:nvPr/>
        </p:nvSpPr>
        <p:spPr>
          <a:xfrm>
            <a:off x="1154904" y="4087194"/>
            <a:ext cx="1224136" cy="923330"/>
          </a:xfrm>
          <a:prstGeom prst="rect">
            <a:avLst/>
          </a:prstGeom>
          <a:noFill/>
        </p:spPr>
        <p:txBody>
          <a:bodyPr wrap="square" rtlCol="0">
            <a:spAutoFit/>
          </a:bodyPr>
          <a:lstStyle/>
          <a:p>
            <a:r>
              <a:rPr lang="fr-FR" dirty="0" smtClean="0">
                <a:solidFill>
                  <a:schemeClr val="bg1"/>
                </a:solidFill>
              </a:rPr>
              <a:t>Volume et intensité  ++++</a:t>
            </a:r>
            <a:endParaRPr lang="fr-FR" dirty="0">
              <a:solidFill>
                <a:schemeClr val="bg1"/>
              </a:solidFill>
            </a:endParaRPr>
          </a:p>
        </p:txBody>
      </p:sp>
      <p:sp>
        <p:nvSpPr>
          <p:cNvPr id="30" name="ZoneTexte 29"/>
          <p:cNvSpPr txBox="1"/>
          <p:nvPr/>
        </p:nvSpPr>
        <p:spPr>
          <a:xfrm>
            <a:off x="611560" y="3194392"/>
            <a:ext cx="1584176" cy="923330"/>
          </a:xfrm>
          <a:prstGeom prst="rect">
            <a:avLst/>
          </a:prstGeom>
          <a:noFill/>
        </p:spPr>
        <p:txBody>
          <a:bodyPr wrap="square" rtlCol="0">
            <a:spAutoFit/>
          </a:bodyPr>
          <a:lstStyle/>
          <a:p>
            <a:r>
              <a:rPr lang="fr-FR" dirty="0" smtClean="0">
                <a:solidFill>
                  <a:schemeClr val="bg1"/>
                </a:solidFill>
              </a:rPr>
              <a:t>Volume et intensité  +++ temps  ----</a:t>
            </a:r>
            <a:endParaRPr lang="fr-FR" dirty="0">
              <a:solidFill>
                <a:schemeClr val="bg1"/>
              </a:solidFill>
            </a:endParaRPr>
          </a:p>
        </p:txBody>
      </p:sp>
    </p:spTree>
    <p:extLst>
      <p:ext uri="{BB962C8B-B14F-4D97-AF65-F5344CB8AC3E}">
        <p14:creationId xmlns:p14="http://schemas.microsoft.com/office/powerpoint/2010/main" val="4656556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arn(inVertical)">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barn(inVertical)">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barn(inVertical)">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barn(inVertical)">
                                      <p:cBhvr>
                                        <p:cTn id="27" dur="50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grpId="0" nodeType="clickEffect">
                                  <p:stCondLst>
                                    <p:cond delay="0"/>
                                  </p:stCondLst>
                                  <p:childTnLst>
                                    <p:set>
                                      <p:cBhvr>
                                        <p:cTn id="31" dur="1" fill="hold">
                                          <p:stCondLst>
                                            <p:cond delay="0"/>
                                          </p:stCondLst>
                                        </p:cTn>
                                        <p:tgtEl>
                                          <p:spTgt spid="21"/>
                                        </p:tgtEl>
                                        <p:attrNameLst>
                                          <p:attrName>style.visibility</p:attrName>
                                        </p:attrNameLst>
                                      </p:cBhvr>
                                      <p:to>
                                        <p:strVal val="visible"/>
                                      </p:to>
                                    </p:set>
                                    <p:animEffect transition="in" filter="barn(inVertical)">
                                      <p:cBhvr>
                                        <p:cTn id="32" dur="500"/>
                                        <p:tgtEl>
                                          <p:spTgt spid="21"/>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1" fill="hold" nodeType="clickEffect">
                                  <p:stCondLst>
                                    <p:cond delay="0"/>
                                  </p:stCondLst>
                                  <p:childTnLst>
                                    <p:set>
                                      <p:cBhvr>
                                        <p:cTn id="36" dur="1" fill="hold">
                                          <p:stCondLst>
                                            <p:cond delay="0"/>
                                          </p:stCondLst>
                                        </p:cTn>
                                        <p:tgtEl>
                                          <p:spTgt spid="6"/>
                                        </p:tgtEl>
                                        <p:attrNameLst>
                                          <p:attrName>style.visibility</p:attrName>
                                        </p:attrNameLst>
                                      </p:cBhvr>
                                      <p:to>
                                        <p:strVal val="visible"/>
                                      </p:to>
                                    </p:set>
                                    <p:animEffect transition="in" filter="barn(inVertical)">
                                      <p:cBhvr>
                                        <p:cTn id="37" dur="500"/>
                                        <p:tgtEl>
                                          <p:spTgt spid="6"/>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nodeType="click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wipe(down)">
                                      <p:cBhvr>
                                        <p:cTn id="42" dur="500"/>
                                        <p:tgtEl>
                                          <p:spTgt spid="12"/>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nodeType="clickEffect">
                                  <p:stCondLst>
                                    <p:cond delay="0"/>
                                  </p:stCondLst>
                                  <p:childTnLst>
                                    <p:set>
                                      <p:cBhvr>
                                        <p:cTn id="46" dur="1" fill="hold">
                                          <p:stCondLst>
                                            <p:cond delay="0"/>
                                          </p:stCondLst>
                                        </p:cTn>
                                        <p:tgtEl>
                                          <p:spTgt spid="11"/>
                                        </p:tgtEl>
                                        <p:attrNameLst>
                                          <p:attrName>style.visibility</p:attrName>
                                        </p:attrNameLst>
                                      </p:cBhvr>
                                      <p:to>
                                        <p:strVal val="visible"/>
                                      </p:to>
                                    </p:set>
                                    <p:animEffect transition="in" filter="wipe(down)">
                                      <p:cBhvr>
                                        <p:cTn id="47" dur="500"/>
                                        <p:tgtEl>
                                          <p:spTgt spid="11"/>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nodeType="click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wipe(down)">
                                      <p:cBhvr>
                                        <p:cTn id="52"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p:bldP spid="8" grpId="0"/>
      <p:bldP spid="9" grpId="0"/>
      <p:bldP spid="10" grpId="0"/>
      <p:bldP spid="21" grpId="0"/>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ébit">
  <a:themeElements>
    <a:clrScheme name="Débit">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Débit">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Débit">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scene3d>
            <a:camera prst="orthographicFront">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839</TotalTime>
  <Words>793</Words>
  <Application>Microsoft Office PowerPoint</Application>
  <PresentationFormat>Affichage à l'écran (4:3)</PresentationFormat>
  <Paragraphs>97</Paragraphs>
  <Slides>21</Slides>
  <Notes>0</Notes>
  <HiddenSlides>0</HiddenSlides>
  <MMClips>0</MMClips>
  <ScaleCrop>false</ScaleCrop>
  <HeadingPairs>
    <vt:vector size="4" baseType="variant">
      <vt:variant>
        <vt:lpstr>Thème</vt:lpstr>
      </vt:variant>
      <vt:variant>
        <vt:i4>1</vt:i4>
      </vt:variant>
      <vt:variant>
        <vt:lpstr>Titres des diapositives</vt:lpstr>
      </vt:variant>
      <vt:variant>
        <vt:i4>21</vt:i4>
      </vt:variant>
    </vt:vector>
  </HeadingPairs>
  <TitlesOfParts>
    <vt:vector size="22" baseType="lpstr">
      <vt:lpstr>Débit</vt:lpstr>
      <vt:lpstr>  Paramètres de la Performance Construction d'un Entraînement </vt:lpstr>
      <vt:lpstr>Plan de notre présentation</vt:lpstr>
      <vt:lpstr> I Les facteurs de la performance</vt:lpstr>
      <vt:lpstr>Plusieurs disciplines</vt:lpstr>
      <vt:lpstr>Plusieurs disciplines</vt:lpstr>
      <vt:lpstr>Immersion libre</vt:lpstr>
      <vt:lpstr>Poids constant</vt:lpstr>
      <vt:lpstr>Poids variable</vt:lpstr>
      <vt:lpstr>Le No limit</vt:lpstr>
      <vt:lpstr>Exemple 1</vt:lpstr>
      <vt:lpstr>Exemple 2 </vt:lpstr>
      <vt:lpstr>L’entrainement</vt:lpstr>
      <vt:lpstr>A1-PRINCIPES GENERAUX DE LA PROGRESSION EN APNEE (A faire) fonctionnement de l'entrainement d'une manière générale, cycles etc... </vt:lpstr>
      <vt:lpstr> 1 - La répétitivité</vt:lpstr>
      <vt:lpstr>2 – La progressivité </vt:lpstr>
      <vt:lpstr>3  La variabilité</vt:lpstr>
      <vt:lpstr>4- La connaissance du résultat</vt:lpstr>
      <vt:lpstr>A 2 les cycles d’entrainement... </vt:lpstr>
      <vt:lpstr>Exemple de programme d’entrainement </vt:lpstr>
      <vt:lpstr>Amélioration des facteurs de performance.</vt:lpstr>
      <vt:lpstr>Présentation PowerPoint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Paramètres de la Performance Construction d'un Entraînement</dc:title>
  <dc:creator>Utilisateur Windows</dc:creator>
  <cp:lastModifiedBy>Utilisateur Windows</cp:lastModifiedBy>
  <cp:revision>42</cp:revision>
  <dcterms:created xsi:type="dcterms:W3CDTF">2017-03-04T02:03:23Z</dcterms:created>
  <dcterms:modified xsi:type="dcterms:W3CDTF">2017-03-21T00:17:22Z</dcterms:modified>
</cp:coreProperties>
</file>