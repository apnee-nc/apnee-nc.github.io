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98" r:id="rId2"/>
    <p:sldId id="256" r:id="rId3"/>
    <p:sldId id="258" r:id="rId4"/>
    <p:sldId id="265" r:id="rId5"/>
    <p:sldId id="257" r:id="rId6"/>
    <p:sldId id="259" r:id="rId7"/>
    <p:sldId id="260" r:id="rId8"/>
    <p:sldId id="262" r:id="rId9"/>
    <p:sldId id="264" r:id="rId10"/>
    <p:sldId id="263" r:id="rId11"/>
    <p:sldId id="261" r:id="rId12"/>
    <p:sldId id="266" r:id="rId13"/>
    <p:sldId id="268" r:id="rId14"/>
    <p:sldId id="269" r:id="rId15"/>
    <p:sldId id="267" r:id="rId16"/>
    <p:sldId id="271" r:id="rId17"/>
    <p:sldId id="270" r:id="rId18"/>
    <p:sldId id="272" r:id="rId19"/>
    <p:sldId id="274" r:id="rId20"/>
    <p:sldId id="273" r:id="rId21"/>
    <p:sldId id="275" r:id="rId22"/>
    <p:sldId id="276" r:id="rId23"/>
    <p:sldId id="277" r:id="rId24"/>
    <p:sldId id="278" r:id="rId25"/>
    <p:sldId id="279" r:id="rId26"/>
    <p:sldId id="280" r:id="rId27"/>
    <p:sldId id="281" r:id="rId28"/>
    <p:sldId id="286" r:id="rId29"/>
    <p:sldId id="282" r:id="rId30"/>
    <p:sldId id="283" r:id="rId31"/>
    <p:sldId id="284" r:id="rId32"/>
    <p:sldId id="285" r:id="rId33"/>
    <p:sldId id="287" r:id="rId34"/>
    <p:sldId id="289" r:id="rId35"/>
    <p:sldId id="288" r:id="rId36"/>
    <p:sldId id="290" r:id="rId37"/>
    <p:sldId id="291" r:id="rId38"/>
    <p:sldId id="292" r:id="rId39"/>
    <p:sldId id="293" r:id="rId40"/>
    <p:sldId id="294" r:id="rId41"/>
    <p:sldId id="295" r:id="rId42"/>
    <p:sldId id="296" r:id="rId43"/>
    <p:sldId id="297"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9AFFC-5E98-8E40-B028-1377D990C3E4}" type="datetimeFigureOut">
              <a:rPr lang="fr-FR" smtClean="0"/>
              <a:t>04/04/2014</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6A43D-6E6C-E54C-AE1E-D6AE44A59FD8}" type="slidenum">
              <a:rPr lang="fr-FR" smtClean="0"/>
              <a:t>‹N°›</a:t>
            </a:fld>
            <a:endParaRPr lang="fr-FR"/>
          </a:p>
        </p:txBody>
      </p:sp>
    </p:spTree>
    <p:extLst>
      <p:ext uri="{BB962C8B-B14F-4D97-AF65-F5344CB8AC3E}">
        <p14:creationId xmlns:p14="http://schemas.microsoft.com/office/powerpoint/2010/main" val="1231192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a:t>
            </a:fld>
            <a:endParaRPr lang="fr-FR"/>
          </a:p>
        </p:txBody>
      </p:sp>
    </p:spTree>
    <p:extLst>
      <p:ext uri="{BB962C8B-B14F-4D97-AF65-F5344CB8AC3E}">
        <p14:creationId xmlns:p14="http://schemas.microsoft.com/office/powerpoint/2010/main" val="1612270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a:t>
            </a:fld>
            <a:endParaRPr lang="fr-FR"/>
          </a:p>
        </p:txBody>
      </p:sp>
    </p:spTree>
    <p:extLst>
      <p:ext uri="{BB962C8B-B14F-4D97-AF65-F5344CB8AC3E}">
        <p14:creationId xmlns:p14="http://schemas.microsoft.com/office/powerpoint/2010/main" val="1622597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a:t>
            </a:fld>
            <a:endParaRPr lang="fr-FR"/>
          </a:p>
        </p:txBody>
      </p:sp>
    </p:spTree>
    <p:extLst>
      <p:ext uri="{BB962C8B-B14F-4D97-AF65-F5344CB8AC3E}">
        <p14:creationId xmlns:p14="http://schemas.microsoft.com/office/powerpoint/2010/main" val="278722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4</a:t>
            </a:fld>
            <a:endParaRPr lang="fr-FR"/>
          </a:p>
        </p:txBody>
      </p:sp>
    </p:spTree>
    <p:extLst>
      <p:ext uri="{BB962C8B-B14F-4D97-AF65-F5344CB8AC3E}">
        <p14:creationId xmlns:p14="http://schemas.microsoft.com/office/powerpoint/2010/main" val="107734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Un</a:t>
            </a:r>
            <a:r>
              <a:rPr lang="fr-FR" baseline="0" dirty="0" smtClean="0"/>
              <a:t> club est une association regroupant des membres partageant des intérêts communs.</a:t>
            </a:r>
          </a:p>
          <a:p>
            <a:endParaRPr lang="fr-FR" baseline="0" dirty="0" smtClean="0"/>
          </a:p>
          <a:p>
            <a:r>
              <a:rPr lang="fr-FR" baseline="0" dirty="0" smtClean="0"/>
              <a:t>Un club d'apnée est une association favorisant la pratique de l'apnée.</a:t>
            </a:r>
          </a:p>
          <a:p>
            <a:endParaRPr lang="fr-FR" baseline="0" dirty="0" smtClean="0"/>
          </a:p>
          <a:p>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5</a:t>
            </a:fld>
            <a:endParaRPr lang="fr-FR"/>
          </a:p>
        </p:txBody>
      </p:sp>
    </p:spTree>
    <p:extLst>
      <p:ext uri="{BB962C8B-B14F-4D97-AF65-F5344CB8AC3E}">
        <p14:creationId xmlns:p14="http://schemas.microsoft.com/office/powerpoint/2010/main" val="1070575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6</a:t>
            </a:fld>
            <a:endParaRPr lang="fr-FR"/>
          </a:p>
        </p:txBody>
      </p:sp>
    </p:spTree>
    <p:extLst>
      <p:ext uri="{BB962C8B-B14F-4D97-AF65-F5344CB8AC3E}">
        <p14:creationId xmlns:p14="http://schemas.microsoft.com/office/powerpoint/2010/main" val="160002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7</a:t>
            </a:fld>
            <a:endParaRPr lang="fr-FR"/>
          </a:p>
        </p:txBody>
      </p:sp>
    </p:spTree>
    <p:extLst>
      <p:ext uri="{BB962C8B-B14F-4D97-AF65-F5344CB8AC3E}">
        <p14:creationId xmlns:p14="http://schemas.microsoft.com/office/powerpoint/2010/main" val="1869470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kern="1200" dirty="0" smtClean="0">
                <a:solidFill>
                  <a:schemeClr val="tx1"/>
                </a:solidFill>
                <a:latin typeface="+mn-lt"/>
                <a:ea typeface="+mn-ea"/>
                <a:cs typeface="+mn-cs"/>
              </a:rPr>
              <a:t>L'</a:t>
            </a:r>
            <a:r>
              <a:rPr lang="fr-FR" sz="1200" b="1" kern="1200" dirty="0" smtClean="0">
                <a:solidFill>
                  <a:schemeClr val="tx1"/>
                </a:solidFill>
                <a:latin typeface="+mn-lt"/>
                <a:ea typeface="+mn-ea"/>
                <a:cs typeface="+mn-cs"/>
              </a:rPr>
              <a:t>agrément</a:t>
            </a:r>
            <a:r>
              <a:rPr lang="fr-FR" sz="1200" b="0" kern="1200" dirty="0" smtClean="0">
                <a:solidFill>
                  <a:schemeClr val="tx1"/>
                </a:solidFill>
                <a:latin typeface="+mn-lt"/>
                <a:ea typeface="+mn-ea"/>
                <a:cs typeface="+mn-cs"/>
              </a:rPr>
              <a:t> est la reconnaissance officielle qui émane d'une autorité reconnue, qu'une personne possède la formation et les qualités nécessaires pour recevoir un titre professionnel et qu’elle rencontre les critères spécifiques de compétences associés à la pratique dans son domaine d'expertise.</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8</a:t>
            </a:fld>
            <a:endParaRPr lang="fr-FR"/>
          </a:p>
        </p:txBody>
      </p:sp>
    </p:spTree>
    <p:extLst>
      <p:ext uri="{BB962C8B-B14F-4D97-AF65-F5344CB8AC3E}">
        <p14:creationId xmlns:p14="http://schemas.microsoft.com/office/powerpoint/2010/main" val="620145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L’exploitant d’un établissement d’APS (président de club, gérant d’une société, travailleur indépendant...) est tenu de respecter certaines obligations, notamment de déclarer son activité auprès de la DDJS.</a:t>
            </a:r>
          </a:p>
          <a:p>
            <a:endParaRPr lang="fr-FR" dirty="0" smtClean="0"/>
          </a:p>
          <a:p>
            <a:endParaRPr lang="fr-FR" dirty="0" smtClean="0"/>
          </a:p>
          <a:p>
            <a:r>
              <a:rPr lang="fr-FR" dirty="0" smtClean="0"/>
              <a:t>Qu'est-ce qu'un établissement d'APS ?</a:t>
            </a:r>
          </a:p>
          <a:p>
            <a:endParaRPr lang="fr-FR" dirty="0" smtClean="0"/>
          </a:p>
          <a:p>
            <a:r>
              <a:rPr lang="fr-FR" dirty="0" smtClean="0"/>
              <a:t>Par établissement d’APS, on désigne toute structure, quel que soit son statut juridique, à but lucratif ou non, au sein de laquelle sont pratiquées des activités physiques et sportives. Ainsi, l'établissement d'APS peut être exploité par une personne physique (profession libérale, travailleur indépendant, commerçant) ou une personne morale (association loi 1901, société commerciale, collectivité territoriale).</a:t>
            </a:r>
          </a:p>
          <a:p>
            <a:r>
              <a:rPr lang="fr-FR" dirty="0" smtClean="0"/>
              <a:t>Ses activités peuvent recouvrir les domaines de l'animation, l'encadrement, l'entraînement, l'enseignement, la location ou la mise à disposition de locaux ou de matériels et l'organisation de manifestations. Elles peuvent être saisonnières, discontinues ou permanentes, et se dérouler dans un lieu spécifique (stade, gymnase, salle...) comme en pleine nature (montagne, campagne, plage, mer...), sur la voie publique comme dans le domaine privé. Les termes d'activités physiques ou sportives regroupent toutes les formes de pratique, qu'elles soient compétitives ou de loisirs.</a:t>
            </a:r>
          </a:p>
          <a:p>
            <a:r>
              <a:rPr lang="fr-FR" dirty="0" smtClean="0"/>
              <a:t>L'application de textes propres régissant l'activité (par exemple la réglementation des Affaires maritimes pour les sports nautiques) ne fait pas obstacle à l'application cumulative de la réglementation des établissements APS.</a:t>
            </a:r>
          </a:p>
          <a:p>
            <a:endParaRPr lang="fr-FR" dirty="0" smtClean="0"/>
          </a:p>
          <a:p>
            <a:r>
              <a:rPr lang="fr-FR" dirty="0" smtClean="0"/>
              <a:t>Comment effectuer la déclaration ?</a:t>
            </a:r>
          </a:p>
          <a:p>
            <a:r>
              <a:rPr lang="fr-FR" dirty="0" smtClean="0"/>
              <a:t>En application de l'article R.322-1 du code du sport, toute personne désirant exploiter un établissement d’APS doit en faire la déclaration deux mois avant l'ouverture, auprès du Préfet de département du siège de l'établissement. En pratique, cette déclaration est effectuée auprès de la DDJS sur l’imprimé CERFA n°12698*01 (document </a:t>
            </a:r>
            <a:r>
              <a:rPr lang="fr-FR" dirty="0" err="1" smtClean="0"/>
              <a:t>téléchargeable</a:t>
            </a:r>
            <a:r>
              <a:rPr lang="fr-FR" dirty="0" smtClean="0"/>
              <a:t>).</a:t>
            </a:r>
          </a:p>
          <a:p>
            <a:r>
              <a:rPr lang="fr-FR" dirty="0" smtClean="0"/>
              <a:t>Après examen du dossier et si celui-ci est complet et conforme, l'administration délivre un récépissé de déclaration comportant le numéro d'établissement.</a:t>
            </a:r>
          </a:p>
          <a:p>
            <a:r>
              <a:rPr lang="fr-FR" dirty="0" smtClean="0"/>
              <a:t>Le fait d’exploiter un établissement d’APS sans avoir procédé à sa déclaration constitue une infraction pénale qui expose le contrevenant à une peine d’emprisonnement d’un an et une amende de 15 000 euros (art. L.322-4 du code du sport)</a:t>
            </a:r>
          </a:p>
          <a:p>
            <a:r>
              <a:rPr lang="fr-FR" dirty="0" smtClean="0"/>
              <a:t>Toute modification de l'un des éléments renseignés dans la déclaration initiale doit être notifiée à la DDJS.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9</a:t>
            </a:fld>
            <a:endParaRPr lang="fr-FR"/>
          </a:p>
        </p:txBody>
      </p:sp>
    </p:spTree>
    <p:extLst>
      <p:ext uri="{BB962C8B-B14F-4D97-AF65-F5344CB8AC3E}">
        <p14:creationId xmlns:p14="http://schemas.microsoft.com/office/powerpoint/2010/main" val="155789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Les obligations de l’exploitant d’un établissement d’APS</a:t>
            </a:r>
          </a:p>
          <a:p>
            <a:r>
              <a:rPr lang="fr-FR" dirty="0" smtClean="0"/>
              <a:t>1) L'obligation d'assurance</a:t>
            </a:r>
          </a:p>
          <a:p>
            <a:r>
              <a:rPr lang="fr-FR" dirty="0" smtClean="0"/>
              <a:t>L'assurance doit couvrir la responsabilité civile de l'établissement, de ses préposés, des usagers, des pratiquants et des consommateurs le fréquentant. L’exploitant doit être en mesure de présenter une attestation en cas de contrôle par l’autorité administrative (art. D.321-4 du code du sport).</a:t>
            </a:r>
          </a:p>
          <a:p>
            <a:r>
              <a:rPr lang="fr-FR" dirty="0" smtClean="0"/>
              <a:t>2) L'obligation de se conformer aux règlements sanitaires et aux garanties d'hygiène et de sécurité</a:t>
            </a:r>
          </a:p>
          <a:p>
            <a:r>
              <a:rPr lang="fr-FR" dirty="0" smtClean="0"/>
              <a:t>En application de l’article L. 322.2 du code du sport, les établissements doivent présenter, selon l’activité qu’ils pratiquent, des garanties d'hygiène et de sécurité définies par voie réglementaire. Néanmoins, toutes les disciplines sportives ne font pas l’objet d’un texte particulier ; les règlements figurant dans le code du sport à ce jour concernent :</a:t>
            </a:r>
          </a:p>
          <a:p>
            <a:r>
              <a:rPr lang="fr-FR" dirty="0" smtClean="0"/>
              <a:t>I La nage en eau vive, le canoë, le kayak, du raft ainsi que la navigation à l'aide de toute autre embarcation propulsée à la pagaie (art. A.322.42 et suivants),</a:t>
            </a:r>
          </a:p>
          <a:p>
            <a:r>
              <a:rPr lang="fr-FR" dirty="0" smtClean="0"/>
              <a:t>I La plongée subaquatique (art. A.322-71 et suivants), I La voile (art. A.322-64 et suivants),</a:t>
            </a:r>
          </a:p>
          <a:p>
            <a:r>
              <a:rPr lang="fr-FR" dirty="0" smtClean="0"/>
              <a:t>I Le parachutisme (art. A.322-147 et suivants),</a:t>
            </a:r>
          </a:p>
          <a:p>
            <a:r>
              <a:rPr lang="fr-FR" dirty="0" smtClean="0"/>
              <a:t>I Le judo et l'aïkido (art. A.322-141),</a:t>
            </a:r>
          </a:p>
          <a:p>
            <a:r>
              <a:rPr lang="fr-FR" dirty="0" smtClean="0"/>
              <a:t>I Le tir aux armes de chasse (art. A.322-142 et suivants),</a:t>
            </a:r>
          </a:p>
          <a:p>
            <a:r>
              <a:rPr lang="fr-FR" dirty="0" smtClean="0"/>
              <a:t>I Les sports équestres (art. A.322-116 et suivants),</a:t>
            </a:r>
          </a:p>
          <a:p>
            <a:r>
              <a:rPr lang="fr-FR" dirty="0" smtClean="0"/>
              <a:t>I La natation, les activités aquatiques et les baignades (art. A.322-4 et suivants).</a:t>
            </a:r>
          </a:p>
          <a:p>
            <a:r>
              <a:rPr lang="fr-FR" dirty="0" smtClean="0"/>
              <a:t>3) L'obligation générale de sécurité</a:t>
            </a:r>
          </a:p>
          <a:p>
            <a:r>
              <a:rPr lang="fr-FR" dirty="0" smtClean="0"/>
              <a:t>Dans ce cadre, les exploitants des établissements d'APS doivent veiller à l'entretien régulier des équipements sportifs, à leur conformité à la réglementation relative aux établissements recevant du public (ERP), aux conditions d'utilisation du matériel mis à la disposition des pratiquants et à l'information qu'ils doivent apporter à ces derniers.</a:t>
            </a:r>
          </a:p>
          <a:p>
            <a:r>
              <a:rPr lang="fr-FR" dirty="0" smtClean="0"/>
              <a:t>L'établissement d'APS doit disposer d'une trousse de premiers secours accessible à tous, ainsi que d'un moyen de communication permettant l'intervention rapide des secours.</a:t>
            </a:r>
          </a:p>
          <a:p>
            <a:r>
              <a:rPr lang="fr-FR" dirty="0" smtClean="0"/>
              <a:t>Tout accident grave doit être déclaré au Préfet de département du siège de l'établissement (DDJS).</a:t>
            </a:r>
          </a:p>
          <a:p>
            <a:r>
              <a:rPr lang="fr-FR" dirty="0" smtClean="0"/>
              <a:t>4) L'obligation d'affichage</a:t>
            </a:r>
          </a:p>
          <a:p>
            <a:r>
              <a:rPr lang="fr-FR" dirty="0" smtClean="0"/>
              <a:t>Afin d'informer le public fréquentant l'établissement, de lui permettre de s'assurer de la conformité de celui-ci et de prendre connaissance de l'organisation des secours en cas d'accident, l’exploitant de l’établissement doit afficher en un lieu visible de tous certains documents : attestation d’assurance, diplômes et cartes professionnelles de l’encadrement, adresses et n° de téléphone des secours, arrêté fixant les garanties d’hygiène et de sécurité s’il existe dans la discipline sportive proposée.</a:t>
            </a:r>
          </a:p>
          <a:p>
            <a:r>
              <a:rPr lang="fr-FR" dirty="0" smtClean="0"/>
              <a:t>L’exploitant de l’établissement d’APS signe, dans le dossier qu’il dépose auprès de la DDJS, une déclaration sur l’honneur rappelant les différentes obligations qu’il s’engage à respecter.</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10</a:t>
            </a:fld>
            <a:endParaRPr lang="fr-FR"/>
          </a:p>
        </p:txBody>
      </p:sp>
    </p:spTree>
    <p:extLst>
      <p:ext uri="{BB962C8B-B14F-4D97-AF65-F5344CB8AC3E}">
        <p14:creationId xmlns:p14="http://schemas.microsoft.com/office/powerpoint/2010/main" val="1469262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11</a:t>
            </a:fld>
            <a:endParaRPr lang="fr-FR"/>
          </a:p>
        </p:txBody>
      </p:sp>
    </p:spTree>
    <p:extLst>
      <p:ext uri="{BB962C8B-B14F-4D97-AF65-F5344CB8AC3E}">
        <p14:creationId xmlns:p14="http://schemas.microsoft.com/office/powerpoint/2010/main" val="1569229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12</a:t>
            </a:fld>
            <a:endParaRPr lang="fr-FR"/>
          </a:p>
        </p:txBody>
      </p:sp>
    </p:spTree>
    <p:extLst>
      <p:ext uri="{BB962C8B-B14F-4D97-AF65-F5344CB8AC3E}">
        <p14:creationId xmlns:p14="http://schemas.microsoft.com/office/powerpoint/2010/main" val="10229638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13</a:t>
            </a:fld>
            <a:endParaRPr lang="fr-FR"/>
          </a:p>
        </p:txBody>
      </p:sp>
    </p:spTree>
    <p:extLst>
      <p:ext uri="{BB962C8B-B14F-4D97-AF65-F5344CB8AC3E}">
        <p14:creationId xmlns:p14="http://schemas.microsoft.com/office/powerpoint/2010/main" val="20566651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14</a:t>
            </a:fld>
            <a:endParaRPr lang="fr-FR"/>
          </a:p>
        </p:txBody>
      </p:sp>
    </p:spTree>
    <p:extLst>
      <p:ext uri="{BB962C8B-B14F-4D97-AF65-F5344CB8AC3E}">
        <p14:creationId xmlns:p14="http://schemas.microsoft.com/office/powerpoint/2010/main" val="836802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15</a:t>
            </a:fld>
            <a:endParaRPr lang="fr-FR"/>
          </a:p>
        </p:txBody>
      </p:sp>
    </p:spTree>
    <p:extLst>
      <p:ext uri="{BB962C8B-B14F-4D97-AF65-F5344CB8AC3E}">
        <p14:creationId xmlns:p14="http://schemas.microsoft.com/office/powerpoint/2010/main" val="101323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16</a:t>
            </a:fld>
            <a:endParaRPr lang="fr-FR"/>
          </a:p>
        </p:txBody>
      </p:sp>
    </p:spTree>
    <p:extLst>
      <p:ext uri="{BB962C8B-B14F-4D97-AF65-F5344CB8AC3E}">
        <p14:creationId xmlns:p14="http://schemas.microsoft.com/office/powerpoint/2010/main" val="880492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17</a:t>
            </a:fld>
            <a:endParaRPr lang="fr-FR"/>
          </a:p>
        </p:txBody>
      </p:sp>
    </p:spTree>
    <p:extLst>
      <p:ext uri="{BB962C8B-B14F-4D97-AF65-F5344CB8AC3E}">
        <p14:creationId xmlns:p14="http://schemas.microsoft.com/office/powerpoint/2010/main" val="499429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18</a:t>
            </a:fld>
            <a:endParaRPr lang="fr-FR"/>
          </a:p>
        </p:txBody>
      </p:sp>
    </p:spTree>
    <p:extLst>
      <p:ext uri="{BB962C8B-B14F-4D97-AF65-F5344CB8AC3E}">
        <p14:creationId xmlns:p14="http://schemas.microsoft.com/office/powerpoint/2010/main" val="2965287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19</a:t>
            </a:fld>
            <a:endParaRPr lang="fr-FR"/>
          </a:p>
        </p:txBody>
      </p:sp>
    </p:spTree>
    <p:extLst>
      <p:ext uri="{BB962C8B-B14F-4D97-AF65-F5344CB8AC3E}">
        <p14:creationId xmlns:p14="http://schemas.microsoft.com/office/powerpoint/2010/main" val="914600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kern="1200" dirty="0" smtClean="0">
                <a:solidFill>
                  <a:schemeClr val="tx1"/>
                </a:solidFill>
                <a:latin typeface="+mn-lt"/>
                <a:ea typeface="+mn-ea"/>
                <a:cs typeface="+mn-cs"/>
              </a:rPr>
              <a:t>T5C13	1</a:t>
            </a:r>
            <a:r>
              <a:rPr lang="fr-FR" sz="1200" kern="1200" baseline="30000" dirty="0" smtClean="0">
                <a:solidFill>
                  <a:schemeClr val="tx1"/>
                </a:solidFill>
                <a:latin typeface="+mn-lt"/>
                <a:ea typeface="+mn-ea"/>
                <a:cs typeface="+mn-cs"/>
              </a:rPr>
              <a:t>ère</a:t>
            </a:r>
            <a:r>
              <a:rPr lang="fr-FR" sz="1200" kern="1200" baseline="0" dirty="0" smtClean="0">
                <a:solidFill>
                  <a:schemeClr val="tx1"/>
                </a:solidFill>
                <a:latin typeface="+mn-lt"/>
                <a:ea typeface="+mn-ea"/>
                <a:cs typeface="+mn-cs"/>
              </a:rPr>
              <a:t> STG - Droit	 	Livre	</a:t>
            </a:r>
          </a:p>
          <a:p>
            <a:r>
              <a:rPr lang="fr-FR" sz="1200" kern="1200" baseline="0" dirty="0" smtClean="0">
                <a:solidFill>
                  <a:schemeClr val="tx1"/>
                </a:solidFill>
                <a:latin typeface="+mn-lt"/>
                <a:ea typeface="+mn-ea"/>
                <a:cs typeface="+mn-cs"/>
              </a:rPr>
              <a:t> </a:t>
            </a:r>
          </a:p>
          <a:p>
            <a:r>
              <a:rPr lang="fr-FR" sz="1200" b="1" kern="1200" baseline="0" dirty="0" smtClean="0">
                <a:solidFill>
                  <a:schemeClr val="tx1"/>
                </a:solidFill>
                <a:latin typeface="+mn-lt"/>
                <a:ea typeface="+mn-ea"/>
                <a:cs typeface="+mn-cs"/>
              </a:rPr>
              <a:t>Thème 5 : Quelle est l’origine des droits de la personne ?</a:t>
            </a:r>
            <a:r>
              <a:rPr lang="fr-FR" sz="1200" b="0" kern="1200" baseline="0" dirty="0" smtClean="0">
                <a:solidFill>
                  <a:schemeClr val="tx1"/>
                </a:solidFill>
                <a:latin typeface="+mn-lt"/>
                <a:ea typeface="+mn-ea"/>
                <a:cs typeface="+mn-cs"/>
              </a:rPr>
              <a:t>	</a:t>
            </a:r>
          </a:p>
          <a:p>
            <a:r>
              <a:rPr lang="fr-FR" sz="1200" b="0" kern="1200" baseline="0" dirty="0" smtClean="0">
                <a:solidFill>
                  <a:schemeClr val="tx1"/>
                </a:solidFill>
                <a:latin typeface="+mn-lt"/>
                <a:ea typeface="+mn-ea"/>
                <a:cs typeface="+mn-cs"/>
              </a:rPr>
              <a:t> </a:t>
            </a:r>
          </a:p>
          <a:p>
            <a:r>
              <a:rPr lang="fr-FR" sz="1200" b="1" kern="1200" baseline="0" dirty="0" smtClean="0">
                <a:solidFill>
                  <a:schemeClr val="tx1"/>
                </a:solidFill>
                <a:latin typeface="+mn-lt"/>
                <a:ea typeface="+mn-ea"/>
                <a:cs typeface="+mn-cs"/>
              </a:rPr>
              <a:t>Chapitre 13 : La responsabilité</a:t>
            </a:r>
            <a:r>
              <a:rPr lang="fr-FR" sz="1200" b="0" kern="1200" baseline="0" dirty="0" smtClean="0">
                <a:solidFill>
                  <a:schemeClr val="tx1"/>
                </a:solidFill>
                <a:latin typeface="+mn-lt"/>
                <a:ea typeface="+mn-ea"/>
                <a:cs typeface="+mn-cs"/>
              </a:rPr>
              <a:t>	</a:t>
            </a:r>
          </a:p>
          <a:p>
            <a:r>
              <a:rPr lang="fr-FR" sz="1200" b="0" kern="1200" baseline="0" dirty="0" smtClean="0">
                <a:solidFill>
                  <a:schemeClr val="tx1"/>
                </a:solidFill>
                <a:latin typeface="+mn-lt"/>
                <a:ea typeface="+mn-ea"/>
                <a:cs typeface="+mn-cs"/>
              </a:rPr>
              <a:t> </a:t>
            </a:r>
          </a:p>
          <a:p>
            <a:r>
              <a:rPr lang="fr-FR" sz="1200" b="0" kern="1200" baseline="0" dirty="0" smtClean="0">
                <a:solidFill>
                  <a:schemeClr val="tx1"/>
                </a:solidFill>
                <a:latin typeface="+mn-lt"/>
                <a:ea typeface="+mn-ea"/>
                <a:cs typeface="+mn-cs"/>
              </a:rPr>
              <a:t>La responsabilité légale est l’obligation de répondre de ses actes.</a:t>
            </a:r>
          </a:p>
          <a:p>
            <a:r>
              <a:rPr lang="fr-FR" sz="1200" b="0"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1 – La responsabilité civile</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La responsabilité civile est une responsabilité individuelle, où l’auteur d’un dommage (ou son responsable), est tenu de le réparer, moyennant la remise en état de la chose ou le versement de dommages-intérêts. La responsabilité civile à une fonction de réparation et d’indemnisation.  </a:t>
            </a:r>
          </a:p>
          <a:p>
            <a:r>
              <a:rPr lang="fr-FR" sz="1200" b="0" u="sng"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11 – La responsabilité civile contractuelle</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La responsabilité civile est contractuelle lors de l’inexécution ou de la mauvaise exécution, par les parties, des obligations qui découlent d’un contrat. La responsabilité des parties est limitée aux dommages prévisibles au moment du contrat. Des clauses peuvent toutefois limiter leur responsabilité (ex : limitation du montant des dommages-intérêts, …).</a:t>
            </a:r>
          </a:p>
          <a:p>
            <a:r>
              <a:rPr lang="fr-FR" sz="1200" b="0" u="sng"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12 – La responsabilité civile délictuelle ou quasi-délictuelle</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La responsabilité civile est délictuelle lorsque le préjudice a été causé par un fait volontaire (ex : vous frappez quelqu’un). Elle est quasi-délictuelle lorsque le préjudice a été causé par un fait involontaire (ex : accident de la circulation). La responsabilité civile délictuelle ou quasi-délictuelle est illimitée, sauf dispositions contraires de la loi. </a:t>
            </a:r>
          </a:p>
          <a:p>
            <a:r>
              <a:rPr lang="fr-FR" sz="1200" b="0" u="sng"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13 – La classification des obligations</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L’obligation est un rapport de droit entre personnes (droit personnel), selon lequel une personne (le débiteur) est tenue envers une autre (le créancier) d’une prestation positive ou d’une abstention.</a:t>
            </a:r>
          </a:p>
          <a:p>
            <a:r>
              <a:rPr lang="fr-FR" sz="1200" b="0" u="sng" kern="1200" baseline="0" dirty="0" smtClean="0">
                <a:solidFill>
                  <a:schemeClr val="tx1"/>
                </a:solidFill>
                <a:latin typeface="+mn-lt"/>
                <a:ea typeface="+mn-ea"/>
                <a:cs typeface="+mn-cs"/>
              </a:rPr>
              <a:t> </a:t>
            </a:r>
          </a:p>
          <a:p>
            <a:r>
              <a:rPr lang="fr-FR" sz="1200" b="0" u="sng" kern="1200" baseline="0" dirty="0" smtClean="0">
                <a:solidFill>
                  <a:schemeClr val="tx1"/>
                </a:solidFill>
                <a:latin typeface="+mn-lt"/>
                <a:ea typeface="+mn-ea"/>
                <a:cs typeface="+mn-cs"/>
              </a:rPr>
              <a:t>Les obligations peuvent être contractuelles ou délictuelles.</a:t>
            </a:r>
          </a:p>
          <a:p>
            <a:r>
              <a:rPr lang="fr-FR" sz="1200" b="0" u="sng" kern="1200" baseline="0" dirty="0" smtClean="0">
                <a:solidFill>
                  <a:schemeClr val="tx1"/>
                </a:solidFill>
                <a:latin typeface="+mn-lt"/>
                <a:ea typeface="+mn-ea"/>
                <a:cs typeface="+mn-cs"/>
              </a:rPr>
              <a:t> </a:t>
            </a:r>
          </a:p>
          <a:p>
            <a:r>
              <a:rPr lang="fr-FR" sz="1200" b="0" u="sng" kern="1200" baseline="0" dirty="0" smtClean="0">
                <a:solidFill>
                  <a:schemeClr val="tx1"/>
                </a:solidFill>
                <a:latin typeface="+mn-lt"/>
                <a:ea typeface="+mn-ea"/>
                <a:cs typeface="+mn-cs"/>
              </a:rPr>
              <a:t>Sont des obligations contractuelles :</a:t>
            </a:r>
          </a:p>
          <a:p>
            <a:r>
              <a:rPr lang="fr-FR" sz="1200" b="0" u="sng" kern="1200" baseline="0" dirty="0" smtClean="0">
                <a:solidFill>
                  <a:schemeClr val="tx1"/>
                </a:solidFill>
                <a:latin typeface="+mn-lt"/>
                <a:ea typeface="+mn-ea"/>
                <a:cs typeface="+mn-cs"/>
              </a:rPr>
              <a:t> </a:t>
            </a:r>
          </a:p>
          <a:p>
            <a:r>
              <a:rPr lang="fr-FR" sz="1200" b="0" u="sng" kern="1200" baseline="0" dirty="0" smtClean="0">
                <a:solidFill>
                  <a:schemeClr val="tx1"/>
                </a:solidFill>
                <a:latin typeface="+mn-lt"/>
                <a:ea typeface="+mn-ea"/>
                <a:cs typeface="+mn-cs"/>
              </a:rPr>
              <a:t>Les obligations de faire, ne pas faire et de donner (voir chapitre 12).</a:t>
            </a:r>
          </a:p>
          <a:p>
            <a:r>
              <a:rPr lang="fr-FR" sz="1200" b="0" u="sng" kern="1200" baseline="0" dirty="0" smtClean="0">
                <a:solidFill>
                  <a:schemeClr val="tx1"/>
                </a:solidFill>
                <a:latin typeface="+mn-lt"/>
                <a:ea typeface="+mn-ea"/>
                <a:cs typeface="+mn-cs"/>
              </a:rPr>
              <a:t> </a:t>
            </a:r>
          </a:p>
          <a:p>
            <a:r>
              <a:rPr lang="fr-FR" sz="1200" b="0" u="sng" kern="1200" baseline="0" dirty="0" smtClean="0">
                <a:solidFill>
                  <a:schemeClr val="tx1"/>
                </a:solidFill>
                <a:latin typeface="+mn-lt"/>
                <a:ea typeface="+mn-ea"/>
                <a:cs typeface="+mn-cs"/>
              </a:rPr>
              <a:t>Les obligations :</a:t>
            </a:r>
          </a:p>
          <a:p>
            <a:r>
              <a:rPr lang="fr-FR" sz="1200" b="0" u="sng" kern="1200" baseline="0" dirty="0" smtClean="0">
                <a:solidFill>
                  <a:schemeClr val="tx1"/>
                </a:solidFill>
                <a:latin typeface="+mn-lt"/>
                <a:ea typeface="+mn-ea"/>
                <a:cs typeface="+mn-cs"/>
              </a:rPr>
              <a:t>• </a:t>
            </a:r>
          </a:p>
          <a:p>
            <a:r>
              <a:rPr lang="fr-FR" sz="1200" b="0" u="sng" kern="1200" baseline="0" dirty="0" smtClean="0">
                <a:solidFill>
                  <a:schemeClr val="tx1"/>
                </a:solidFill>
                <a:latin typeface="+mn-lt"/>
                <a:ea typeface="+mn-ea"/>
                <a:cs typeface="+mn-cs"/>
              </a:rPr>
              <a:t>De moyen : Le débiteur s’engage à mettre en œuvre tous les moyens nécessaires pour atteindre l’objectif fixé. Si le résultat n’est pas obtenu, le débiteur n’est pas présumé fautif. Pour établir une faute éventuelle, le créancier devra lui-même la prouver, en démontrant qu’il y a eu imprudence ou négligence de la part du débiteur (ex : si le médecin ne guérit pas son patient, il n’est pas présumé automatiquement en faute. Le patient devra prouver que le médecin a commis une négligence ou une imprudence.).</a:t>
            </a:r>
          </a:p>
          <a:p>
            <a:r>
              <a:rPr lang="fr-FR" sz="1200" b="0" u="sng" kern="1200" baseline="0" dirty="0" smtClean="0">
                <a:solidFill>
                  <a:schemeClr val="tx1"/>
                </a:solidFill>
                <a:latin typeface="+mn-lt"/>
                <a:ea typeface="+mn-ea"/>
                <a:cs typeface="+mn-cs"/>
              </a:rPr>
              <a:t>• </a:t>
            </a:r>
          </a:p>
          <a:p>
            <a:r>
              <a:rPr lang="fr-FR" sz="1200" b="0" u="sng" kern="1200" baseline="0" dirty="0" smtClean="0">
                <a:solidFill>
                  <a:schemeClr val="tx1"/>
                </a:solidFill>
                <a:latin typeface="+mn-lt"/>
                <a:ea typeface="+mn-ea"/>
                <a:cs typeface="+mn-cs"/>
              </a:rPr>
              <a:t>De résultat : Le débiteur s’engage sur un résultat donné. Si ce résultat n’est pas obtenu, le débiteur est présumé fautif (ex : le transporteur s’engage à faire parvenir une marchandise dans un lieu donné et en un temps donné. S’il ne respecte pas sa parole contractuelle, il engage automatiquement sa responsabilité.). </a:t>
            </a:r>
          </a:p>
          <a:p>
            <a:r>
              <a:rPr lang="fr-FR" sz="1200" b="0" u="sng" kern="1200" baseline="0" dirty="0" smtClean="0">
                <a:solidFill>
                  <a:schemeClr val="tx1"/>
                </a:solidFill>
                <a:latin typeface="+mn-lt"/>
                <a:ea typeface="+mn-ea"/>
                <a:cs typeface="+mn-cs"/>
              </a:rPr>
              <a:t> </a:t>
            </a:r>
          </a:p>
          <a:p>
            <a:r>
              <a:rPr lang="fr-FR" sz="1200" b="0" u="sng" kern="1200" baseline="0" dirty="0" smtClean="0">
                <a:solidFill>
                  <a:schemeClr val="tx1"/>
                </a:solidFill>
                <a:latin typeface="+mn-lt"/>
                <a:ea typeface="+mn-ea"/>
                <a:cs typeface="+mn-cs"/>
              </a:rPr>
              <a:t>Les actes juridiques (les obligations ont été voulues).</a:t>
            </a:r>
          </a:p>
          <a:p>
            <a:r>
              <a:rPr lang="fr-FR" sz="1200" b="0" u="sng" kern="1200" baseline="0" dirty="0" smtClean="0">
                <a:solidFill>
                  <a:schemeClr val="tx1"/>
                </a:solidFill>
                <a:latin typeface="+mn-lt"/>
                <a:ea typeface="+mn-ea"/>
                <a:cs typeface="+mn-cs"/>
              </a:rPr>
              <a:t> </a:t>
            </a:r>
          </a:p>
          <a:p>
            <a:r>
              <a:rPr lang="fr-FR" sz="1200" b="0" u="sng" kern="1200" baseline="0" dirty="0" smtClean="0">
                <a:solidFill>
                  <a:schemeClr val="tx1"/>
                </a:solidFill>
                <a:latin typeface="+mn-lt"/>
                <a:ea typeface="+mn-ea"/>
                <a:cs typeface="+mn-cs"/>
              </a:rPr>
              <a:t>Sont des obligations délictuelles, les faits juridiques (les obligations n’ont pas été voulues).</a:t>
            </a:r>
          </a:p>
          <a:p>
            <a:r>
              <a:rPr lang="fr-FR" sz="1200" b="0" u="sng"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14 – Les effets de la distinction</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Pour les obligations contractuelles, la responsabilité sera contractuelle. Pour les obligations délictuelles, la responsabilité sera délictuelle.</a:t>
            </a:r>
          </a:p>
          <a:p>
            <a:r>
              <a:rPr lang="fr-FR" sz="1200" b="0" u="sng" kern="1200" baseline="0" dirty="0" smtClean="0">
                <a:solidFill>
                  <a:schemeClr val="tx1"/>
                </a:solidFill>
                <a:latin typeface="+mn-lt"/>
                <a:ea typeface="+mn-ea"/>
                <a:cs typeface="+mn-cs"/>
              </a:rPr>
              <a:t> </a:t>
            </a:r>
          </a:p>
          <a:p>
            <a:r>
              <a:rPr lang="fr-FR" sz="1200" b="0" u="sng" kern="1200" baseline="0" dirty="0" smtClean="0">
                <a:solidFill>
                  <a:schemeClr val="tx1"/>
                </a:solidFill>
                <a:latin typeface="+mn-lt"/>
                <a:ea typeface="+mn-ea"/>
                <a:cs typeface="+mn-cs"/>
              </a:rPr>
              <a:t>La responsabilité contractuelle prime sur la responsabilité délictuelle. Les deux responsabilités ne peuvent être cumulées pour une même affaire. Si la victime n’a pas obtenu réparation de son préjudice en faisant jouer la responsabilité contractuelle, elle ne pourra faire jouer la responsabilité délictuelle.</a:t>
            </a:r>
          </a:p>
          <a:p>
            <a:r>
              <a:rPr lang="fr-FR" sz="1200" b="0" u="sng" kern="1200" baseline="0" dirty="0" smtClean="0">
                <a:solidFill>
                  <a:schemeClr val="tx1"/>
                </a:solidFill>
                <a:latin typeface="+mn-lt"/>
                <a:ea typeface="+mn-ea"/>
                <a:cs typeface="+mn-cs"/>
              </a:rPr>
              <a:t> </a:t>
            </a:r>
          </a:p>
          <a:p>
            <a:r>
              <a:rPr lang="fr-FR" sz="1200" b="0" u="sng" kern="1200" baseline="0" dirty="0" smtClean="0">
                <a:solidFill>
                  <a:schemeClr val="tx1"/>
                </a:solidFill>
                <a:latin typeface="+mn-lt"/>
                <a:ea typeface="+mn-ea"/>
                <a:cs typeface="+mn-cs"/>
              </a:rPr>
              <a:t>La prescription est de 30 ans pour la responsabilité contractuelle et de 10 ans pour la responsabilité délictuelle.</a:t>
            </a:r>
          </a:p>
          <a:p>
            <a:r>
              <a:rPr lang="fr-FR" sz="1200" b="0" u="sng"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2 – La responsabilité pénale</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La responsabilité pénale d’une personne est engagée lorsque cette personne a commis une infraction, c'est-à-dire une action interdite par la loi et sanctionnée par une peine (prison, amende, travail d’intérêt général, …). Seul l’auteur de l’infraction peut-être pénalement tenu pour responsable (cela exclu ses représentants légaux si ce dernier est mineur ou majeur protégé). La responsabilité pénale a pour objectif la défense de la société. C’est une fonction répressive.</a:t>
            </a:r>
          </a:p>
          <a:p>
            <a:r>
              <a:rPr lang="fr-FR" sz="1200" b="0" u="sng"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21 – La responsabilité pénale délictuelle</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La responsabilité pénale repose sur l’existence d’une infraction prévue par la loi pénale (contravention, délit ou crime). La responsabilité pénale délictuelle de l’auteur de l’infraction sera engagée lorsque l’infraction a pour cause un fait volontaire (ex : frapper son voisin).</a:t>
            </a:r>
          </a:p>
          <a:p>
            <a:r>
              <a:rPr lang="fr-FR" sz="1200" b="0" u="sng"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22 – La responsabilité pénale quasi-délictuelle</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La responsabilité pénale de l’auteur sera quasi-délictuelle lorsque l’infraction a pour cause un fait involontaire.</a:t>
            </a:r>
          </a:p>
          <a:p>
            <a:r>
              <a:rPr lang="fr-FR" sz="1200" b="0" u="sng"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23 – Les sanctions</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Les infractions pénales sont jugées par le tribunal de police, pour les contraventions, par le tribunal correctionnel, pour les délits, et par la cour d’assises, pour les crimes.</a:t>
            </a:r>
          </a:p>
          <a:p>
            <a:r>
              <a:rPr lang="fr-FR" sz="1200" b="0" u="sng" kern="1200" baseline="0" dirty="0" smtClean="0">
                <a:solidFill>
                  <a:schemeClr val="tx1"/>
                </a:solidFill>
                <a:latin typeface="+mn-lt"/>
                <a:ea typeface="+mn-ea"/>
                <a:cs typeface="+mn-cs"/>
              </a:rPr>
              <a:t>Le ministère public, représenté par le commissaire de police au tribunal de police, par le procureur de la république au tribunal correction et par l’avocat général ou le procureur général en cour d’assises.</a:t>
            </a:r>
          </a:p>
          <a:p>
            <a:r>
              <a:rPr lang="fr-FR" sz="1200" b="0" u="sng" kern="1200" baseline="0" dirty="0" smtClean="0">
                <a:solidFill>
                  <a:schemeClr val="tx1"/>
                </a:solidFill>
                <a:latin typeface="+mn-lt"/>
                <a:ea typeface="+mn-ea"/>
                <a:cs typeface="+mn-cs"/>
              </a:rPr>
              <a:t>Les sanctions demandées peuvent être des amendes ou des peines de prison (avec sursis ou fermes).</a:t>
            </a:r>
          </a:p>
          <a:p>
            <a:r>
              <a:rPr lang="fr-FR" sz="1200" b="0" u="sng"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3 – La coexistence des responsabilités</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Dans certaines situations, responsabilité civile et responsabilité pénale peuvent coexister (ex : une personne en vole une autre et ce vol s’accompagne de violences ayant entraînées une incapacité de travail supérieure à 8 jours. La responsabilité pénale du délinquant sera engagée pour le vol avec violence et sa responsabilité civile pour l’incapacité de travail de la victime). </a:t>
            </a:r>
          </a:p>
          <a:p>
            <a:r>
              <a:rPr lang="fr-FR" sz="1200" b="0" u="sng" kern="1200" baseline="0" dirty="0" smtClean="0">
                <a:solidFill>
                  <a:schemeClr val="tx1"/>
                </a:solidFill>
                <a:latin typeface="+mn-lt"/>
                <a:ea typeface="+mn-ea"/>
                <a:cs typeface="+mn-cs"/>
              </a:rPr>
              <a:t>La victime aura alors la possibilité d’obtenir réparation du dommage causé en se portant « partie civile » devant les tribunaux répressifs (tribunal correctionnel, cour d’assises). Une seule juridiction, la juridiction pénale, statuera en même temps sur la responsabilité pénale et sur la responsabilité civile de l’auteur du dommage. </a:t>
            </a:r>
          </a:p>
          <a:p>
            <a:r>
              <a:rPr lang="fr-FR" sz="1200" b="0" u="sng" kern="1200" baseline="0" dirty="0" smtClean="0">
                <a:solidFill>
                  <a:schemeClr val="tx1"/>
                </a:solidFill>
                <a:latin typeface="+mn-lt"/>
                <a:ea typeface="+mn-ea"/>
                <a:cs typeface="+mn-cs"/>
              </a:rPr>
              <a:t> </a:t>
            </a:r>
          </a:p>
          <a:p>
            <a:r>
              <a:rPr lang="fr-FR" sz="1200" b="1" u="sng" kern="1200" baseline="0" dirty="0" smtClean="0">
                <a:solidFill>
                  <a:schemeClr val="tx1"/>
                </a:solidFill>
                <a:latin typeface="+mn-lt"/>
                <a:ea typeface="+mn-ea"/>
                <a:cs typeface="+mn-cs"/>
              </a:rPr>
              <a:t>Lexique</a:t>
            </a:r>
            <a:endParaRPr lang="fr-FR" sz="1200" b="0" u="sng" kern="1200" baseline="0" dirty="0" smtClean="0">
              <a:solidFill>
                <a:schemeClr val="tx1"/>
              </a:solidFill>
              <a:latin typeface="+mn-lt"/>
              <a:ea typeface="+mn-ea"/>
              <a:cs typeface="+mn-cs"/>
            </a:endParaRPr>
          </a:p>
          <a:p>
            <a:r>
              <a:rPr lang="fr-FR" sz="1200" b="0" u="sng" kern="1200" baseline="0" dirty="0" smtClean="0">
                <a:solidFill>
                  <a:schemeClr val="tx1"/>
                </a:solidFill>
                <a:latin typeface="+mn-lt"/>
                <a:ea typeface="+mn-ea"/>
                <a:cs typeface="+mn-cs"/>
              </a:rPr>
              <a:t> </a:t>
            </a:r>
          </a:p>
          <a:p>
            <a:r>
              <a:rPr lang="fr-FR" sz="1200" b="0" i="1" u="sng" kern="1200" baseline="0" dirty="0" smtClean="0">
                <a:solidFill>
                  <a:schemeClr val="tx1"/>
                </a:solidFill>
                <a:latin typeface="+mn-lt"/>
                <a:ea typeface="+mn-ea"/>
                <a:cs typeface="+mn-cs"/>
              </a:rPr>
              <a:t>Responsabilité civile : La responsabilité civile est l’obligation, pour l’auteur d’un dommage, d’en réparer les conséquences.</a:t>
            </a:r>
            <a:endParaRPr lang="fr-FR" sz="1200" b="0" i="0" u="sng" kern="1200" baseline="0" dirty="0" smtClean="0">
              <a:solidFill>
                <a:schemeClr val="tx1"/>
              </a:solidFill>
              <a:latin typeface="+mn-lt"/>
              <a:ea typeface="+mn-ea"/>
              <a:cs typeface="+mn-cs"/>
            </a:endParaRPr>
          </a:p>
          <a:p>
            <a:r>
              <a:rPr lang="fr-FR" sz="1200" b="0" i="1" u="sng" kern="1200" baseline="0" dirty="0" smtClean="0">
                <a:solidFill>
                  <a:schemeClr val="tx1"/>
                </a:solidFill>
                <a:latin typeface="+mn-lt"/>
                <a:ea typeface="+mn-ea"/>
                <a:cs typeface="+mn-cs"/>
              </a:rPr>
              <a:t>Responsabilité pénale : La responsabilité pénale est l’obligation, pour l’auteur d’une infraction, d’en répondre devant les juridictions répressives.</a:t>
            </a:r>
            <a:endParaRPr lang="fr-FR" sz="1200" b="0" i="0" u="sng" kern="1200" baseline="0" dirty="0" smtClean="0">
              <a:solidFill>
                <a:schemeClr val="tx1"/>
              </a:solidFill>
              <a:latin typeface="+mn-lt"/>
              <a:ea typeface="+mn-ea"/>
              <a:cs typeface="+mn-cs"/>
            </a:endParaRPr>
          </a:p>
          <a:p>
            <a:r>
              <a:rPr lang="fr-FR" sz="1200" b="0" i="0" u="sng" kern="1200" baseline="0" dirty="0" smtClean="0">
                <a:solidFill>
                  <a:schemeClr val="tx1"/>
                </a:solidFill>
                <a:latin typeface="+mn-lt"/>
                <a:ea typeface="+mn-ea"/>
                <a:cs typeface="+mn-cs"/>
              </a:rPr>
              <a:t> </a:t>
            </a:r>
          </a:p>
          <a:p>
            <a:r>
              <a:rPr lang="fr-FR" sz="1200" b="0" i="1" u="sng" kern="1200" baseline="0" dirty="0" smtClean="0">
                <a:solidFill>
                  <a:schemeClr val="tx1"/>
                </a:solidFill>
                <a:latin typeface="+mn-lt"/>
                <a:ea typeface="+mn-ea"/>
                <a:cs typeface="+mn-cs"/>
              </a:rPr>
              <a:t>Obligation de moyen : L’obligation de moyen est une obligation en vertu de laquelle le débiteur est tenu de mettre en œuvre tous les moyens à sa disposition pour atteindre l’objectif fixé.</a:t>
            </a:r>
            <a:endParaRPr lang="fr-FR" sz="1200" b="0" i="0" u="sng" kern="1200" baseline="0" dirty="0" smtClean="0">
              <a:solidFill>
                <a:schemeClr val="tx1"/>
              </a:solidFill>
              <a:latin typeface="+mn-lt"/>
              <a:ea typeface="+mn-ea"/>
              <a:cs typeface="+mn-cs"/>
            </a:endParaRPr>
          </a:p>
          <a:p>
            <a:r>
              <a:rPr lang="fr-FR" sz="1200" b="0" i="0" u="sng" kern="1200" baseline="0" dirty="0" smtClean="0">
                <a:solidFill>
                  <a:schemeClr val="tx1"/>
                </a:solidFill>
                <a:latin typeface="+mn-lt"/>
                <a:ea typeface="+mn-ea"/>
                <a:cs typeface="+mn-cs"/>
              </a:rPr>
              <a:t> </a:t>
            </a:r>
          </a:p>
          <a:p>
            <a:r>
              <a:rPr lang="fr-FR" sz="1200" b="0" i="1" u="sng" kern="1200" baseline="0" dirty="0" smtClean="0">
                <a:solidFill>
                  <a:schemeClr val="tx1"/>
                </a:solidFill>
                <a:latin typeface="+mn-lt"/>
                <a:ea typeface="+mn-ea"/>
                <a:cs typeface="+mn-cs"/>
              </a:rPr>
              <a:t>Obligation de résultat : L’obligation de résultat est une obligation en vertu de laquelle le débiteur est tenu d’obtenir un résultat donné.</a:t>
            </a:r>
            <a:endParaRPr lang="fr-FR" sz="1200" b="0" i="0" u="sng" kern="1200" baseline="0" dirty="0" smtClean="0">
              <a:solidFill>
                <a:schemeClr val="tx1"/>
              </a:solidFill>
              <a:latin typeface="+mn-lt"/>
              <a:ea typeface="+mn-ea"/>
              <a:cs typeface="+mn-cs"/>
            </a:endParaRPr>
          </a:p>
          <a:p>
            <a:r>
              <a:rPr lang="hu-HU" sz="1200" b="0" i="0" u="sng" kern="1200" baseline="0" dirty="0" smtClean="0">
                <a:solidFill>
                  <a:schemeClr val="tx1"/>
                </a:solidFill>
                <a:latin typeface="+mn-lt"/>
                <a:ea typeface="+mn-ea"/>
                <a:cs typeface="+mn-cs"/>
              </a:rPr>
              <a:t>Stéphane Gozé	1STG_D_T5_C13_C.doc	31/07/2006	2 / 3	</a:t>
            </a:r>
          </a:p>
          <a:p>
            <a:r>
              <a:rPr lang="hu-HU" sz="1200" b="0" i="0" u="sng" kern="1200" baseline="0" dirty="0" smtClean="0">
                <a:solidFill>
                  <a:schemeClr val="tx1"/>
                </a:solidFill>
                <a:latin typeface="+mn-lt"/>
                <a:ea typeface="+mn-ea"/>
                <a:cs typeface="+mn-cs"/>
              </a:rPr>
              <a:t> </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20</a:t>
            </a:fld>
            <a:endParaRPr lang="fr-FR"/>
          </a:p>
        </p:txBody>
      </p:sp>
    </p:spTree>
    <p:extLst>
      <p:ext uri="{BB962C8B-B14F-4D97-AF65-F5344CB8AC3E}">
        <p14:creationId xmlns:p14="http://schemas.microsoft.com/office/powerpoint/2010/main" val="8975345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21</a:t>
            </a:fld>
            <a:endParaRPr lang="fr-FR"/>
          </a:p>
        </p:txBody>
      </p:sp>
    </p:spTree>
    <p:extLst>
      <p:ext uri="{BB962C8B-B14F-4D97-AF65-F5344CB8AC3E}">
        <p14:creationId xmlns:p14="http://schemas.microsoft.com/office/powerpoint/2010/main" val="12011620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22</a:t>
            </a:fld>
            <a:endParaRPr lang="fr-FR"/>
          </a:p>
        </p:txBody>
      </p:sp>
    </p:spTree>
    <p:extLst>
      <p:ext uri="{BB962C8B-B14F-4D97-AF65-F5344CB8AC3E}">
        <p14:creationId xmlns:p14="http://schemas.microsoft.com/office/powerpoint/2010/main" val="7766240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23</a:t>
            </a:fld>
            <a:endParaRPr lang="fr-FR"/>
          </a:p>
        </p:txBody>
      </p:sp>
    </p:spTree>
    <p:extLst>
      <p:ext uri="{BB962C8B-B14F-4D97-AF65-F5344CB8AC3E}">
        <p14:creationId xmlns:p14="http://schemas.microsoft.com/office/powerpoint/2010/main" val="16081126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24</a:t>
            </a:fld>
            <a:endParaRPr lang="fr-FR"/>
          </a:p>
        </p:txBody>
      </p:sp>
    </p:spTree>
    <p:extLst>
      <p:ext uri="{BB962C8B-B14F-4D97-AF65-F5344CB8AC3E}">
        <p14:creationId xmlns:p14="http://schemas.microsoft.com/office/powerpoint/2010/main" val="711845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 sur la Responsabilité</a:t>
            </a:r>
          </a:p>
          <a:p>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25</a:t>
            </a:fld>
            <a:endParaRPr lang="fr-FR"/>
          </a:p>
        </p:txBody>
      </p:sp>
    </p:spTree>
    <p:extLst>
      <p:ext uri="{BB962C8B-B14F-4D97-AF65-F5344CB8AC3E}">
        <p14:creationId xmlns:p14="http://schemas.microsoft.com/office/powerpoint/2010/main" val="6105154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26</a:t>
            </a:fld>
            <a:endParaRPr lang="fr-FR"/>
          </a:p>
        </p:txBody>
      </p:sp>
    </p:spTree>
    <p:extLst>
      <p:ext uri="{BB962C8B-B14F-4D97-AF65-F5344CB8AC3E}">
        <p14:creationId xmlns:p14="http://schemas.microsoft.com/office/powerpoint/2010/main" val="13951320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27</a:t>
            </a:fld>
            <a:endParaRPr lang="fr-FR"/>
          </a:p>
        </p:txBody>
      </p:sp>
    </p:spTree>
    <p:extLst>
      <p:ext uri="{BB962C8B-B14F-4D97-AF65-F5344CB8AC3E}">
        <p14:creationId xmlns:p14="http://schemas.microsoft.com/office/powerpoint/2010/main" val="14073922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28</a:t>
            </a:fld>
            <a:endParaRPr lang="fr-FR"/>
          </a:p>
        </p:txBody>
      </p:sp>
    </p:spTree>
    <p:extLst>
      <p:ext uri="{BB962C8B-B14F-4D97-AF65-F5344CB8AC3E}">
        <p14:creationId xmlns:p14="http://schemas.microsoft.com/office/powerpoint/2010/main" val="8157741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29</a:t>
            </a:fld>
            <a:endParaRPr lang="fr-FR"/>
          </a:p>
        </p:txBody>
      </p:sp>
    </p:spTree>
    <p:extLst>
      <p:ext uri="{BB962C8B-B14F-4D97-AF65-F5344CB8AC3E}">
        <p14:creationId xmlns:p14="http://schemas.microsoft.com/office/powerpoint/2010/main" val="2345769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30</a:t>
            </a:fld>
            <a:endParaRPr lang="fr-FR"/>
          </a:p>
        </p:txBody>
      </p:sp>
    </p:spTree>
    <p:extLst>
      <p:ext uri="{BB962C8B-B14F-4D97-AF65-F5344CB8AC3E}">
        <p14:creationId xmlns:p14="http://schemas.microsoft.com/office/powerpoint/2010/main" val="7693044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31</a:t>
            </a:fld>
            <a:endParaRPr lang="fr-FR"/>
          </a:p>
        </p:txBody>
      </p:sp>
    </p:spTree>
    <p:extLst>
      <p:ext uri="{BB962C8B-B14F-4D97-AF65-F5344CB8AC3E}">
        <p14:creationId xmlns:p14="http://schemas.microsoft.com/office/powerpoint/2010/main" val="8969253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32</a:t>
            </a:fld>
            <a:endParaRPr lang="fr-FR"/>
          </a:p>
        </p:txBody>
      </p:sp>
    </p:spTree>
    <p:extLst>
      <p:ext uri="{BB962C8B-B14F-4D97-AF65-F5344CB8AC3E}">
        <p14:creationId xmlns:p14="http://schemas.microsoft.com/office/powerpoint/2010/main" val="13840794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Copie</a:t>
            </a:r>
            <a:r>
              <a:rPr lang="fr-FR" baseline="0" dirty="0" smtClean="0"/>
              <a:t> de CM à distribuer</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33</a:t>
            </a:fld>
            <a:endParaRPr lang="fr-FR"/>
          </a:p>
        </p:txBody>
      </p:sp>
    </p:spTree>
    <p:extLst>
      <p:ext uri="{BB962C8B-B14F-4D97-AF65-F5344CB8AC3E}">
        <p14:creationId xmlns:p14="http://schemas.microsoft.com/office/powerpoint/2010/main" val="17279527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34</a:t>
            </a:fld>
            <a:endParaRPr lang="fr-FR"/>
          </a:p>
        </p:txBody>
      </p:sp>
    </p:spTree>
    <p:extLst>
      <p:ext uri="{BB962C8B-B14F-4D97-AF65-F5344CB8AC3E}">
        <p14:creationId xmlns:p14="http://schemas.microsoft.com/office/powerpoint/2010/main" val="2460885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35</a:t>
            </a:fld>
            <a:endParaRPr lang="fr-FR"/>
          </a:p>
        </p:txBody>
      </p:sp>
    </p:spTree>
    <p:extLst>
      <p:ext uri="{BB962C8B-B14F-4D97-AF65-F5344CB8AC3E}">
        <p14:creationId xmlns:p14="http://schemas.microsoft.com/office/powerpoint/2010/main" val="12193774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36</a:t>
            </a:fld>
            <a:endParaRPr lang="fr-FR"/>
          </a:p>
        </p:txBody>
      </p:sp>
    </p:spTree>
    <p:extLst>
      <p:ext uri="{BB962C8B-B14F-4D97-AF65-F5344CB8AC3E}">
        <p14:creationId xmlns:p14="http://schemas.microsoft.com/office/powerpoint/2010/main" val="14677044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37</a:t>
            </a:fld>
            <a:endParaRPr lang="fr-FR"/>
          </a:p>
        </p:txBody>
      </p:sp>
    </p:spTree>
    <p:extLst>
      <p:ext uri="{BB962C8B-B14F-4D97-AF65-F5344CB8AC3E}">
        <p14:creationId xmlns:p14="http://schemas.microsoft.com/office/powerpoint/2010/main" val="15993001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38</a:t>
            </a:fld>
            <a:endParaRPr lang="fr-FR"/>
          </a:p>
        </p:txBody>
      </p:sp>
    </p:spTree>
    <p:extLst>
      <p:ext uri="{BB962C8B-B14F-4D97-AF65-F5344CB8AC3E}">
        <p14:creationId xmlns:p14="http://schemas.microsoft.com/office/powerpoint/2010/main" val="11426993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39</a:t>
            </a:fld>
            <a:endParaRPr lang="fr-FR"/>
          </a:p>
        </p:txBody>
      </p:sp>
    </p:spTree>
    <p:extLst>
      <p:ext uri="{BB962C8B-B14F-4D97-AF65-F5344CB8AC3E}">
        <p14:creationId xmlns:p14="http://schemas.microsoft.com/office/powerpoint/2010/main" val="5767249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40</a:t>
            </a:fld>
            <a:endParaRPr lang="fr-FR"/>
          </a:p>
        </p:txBody>
      </p:sp>
    </p:spTree>
    <p:extLst>
      <p:ext uri="{BB962C8B-B14F-4D97-AF65-F5344CB8AC3E}">
        <p14:creationId xmlns:p14="http://schemas.microsoft.com/office/powerpoint/2010/main" val="10871573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41</a:t>
            </a:fld>
            <a:endParaRPr lang="fr-FR"/>
          </a:p>
        </p:txBody>
      </p:sp>
    </p:spTree>
    <p:extLst>
      <p:ext uri="{BB962C8B-B14F-4D97-AF65-F5344CB8AC3E}">
        <p14:creationId xmlns:p14="http://schemas.microsoft.com/office/powerpoint/2010/main" val="16492960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42</a:t>
            </a:fld>
            <a:endParaRPr lang="fr-FR"/>
          </a:p>
        </p:txBody>
      </p:sp>
    </p:spTree>
    <p:extLst>
      <p:ext uri="{BB962C8B-B14F-4D97-AF65-F5344CB8AC3E}">
        <p14:creationId xmlns:p14="http://schemas.microsoft.com/office/powerpoint/2010/main" val="13834919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Distribution de docs</a:t>
            </a:r>
            <a:endParaRPr lang="fr-FR" dirty="0"/>
          </a:p>
        </p:txBody>
      </p:sp>
      <p:sp>
        <p:nvSpPr>
          <p:cNvPr id="4" name="Espace réservé du numéro de diapositive 3"/>
          <p:cNvSpPr>
            <a:spLocks noGrp="1"/>
          </p:cNvSpPr>
          <p:nvPr>
            <p:ph type="sldNum" sz="quarter" idx="10"/>
          </p:nvPr>
        </p:nvSpPr>
        <p:spPr/>
        <p:txBody>
          <a:bodyPr/>
          <a:lstStyle/>
          <a:p>
            <a:fld id="{B136A43D-6E6C-E54C-AE1E-D6AE44A59FD8}" type="slidenum">
              <a:rPr lang="fr-FR" smtClean="0"/>
              <a:t>43</a:t>
            </a:fld>
            <a:endParaRPr lang="fr-FR"/>
          </a:p>
        </p:txBody>
      </p:sp>
    </p:spTree>
    <p:extLst>
      <p:ext uri="{BB962C8B-B14F-4D97-AF65-F5344CB8AC3E}">
        <p14:creationId xmlns:p14="http://schemas.microsoft.com/office/powerpoint/2010/main" val="777828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764DE79-268F-4C1A-8933-263129D2AF90}" type="datetimeFigureOut">
              <a:rPr lang="en-US" smtClean="0"/>
              <a:t>4/4/14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2447475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3750866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821125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764DE79-268F-4C1A-8933-263129D2AF90}" type="datetimeFigureOut">
              <a:rPr lang="en-US" smtClean="0"/>
              <a:t>4/4/14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1895167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764DE79-268F-4C1A-8933-263129D2AF90}" type="datetimeFigureOut">
              <a:rPr lang="en-US" smtClean="0"/>
              <a:t>4/4/14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880514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764DE79-268F-4C1A-8933-263129D2AF90}" type="datetimeFigureOut">
              <a:rPr lang="en-US" smtClean="0"/>
              <a:t>4/4/14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3205484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4/4/14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232112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4/4/14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4167681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4/4/14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3453901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smtClean="0"/>
              <a:t>4/4/14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4073667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smtClean="0"/>
              <a:t>4/4/14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a:p>
        </p:txBody>
      </p:sp>
    </p:spTree>
    <p:extLst>
      <p:ext uri="{BB962C8B-B14F-4D97-AF65-F5344CB8AC3E}">
        <p14:creationId xmlns:p14="http://schemas.microsoft.com/office/powerpoint/2010/main" val="193130598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4/4/14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‹N°›</a:t>
            </a:fld>
            <a:endParaRPr lang="en-US"/>
          </a:p>
        </p:txBody>
      </p:sp>
    </p:spTree>
    <p:extLst>
      <p:ext uri="{BB962C8B-B14F-4D97-AF65-F5344CB8AC3E}">
        <p14:creationId xmlns:p14="http://schemas.microsoft.com/office/powerpoint/2010/main" val="17120598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11.png"/><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430573" y="1383072"/>
            <a:ext cx="8713426" cy="1200329"/>
          </a:xfrm>
          <a:prstGeom prst="rect">
            <a:avLst/>
          </a:prstGeom>
          <a:noFill/>
        </p:spPr>
        <p:txBody>
          <a:bodyPr wrap="square" rtlCol="0">
            <a:spAutoFit/>
          </a:bodyPr>
          <a:lstStyle/>
          <a:p>
            <a:r>
              <a:rPr lang="fr-FR" sz="7200" b="1" u="sng" dirty="0" smtClean="0">
                <a:solidFill>
                  <a:srgbClr val="FFFF00"/>
                </a:solidFill>
              </a:rPr>
              <a:t>LA RÉGLEMENTATION</a:t>
            </a:r>
            <a:endParaRPr lang="fr-FR" sz="7200" b="1" u="sng" dirty="0">
              <a:solidFill>
                <a:srgbClr val="FFFF00"/>
              </a:solidFill>
            </a:endParaRPr>
          </a:p>
        </p:txBody>
      </p:sp>
      <p:sp>
        <p:nvSpPr>
          <p:cNvPr id="4" name="ZoneTexte 3"/>
          <p:cNvSpPr txBox="1"/>
          <p:nvPr/>
        </p:nvSpPr>
        <p:spPr>
          <a:xfrm>
            <a:off x="7868099" y="6470628"/>
            <a:ext cx="3175000" cy="369332"/>
          </a:xfrm>
          <a:prstGeom prst="rect">
            <a:avLst/>
          </a:prstGeom>
          <a:noFill/>
        </p:spPr>
        <p:txBody>
          <a:bodyPr wrap="square" rtlCol="0">
            <a:spAutoFit/>
          </a:bodyPr>
          <a:lstStyle/>
          <a:p>
            <a:r>
              <a:rPr lang="fr-FR" dirty="0" smtClean="0">
                <a:solidFill>
                  <a:schemeClr val="bg1"/>
                </a:solidFill>
              </a:rPr>
              <a:t>Gilbert k</a:t>
            </a:r>
            <a:endParaRPr lang="fr-FR" dirty="0">
              <a:solidFill>
                <a:schemeClr val="bg1"/>
              </a:solidFill>
            </a:endParaRPr>
          </a:p>
        </p:txBody>
      </p:sp>
      <p:sp>
        <p:nvSpPr>
          <p:cNvPr id="10" name="ZoneTexte 9"/>
          <p:cNvSpPr txBox="1"/>
          <p:nvPr/>
        </p:nvSpPr>
        <p:spPr>
          <a:xfrm>
            <a:off x="1790275" y="4646359"/>
            <a:ext cx="8124223" cy="1200329"/>
          </a:xfrm>
          <a:prstGeom prst="rect">
            <a:avLst/>
          </a:prstGeom>
          <a:noFill/>
        </p:spPr>
        <p:txBody>
          <a:bodyPr wrap="square" rtlCol="0">
            <a:spAutoFit/>
          </a:bodyPr>
          <a:lstStyle/>
          <a:p>
            <a:r>
              <a:rPr lang="fr-FR" sz="7200" b="1" u="sng" dirty="0" smtClean="0">
                <a:solidFill>
                  <a:srgbClr val="FFFF00"/>
                </a:solidFill>
              </a:rPr>
              <a:t>LA PRATIQUE</a:t>
            </a:r>
            <a:endParaRPr lang="fr-FR" sz="7200" b="1" u="sng" dirty="0">
              <a:solidFill>
                <a:srgbClr val="FFFF00"/>
              </a:solidFill>
            </a:endParaRPr>
          </a:p>
        </p:txBody>
      </p:sp>
      <p:sp>
        <p:nvSpPr>
          <p:cNvPr id="9" name="ZoneTexte 8"/>
          <p:cNvSpPr txBox="1"/>
          <p:nvPr/>
        </p:nvSpPr>
        <p:spPr>
          <a:xfrm>
            <a:off x="3567473" y="2985822"/>
            <a:ext cx="3175000" cy="1200329"/>
          </a:xfrm>
          <a:prstGeom prst="rect">
            <a:avLst/>
          </a:prstGeom>
          <a:noFill/>
        </p:spPr>
        <p:txBody>
          <a:bodyPr wrap="square" rtlCol="0">
            <a:spAutoFit/>
          </a:bodyPr>
          <a:lstStyle/>
          <a:p>
            <a:r>
              <a:rPr lang="fr-FR" sz="7200" b="1" u="sng" smtClean="0">
                <a:solidFill>
                  <a:srgbClr val="FFFF00"/>
                </a:solidFill>
              </a:rPr>
              <a:t>DE</a:t>
            </a:r>
            <a:endParaRPr lang="fr-FR" sz="7200" b="1" u="sng">
              <a:solidFill>
                <a:srgbClr val="FFFF00"/>
              </a:solidFill>
            </a:endParaRPr>
          </a:p>
        </p:txBody>
      </p:sp>
    </p:spTree>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rgbClr val="FF0000"/>
                </a:solidFill>
              </a:rPr>
              <a:t>PLAN :</a:t>
            </a:r>
            <a:endParaRPr lang="fr-FR" sz="3600" b="1" u="sng" dirty="0">
              <a:solidFill>
                <a:srgbClr val="FF0000"/>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5026415"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(le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Responsabilité Pénale</a:t>
            </a:r>
          </a:p>
          <a:p>
            <a:pPr marL="285750" indent="-285750">
              <a:buFont typeface="Wingdings" charset="0"/>
              <a:buChar char="Ø"/>
            </a:pPr>
            <a:r>
              <a:rPr lang="fr-FR" sz="2400" dirty="0" smtClean="0">
                <a:solidFill>
                  <a:schemeClr val="bg1"/>
                </a:solidFill>
              </a:rPr>
              <a:t>La</a:t>
            </a:r>
            <a:r>
              <a:rPr lang="fr-FR" sz="2400" baseline="0" dirty="0" smtClean="0">
                <a:solidFill>
                  <a:schemeClr val="bg1"/>
                </a:solidFill>
              </a:rPr>
              <a:t> Responsabilité Civile</a:t>
            </a:r>
            <a:endParaRPr lang="fr-FR" sz="240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7868099" y="6470628"/>
            <a:ext cx="3175000" cy="369332"/>
          </a:xfrm>
          <a:prstGeom prst="rect">
            <a:avLst/>
          </a:prstGeom>
          <a:noFill/>
        </p:spPr>
        <p:txBody>
          <a:bodyPr wrap="square" rtlCol="0">
            <a:spAutoFit/>
          </a:bodyPr>
          <a:lstStyle/>
          <a:p>
            <a:r>
              <a:rPr lang="fr-FR" dirty="0" smtClean="0"/>
              <a:t>Gilbert k</a:t>
            </a:r>
            <a:endParaRPr lang="fr-FR" dirty="0"/>
          </a:p>
        </p:txBody>
      </p:sp>
    </p:spTree>
    <p:extLst>
      <p:ext uri="{BB962C8B-B14F-4D97-AF65-F5344CB8AC3E}">
        <p14:creationId xmlns:p14="http://schemas.microsoft.com/office/powerpoint/2010/main" val="846930886"/>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rgbClr val="FF0000"/>
                </a:solidFill>
              </a:rPr>
              <a:t>1/ LES STRUCTURES FÉDÉRALES :</a:t>
            </a:r>
            <a:endParaRPr lang="fr-FR" sz="2800" b="1" u="sng" dirty="0">
              <a:solidFill>
                <a:srgbClr val="FF0000"/>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chemeClr val="bg1"/>
                </a:solidFill>
              </a:rPr>
              <a:t>PLAN :</a:t>
            </a:r>
            <a:endParaRPr lang="fr-FR" sz="3600" b="1" u="sng" dirty="0">
              <a:solidFill>
                <a:schemeClr val="bg1"/>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5026415"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(le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Responsabilité Pénale</a:t>
            </a:r>
          </a:p>
          <a:p>
            <a:pPr marL="285750" indent="-285750">
              <a:buFont typeface="Wingdings" charset="0"/>
              <a:buChar char="Ø"/>
            </a:pPr>
            <a:r>
              <a:rPr lang="fr-FR" sz="2400" dirty="0" smtClean="0">
                <a:solidFill>
                  <a:schemeClr val="bg1"/>
                </a:solidFill>
              </a:rPr>
              <a:t>La</a:t>
            </a:r>
            <a:r>
              <a:rPr lang="fr-FR" sz="2400" baseline="0" dirty="0" smtClean="0">
                <a:solidFill>
                  <a:schemeClr val="bg1"/>
                </a:solidFill>
              </a:rPr>
              <a:t> Responsabilité Civile</a:t>
            </a:r>
            <a:endParaRPr lang="fr-FR" sz="240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7970076" y="6436634"/>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chemeClr val="bg1"/>
                </a:solidFill>
              </a:rPr>
              <a:t>PLAN :</a:t>
            </a:r>
            <a:endParaRPr lang="fr-FR" sz="3600" b="1" u="sng" dirty="0">
              <a:solidFill>
                <a:schemeClr val="bg1"/>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4652497" cy="1200329"/>
          </a:xfrm>
          <a:prstGeom prst="rect">
            <a:avLst/>
          </a:prstGeom>
          <a:noFill/>
        </p:spPr>
        <p:txBody>
          <a:bodyPr wrap="square" rtlCol="0">
            <a:spAutoFit/>
          </a:bodyPr>
          <a:lstStyle/>
          <a:p>
            <a:pPr marL="285750" indent="-285750">
              <a:buFont typeface="Wingdings" charset="0"/>
              <a:buChar char="Ø"/>
            </a:pPr>
            <a:r>
              <a:rPr lang="fr-FR" sz="2400" b="1" dirty="0" smtClean="0">
                <a:solidFill>
                  <a:srgbClr val="FF0000"/>
                </a:solidFill>
              </a:rPr>
              <a:t>La structure Associative (le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Responsabilité Pénale</a:t>
            </a:r>
          </a:p>
          <a:p>
            <a:pPr marL="285750" indent="-285750">
              <a:buFont typeface="Wingdings" charset="0"/>
              <a:buChar char="Ø"/>
            </a:pPr>
            <a:r>
              <a:rPr lang="fr-FR" sz="2400" dirty="0" smtClean="0">
                <a:solidFill>
                  <a:schemeClr val="bg1"/>
                </a:solidFill>
              </a:rPr>
              <a:t>La</a:t>
            </a:r>
            <a:r>
              <a:rPr lang="fr-FR" sz="2400" baseline="0" dirty="0" smtClean="0">
                <a:solidFill>
                  <a:schemeClr val="bg1"/>
                </a:solidFill>
              </a:rPr>
              <a:t> Responsabilité Civile</a:t>
            </a:r>
            <a:endParaRPr lang="fr-FR" sz="240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7970076" y="6436634"/>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structure Associative (le club)</a:t>
            </a:r>
          </a:p>
        </p:txBody>
      </p:sp>
      <p:sp>
        <p:nvSpPr>
          <p:cNvPr id="4" name="ZoneTexte 3"/>
          <p:cNvSpPr txBox="1"/>
          <p:nvPr/>
        </p:nvSpPr>
        <p:spPr>
          <a:xfrm>
            <a:off x="786313" y="1291718"/>
            <a:ext cx="8323695"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a:t>
            </a:r>
            <a:r>
              <a:rPr lang="fr-FR" sz="2800" b="1" dirty="0" smtClean="0">
                <a:solidFill>
                  <a:schemeClr val="bg1"/>
                </a:solidFill>
              </a:rPr>
              <a:t>Création et Fonctionnement d'une association </a:t>
            </a:r>
            <a:endParaRPr lang="fr-FR" sz="2800" b="1" dirty="0">
              <a:solidFill>
                <a:schemeClr val="bg1"/>
              </a:solidFill>
            </a:endParaRPr>
          </a:p>
        </p:txBody>
      </p:sp>
      <p:pic>
        <p:nvPicPr>
          <p:cNvPr id="8" name="Image 7"/>
          <p:cNvPicPr>
            <a:picLocks noChangeAspect="1"/>
          </p:cNvPicPr>
          <p:nvPr/>
        </p:nvPicPr>
        <p:blipFill>
          <a:blip r:embed="rId4"/>
          <a:stretch>
            <a:fillRect/>
          </a:stretch>
        </p:blipFill>
        <p:spPr>
          <a:xfrm>
            <a:off x="79317" y="1824268"/>
            <a:ext cx="7274408" cy="4919589"/>
          </a:xfrm>
          <a:prstGeom prst="rect">
            <a:avLst/>
          </a:prstGeom>
        </p:spPr>
      </p:pic>
      <p:pic>
        <p:nvPicPr>
          <p:cNvPr id="7" name="Image 6"/>
          <p:cNvPicPr>
            <a:picLocks noChangeAspect="1"/>
          </p:cNvPicPr>
          <p:nvPr/>
        </p:nvPicPr>
        <p:blipFill>
          <a:blip r:embed="rId5"/>
          <a:stretch>
            <a:fillRect/>
          </a:stretch>
        </p:blipFill>
        <p:spPr>
          <a:xfrm>
            <a:off x="4119140" y="1892252"/>
            <a:ext cx="3166600" cy="815822"/>
          </a:xfrm>
          <a:prstGeom prst="rect">
            <a:avLst/>
          </a:prstGeom>
        </p:spPr>
      </p:pic>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Tree>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structure Associative (le club)</a:t>
            </a:r>
          </a:p>
        </p:txBody>
      </p:sp>
      <p:sp>
        <p:nvSpPr>
          <p:cNvPr id="4" name="ZoneTexte 3"/>
          <p:cNvSpPr txBox="1"/>
          <p:nvPr/>
        </p:nvSpPr>
        <p:spPr>
          <a:xfrm>
            <a:off x="786313" y="1269056"/>
            <a:ext cx="8289702"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a:t>
            </a:r>
            <a:r>
              <a:rPr lang="fr-FR" sz="2800" b="1" dirty="0" smtClean="0">
                <a:solidFill>
                  <a:schemeClr val="bg1"/>
                </a:solidFill>
              </a:rPr>
              <a:t>Création et Fonctionnement d'une association </a:t>
            </a:r>
            <a:endParaRPr lang="fr-FR" sz="2800" b="1" dirty="0">
              <a:solidFill>
                <a:schemeClr val="bg1"/>
              </a:solidFill>
            </a:endParaRPr>
          </a:p>
        </p:txBody>
      </p:sp>
      <p:pic>
        <p:nvPicPr>
          <p:cNvPr id="9" name="Image 8"/>
          <p:cNvPicPr>
            <a:picLocks noChangeAspect="1"/>
          </p:cNvPicPr>
          <p:nvPr/>
        </p:nvPicPr>
        <p:blipFill>
          <a:blip r:embed="rId4"/>
          <a:stretch>
            <a:fillRect/>
          </a:stretch>
        </p:blipFill>
        <p:spPr>
          <a:xfrm>
            <a:off x="101977" y="1778945"/>
            <a:ext cx="7240418" cy="4996907"/>
          </a:xfrm>
          <a:prstGeom prst="rect">
            <a:avLst/>
          </a:prstGeom>
        </p:spPr>
      </p:pic>
      <p:pic>
        <p:nvPicPr>
          <p:cNvPr id="7" name="Image 6"/>
          <p:cNvPicPr>
            <a:picLocks noChangeAspect="1"/>
          </p:cNvPicPr>
          <p:nvPr/>
        </p:nvPicPr>
        <p:blipFill>
          <a:blip r:embed="rId5"/>
          <a:stretch>
            <a:fillRect/>
          </a:stretch>
        </p:blipFill>
        <p:spPr>
          <a:xfrm>
            <a:off x="3999792" y="1824268"/>
            <a:ext cx="3263285" cy="736506"/>
          </a:xfrm>
          <a:prstGeom prst="rect">
            <a:avLst/>
          </a:prstGeom>
        </p:spPr>
      </p:pic>
      <p:sp>
        <p:nvSpPr>
          <p:cNvPr id="8" name="ZoneTexte 7"/>
          <p:cNvSpPr txBox="1"/>
          <p:nvPr/>
        </p:nvSpPr>
        <p:spPr>
          <a:xfrm>
            <a:off x="8072054" y="6470627"/>
            <a:ext cx="3175000" cy="369332"/>
          </a:xfrm>
          <a:prstGeom prst="rect">
            <a:avLst/>
          </a:prstGeom>
          <a:noFill/>
        </p:spPr>
        <p:txBody>
          <a:bodyPr wrap="square" rtlCol="0">
            <a:spAutoFit/>
          </a:bodyPr>
          <a:lstStyle/>
          <a:p>
            <a:r>
              <a:rPr lang="fr-FR" dirty="0" smtClean="0"/>
              <a:t>Gilbert k</a:t>
            </a:r>
            <a:endParaRPr lang="fr-FR" dirty="0"/>
          </a:p>
        </p:txBody>
      </p:sp>
      <p:pic>
        <p:nvPicPr>
          <p:cNvPr id="10" name="Image 9"/>
          <p:cNvPicPr>
            <a:picLocks noChangeAspect="1"/>
          </p:cNvPicPr>
          <p:nvPr/>
        </p:nvPicPr>
        <p:blipFill>
          <a:blip r:embed="rId5"/>
          <a:stretch>
            <a:fillRect/>
          </a:stretch>
        </p:blipFill>
        <p:spPr>
          <a:xfrm>
            <a:off x="373921" y="5302839"/>
            <a:ext cx="4849605" cy="1317211"/>
          </a:xfrm>
          <a:prstGeom prst="rect">
            <a:avLst/>
          </a:prstGeom>
        </p:spPr>
      </p:pic>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structure Associative (le</a:t>
            </a:r>
            <a:r>
              <a:rPr lang="fr-FR" sz="3600" b="1" u="sng" baseline="0" dirty="0" smtClean="0">
                <a:solidFill>
                  <a:srgbClr val="FF0000"/>
                </a:solidFill>
              </a:rPr>
              <a:t> </a:t>
            </a:r>
            <a:r>
              <a:rPr lang="fr-FR" sz="3600" b="1" u="sng" dirty="0" smtClean="0">
                <a:solidFill>
                  <a:srgbClr val="FF0000"/>
                </a:solidFill>
              </a:rPr>
              <a:t>club)</a:t>
            </a:r>
          </a:p>
        </p:txBody>
      </p:sp>
      <p:sp>
        <p:nvSpPr>
          <p:cNvPr id="4" name="ZoneTexte 3"/>
          <p:cNvSpPr txBox="1"/>
          <p:nvPr/>
        </p:nvSpPr>
        <p:spPr>
          <a:xfrm>
            <a:off x="786313" y="1257725"/>
            <a:ext cx="8289702"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a:t>
            </a:r>
            <a:r>
              <a:rPr lang="fr-FR" sz="2800" b="1" dirty="0" smtClean="0">
                <a:solidFill>
                  <a:schemeClr val="bg1"/>
                </a:solidFill>
              </a:rPr>
              <a:t>Création et Fonctionnement d'une association</a:t>
            </a:r>
            <a:endParaRPr lang="fr-FR" sz="2800" b="1" dirty="0">
              <a:solidFill>
                <a:schemeClr val="bg1"/>
              </a:solidFill>
            </a:endParaRPr>
          </a:p>
        </p:txBody>
      </p:sp>
      <p:pic>
        <p:nvPicPr>
          <p:cNvPr id="7" name="Image 6"/>
          <p:cNvPicPr>
            <a:picLocks noChangeAspect="1"/>
          </p:cNvPicPr>
          <p:nvPr/>
        </p:nvPicPr>
        <p:blipFill>
          <a:blip r:embed="rId4"/>
          <a:stretch>
            <a:fillRect/>
          </a:stretch>
        </p:blipFill>
        <p:spPr>
          <a:xfrm>
            <a:off x="101979" y="1756283"/>
            <a:ext cx="6945814" cy="5042230"/>
          </a:xfrm>
          <a:prstGeom prst="rect">
            <a:avLst/>
          </a:prstGeom>
        </p:spPr>
      </p:pic>
      <p:pic>
        <p:nvPicPr>
          <p:cNvPr id="8" name="Image 7"/>
          <p:cNvPicPr>
            <a:picLocks noChangeAspect="1"/>
          </p:cNvPicPr>
          <p:nvPr/>
        </p:nvPicPr>
        <p:blipFill>
          <a:blip r:embed="rId5"/>
          <a:stretch>
            <a:fillRect/>
          </a:stretch>
        </p:blipFill>
        <p:spPr>
          <a:xfrm>
            <a:off x="3977130" y="1812937"/>
            <a:ext cx="3036668" cy="726457"/>
          </a:xfrm>
          <a:prstGeom prst="rect">
            <a:avLst/>
          </a:prstGeom>
        </p:spPr>
      </p:pic>
      <p:sp>
        <p:nvSpPr>
          <p:cNvPr id="9" name="ZoneTexte 8"/>
          <p:cNvSpPr txBox="1"/>
          <p:nvPr/>
        </p:nvSpPr>
        <p:spPr>
          <a:xfrm>
            <a:off x="7958745" y="6459296"/>
            <a:ext cx="3175000" cy="369332"/>
          </a:xfrm>
          <a:prstGeom prst="rect">
            <a:avLst/>
          </a:prstGeom>
          <a:noFill/>
        </p:spPr>
        <p:txBody>
          <a:bodyPr wrap="square" rtlCol="0">
            <a:spAutoFit/>
          </a:bodyPr>
          <a:lstStyle/>
          <a:p>
            <a:r>
              <a:rPr lang="fr-FR" dirty="0" smtClean="0"/>
              <a:t>Gilbert k</a:t>
            </a:r>
            <a:endParaRPr lang="fr-FR" dirty="0"/>
          </a:p>
        </p:txBody>
      </p:sp>
    </p:spTree>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355741" y="601244"/>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structure Associative (le club)</a:t>
            </a:r>
          </a:p>
        </p:txBody>
      </p:sp>
      <p:sp>
        <p:nvSpPr>
          <p:cNvPr id="4" name="ZoneTexte 3"/>
          <p:cNvSpPr txBox="1"/>
          <p:nvPr/>
        </p:nvSpPr>
        <p:spPr>
          <a:xfrm>
            <a:off x="786313" y="1257725"/>
            <a:ext cx="8289702"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a:t>
            </a:r>
            <a:r>
              <a:rPr lang="fr-FR" sz="2800" b="1" dirty="0" smtClean="0">
                <a:solidFill>
                  <a:schemeClr val="bg1"/>
                </a:solidFill>
              </a:rPr>
              <a:t>Création et Fonctionnement d'une association</a:t>
            </a:r>
            <a:endParaRPr lang="fr-FR" sz="2800" b="1" dirty="0">
              <a:solidFill>
                <a:schemeClr val="bg1"/>
              </a:solidFill>
            </a:endParaRPr>
          </a:p>
        </p:txBody>
      </p:sp>
      <p:pic>
        <p:nvPicPr>
          <p:cNvPr id="8" name="Image 7"/>
          <p:cNvPicPr>
            <a:picLocks noChangeAspect="1"/>
          </p:cNvPicPr>
          <p:nvPr/>
        </p:nvPicPr>
        <p:blipFill>
          <a:blip r:embed="rId4"/>
          <a:stretch>
            <a:fillRect/>
          </a:stretch>
        </p:blipFill>
        <p:spPr>
          <a:xfrm>
            <a:off x="169962" y="1713791"/>
            <a:ext cx="6843837" cy="5132878"/>
          </a:xfrm>
          <a:prstGeom prst="rect">
            <a:avLst/>
          </a:prstGeom>
        </p:spPr>
      </p:pic>
      <p:pic>
        <p:nvPicPr>
          <p:cNvPr id="7" name="Image 6"/>
          <p:cNvPicPr>
            <a:picLocks noChangeAspect="1"/>
          </p:cNvPicPr>
          <p:nvPr/>
        </p:nvPicPr>
        <p:blipFill>
          <a:blip r:embed="rId5"/>
          <a:stretch>
            <a:fillRect/>
          </a:stretch>
        </p:blipFill>
        <p:spPr>
          <a:xfrm>
            <a:off x="3909145" y="1767615"/>
            <a:ext cx="3047999" cy="1087762"/>
          </a:xfrm>
          <a:prstGeom prst="rect">
            <a:avLst/>
          </a:prstGeom>
        </p:spPr>
      </p:pic>
      <p:sp>
        <p:nvSpPr>
          <p:cNvPr id="9" name="ZoneTexte 8"/>
          <p:cNvSpPr txBox="1"/>
          <p:nvPr/>
        </p:nvSpPr>
        <p:spPr>
          <a:xfrm>
            <a:off x="8004069" y="6481958"/>
            <a:ext cx="3175000" cy="369332"/>
          </a:xfrm>
          <a:prstGeom prst="rect">
            <a:avLst/>
          </a:prstGeom>
          <a:noFill/>
        </p:spPr>
        <p:txBody>
          <a:bodyPr wrap="square" rtlCol="0">
            <a:spAutoFit/>
          </a:bodyPr>
          <a:lstStyle/>
          <a:p>
            <a:r>
              <a:rPr lang="fr-FR" dirty="0" smtClean="0"/>
              <a:t>Gilbert k</a:t>
            </a:r>
            <a:endParaRPr lang="fr-FR" dirty="0"/>
          </a:p>
        </p:txBody>
      </p:sp>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structure Associative (le club)</a:t>
            </a:r>
          </a:p>
        </p:txBody>
      </p:sp>
      <p:sp>
        <p:nvSpPr>
          <p:cNvPr id="4" name="ZoneTexte 3"/>
          <p:cNvSpPr txBox="1"/>
          <p:nvPr/>
        </p:nvSpPr>
        <p:spPr>
          <a:xfrm>
            <a:off x="786313" y="1257725"/>
            <a:ext cx="8289702"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a:t>
            </a:r>
            <a:r>
              <a:rPr lang="fr-FR" sz="2800" b="1" dirty="0" smtClean="0">
                <a:solidFill>
                  <a:schemeClr val="bg1"/>
                </a:solidFill>
              </a:rPr>
              <a:t>Création et Fonctionnement d'une association</a:t>
            </a:r>
            <a:endParaRPr lang="fr-FR" sz="2800" b="1" dirty="0">
              <a:solidFill>
                <a:schemeClr val="bg1"/>
              </a:solidFill>
            </a:endParaRPr>
          </a:p>
        </p:txBody>
      </p:sp>
      <p:pic>
        <p:nvPicPr>
          <p:cNvPr id="7" name="Image 6"/>
          <p:cNvPicPr>
            <a:picLocks noChangeAspect="1"/>
          </p:cNvPicPr>
          <p:nvPr/>
        </p:nvPicPr>
        <p:blipFill>
          <a:blip r:embed="rId4"/>
          <a:stretch>
            <a:fillRect/>
          </a:stretch>
        </p:blipFill>
        <p:spPr>
          <a:xfrm>
            <a:off x="158632" y="1730788"/>
            <a:ext cx="6821175" cy="5115881"/>
          </a:xfrm>
          <a:prstGeom prst="rect">
            <a:avLst/>
          </a:prstGeom>
        </p:spPr>
      </p:pic>
      <p:pic>
        <p:nvPicPr>
          <p:cNvPr id="8" name="Image 7"/>
          <p:cNvPicPr>
            <a:picLocks noChangeAspect="1"/>
          </p:cNvPicPr>
          <p:nvPr/>
        </p:nvPicPr>
        <p:blipFill>
          <a:blip r:embed="rId5"/>
          <a:stretch>
            <a:fillRect/>
          </a:stretch>
        </p:blipFill>
        <p:spPr>
          <a:xfrm>
            <a:off x="3829830" y="1778945"/>
            <a:ext cx="3081992" cy="759167"/>
          </a:xfrm>
          <a:prstGeom prst="rect">
            <a:avLst/>
          </a:prstGeom>
        </p:spPr>
      </p:pic>
      <p:sp>
        <p:nvSpPr>
          <p:cNvPr id="9" name="ZoneTexte 8"/>
          <p:cNvSpPr txBox="1"/>
          <p:nvPr/>
        </p:nvSpPr>
        <p:spPr>
          <a:xfrm>
            <a:off x="8026731" y="6470627"/>
            <a:ext cx="3175000" cy="369332"/>
          </a:xfrm>
          <a:prstGeom prst="rect">
            <a:avLst/>
          </a:prstGeom>
          <a:noFill/>
        </p:spPr>
        <p:txBody>
          <a:bodyPr wrap="square" rtlCol="0">
            <a:spAutoFit/>
          </a:bodyPr>
          <a:lstStyle/>
          <a:p>
            <a:r>
              <a:rPr lang="fr-FR" dirty="0" smtClean="0"/>
              <a:t>Gilbert k</a:t>
            </a:r>
            <a:endParaRPr lang="fr-FR" dirty="0"/>
          </a:p>
        </p:txBody>
      </p:sp>
    </p:spTree>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23905"/>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structure Associative (le club)</a:t>
            </a:r>
          </a:p>
        </p:txBody>
      </p:sp>
      <p:sp>
        <p:nvSpPr>
          <p:cNvPr id="4" name="ZoneTexte 3"/>
          <p:cNvSpPr txBox="1"/>
          <p:nvPr/>
        </p:nvSpPr>
        <p:spPr>
          <a:xfrm>
            <a:off x="786313" y="1257725"/>
            <a:ext cx="8289702"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a:t>
            </a:r>
            <a:r>
              <a:rPr lang="fr-FR" sz="2800" b="1" dirty="0" smtClean="0">
                <a:solidFill>
                  <a:schemeClr val="bg1"/>
                </a:solidFill>
              </a:rPr>
              <a:t>Création et Fonctionnement d'une association</a:t>
            </a:r>
            <a:endParaRPr lang="fr-FR" sz="2800" b="1" dirty="0">
              <a:solidFill>
                <a:schemeClr val="bg1"/>
              </a:solidFill>
            </a:endParaRPr>
          </a:p>
        </p:txBody>
      </p:sp>
      <p:pic>
        <p:nvPicPr>
          <p:cNvPr id="7" name="Image 6"/>
          <p:cNvPicPr>
            <a:picLocks noChangeAspect="1"/>
          </p:cNvPicPr>
          <p:nvPr/>
        </p:nvPicPr>
        <p:blipFill>
          <a:blip r:embed="rId4"/>
          <a:stretch>
            <a:fillRect/>
          </a:stretch>
        </p:blipFill>
        <p:spPr>
          <a:xfrm>
            <a:off x="124639" y="1705293"/>
            <a:ext cx="6855168" cy="5141376"/>
          </a:xfrm>
          <a:prstGeom prst="rect">
            <a:avLst/>
          </a:prstGeom>
        </p:spPr>
      </p:pic>
      <p:pic>
        <p:nvPicPr>
          <p:cNvPr id="8" name="Image 7"/>
          <p:cNvPicPr>
            <a:picLocks noChangeAspect="1"/>
          </p:cNvPicPr>
          <p:nvPr/>
        </p:nvPicPr>
        <p:blipFill>
          <a:blip r:embed="rId5"/>
          <a:stretch>
            <a:fillRect/>
          </a:stretch>
        </p:blipFill>
        <p:spPr>
          <a:xfrm>
            <a:off x="3818499" y="1744953"/>
            <a:ext cx="3081992" cy="827152"/>
          </a:xfrm>
          <a:prstGeom prst="rect">
            <a:avLst/>
          </a:prstGeom>
        </p:spPr>
      </p:pic>
      <p:sp>
        <p:nvSpPr>
          <p:cNvPr id="9" name="ZoneTexte 8"/>
          <p:cNvSpPr txBox="1"/>
          <p:nvPr/>
        </p:nvSpPr>
        <p:spPr>
          <a:xfrm>
            <a:off x="7981407" y="6436634"/>
            <a:ext cx="3175000" cy="369332"/>
          </a:xfrm>
          <a:prstGeom prst="rect">
            <a:avLst/>
          </a:prstGeom>
          <a:noFill/>
        </p:spPr>
        <p:txBody>
          <a:bodyPr wrap="square" rtlCol="0">
            <a:spAutoFit/>
          </a:bodyPr>
          <a:lstStyle/>
          <a:p>
            <a:r>
              <a:rPr lang="fr-FR" dirty="0" smtClean="0"/>
              <a:t>Gilbert k</a:t>
            </a:r>
            <a:endParaRPr lang="fr-FR" dirty="0"/>
          </a:p>
        </p:txBody>
      </p:sp>
      <p:pic>
        <p:nvPicPr>
          <p:cNvPr id="10" name="Image 9"/>
          <p:cNvPicPr>
            <a:picLocks noChangeAspect="1"/>
          </p:cNvPicPr>
          <p:nvPr/>
        </p:nvPicPr>
        <p:blipFill>
          <a:blip r:embed="rId5"/>
          <a:stretch>
            <a:fillRect/>
          </a:stretch>
        </p:blipFill>
        <p:spPr>
          <a:xfrm>
            <a:off x="4690971" y="4747629"/>
            <a:ext cx="1947258" cy="385249"/>
          </a:xfrm>
          <a:prstGeom prst="rect">
            <a:avLst/>
          </a:prstGeom>
        </p:spPr>
      </p:pic>
    </p:spTree>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rgbClr val="FF0000"/>
                </a:solidFill>
              </a:rPr>
              <a:t>PLAN :</a:t>
            </a:r>
            <a:endParaRPr lang="fr-FR" sz="3600" b="1" u="sng" dirty="0">
              <a:solidFill>
                <a:srgbClr val="FF0000"/>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4754475" cy="1200329"/>
          </a:xfrm>
          <a:prstGeom prst="rect">
            <a:avLst/>
          </a:prstGeom>
          <a:noFill/>
        </p:spPr>
        <p:txBody>
          <a:bodyPr wrap="square" rtlCol="0">
            <a:spAutoFit/>
          </a:bodyPr>
          <a:lstStyle/>
          <a:p>
            <a:pPr marL="285750" indent="-285750">
              <a:buFont typeface="Wingdings" charset="0"/>
              <a:buChar char="Ø"/>
            </a:pPr>
            <a:r>
              <a:rPr lang="fr-FR" sz="2400" b="0" dirty="0" smtClean="0">
                <a:solidFill>
                  <a:schemeClr val="bg1"/>
                </a:solidFill>
              </a:rPr>
              <a:t>La structure Associative (le club)</a:t>
            </a:r>
          </a:p>
          <a:p>
            <a:pPr marL="285750" indent="-285750">
              <a:buFont typeface="Wingdings" charset="0"/>
              <a:buChar char="Ø"/>
            </a:pPr>
            <a:r>
              <a:rPr lang="fr-FR" sz="2400" b="1" dirty="0" smtClean="0">
                <a:solidFill>
                  <a:srgbClr val="FF0000"/>
                </a:solidFill>
              </a:rPr>
              <a:t>Le Comité Régional</a:t>
            </a:r>
          </a:p>
          <a:p>
            <a:pPr marL="285750" indent="-285750">
              <a:buFont typeface="Wingdings" charset="0"/>
              <a:buChar char="Ø"/>
            </a:pPr>
            <a:r>
              <a:rPr lang="fr-FR" sz="2400" b="0" dirty="0" smtClean="0">
                <a:solidFill>
                  <a:schemeClr val="bg1"/>
                </a:solidFill>
              </a:rPr>
              <a:t>La FFESSM</a:t>
            </a:r>
            <a:endParaRPr lang="fr-FR" sz="2400" b="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Responsabilité Pénale</a:t>
            </a:r>
          </a:p>
          <a:p>
            <a:pPr marL="285750" indent="-285750">
              <a:buFont typeface="Wingdings" charset="0"/>
              <a:buChar char="Ø"/>
            </a:pPr>
            <a:r>
              <a:rPr lang="fr-FR" sz="2400" dirty="0" smtClean="0">
                <a:solidFill>
                  <a:schemeClr val="bg1"/>
                </a:solidFill>
              </a:rPr>
              <a:t>La</a:t>
            </a:r>
            <a:r>
              <a:rPr lang="fr-FR" sz="2400" baseline="0" dirty="0" smtClean="0">
                <a:solidFill>
                  <a:schemeClr val="bg1"/>
                </a:solidFill>
              </a:rPr>
              <a:t> Responsabilité Civile</a:t>
            </a:r>
            <a:endParaRPr lang="fr-FR" sz="240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8004069" y="6402642"/>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Comité Régional </a:t>
            </a:r>
            <a:endParaRPr lang="fr-FR" sz="3600" b="1" u="sng" dirty="0" smtClean="0">
              <a:solidFill>
                <a:srgbClr val="FF0000"/>
              </a:solidFill>
            </a:endParaRPr>
          </a:p>
        </p:txBody>
      </p:sp>
      <p:sp>
        <p:nvSpPr>
          <p:cNvPr id="4" name="ZoneTexte 3"/>
          <p:cNvSpPr txBox="1"/>
          <p:nvPr/>
        </p:nvSpPr>
        <p:spPr>
          <a:xfrm>
            <a:off x="786313" y="1291718"/>
            <a:ext cx="8323695"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Son Fonctionnement </a:t>
            </a:r>
            <a:endParaRPr lang="fr-FR" sz="2800" b="1" dirty="0">
              <a:solidFill>
                <a:schemeClr val="bg1"/>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2" name="ZoneTexte 11"/>
          <p:cNvSpPr txBox="1"/>
          <p:nvPr/>
        </p:nvSpPr>
        <p:spPr>
          <a:xfrm>
            <a:off x="815822" y="1904292"/>
            <a:ext cx="7569011" cy="4524315"/>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C'est une décentralisation de la fédération avec des statuts propres qui doivent être en cohérence avec ceux de la fédération.</a:t>
            </a:r>
          </a:p>
          <a:p>
            <a:pPr marL="342900" indent="-342900">
              <a:buFont typeface="Wingdings" charset="0"/>
              <a:buChar char="§"/>
            </a:pPr>
            <a:endParaRPr lang="fr-FR" sz="2400" dirty="0" smtClean="0">
              <a:solidFill>
                <a:schemeClr val="bg1"/>
              </a:solidFill>
            </a:endParaRPr>
          </a:p>
          <a:p>
            <a:pPr marL="342900" indent="-342900">
              <a:buFont typeface="Wingdings" charset="0"/>
              <a:buChar char="v"/>
            </a:pPr>
            <a:r>
              <a:rPr lang="fr-FR" sz="2400" dirty="0" smtClean="0">
                <a:solidFill>
                  <a:schemeClr val="bg1"/>
                </a:solidFill>
              </a:rPr>
              <a:t> Sa</a:t>
            </a:r>
            <a:r>
              <a:rPr lang="fr-FR" sz="2400" baseline="0" dirty="0" smtClean="0">
                <a:solidFill>
                  <a:schemeClr val="bg1"/>
                </a:solidFill>
              </a:rPr>
              <a:t> composition :</a:t>
            </a:r>
          </a:p>
          <a:p>
            <a:pPr marL="342900" indent="-342900">
              <a:buFont typeface="Wingdings" charset="0"/>
              <a:buChar char="§"/>
            </a:pPr>
            <a:r>
              <a:rPr lang="fr-FR" sz="2400" dirty="0" smtClean="0">
                <a:solidFill>
                  <a:schemeClr val="bg1"/>
                </a:solidFill>
              </a:rPr>
              <a:t> Un Bureau (président,secrétaire,trésorier) et un Comité Directeur qui sont élus pour 4 ans lors de l'AG des clubs </a:t>
            </a:r>
          </a:p>
          <a:p>
            <a:pPr marL="342900" indent="-342900">
              <a:buFont typeface="Wingdings" charset="0"/>
              <a:buChar char="§"/>
            </a:pPr>
            <a:r>
              <a:rPr lang="fr-FR" sz="2400" dirty="0" smtClean="0">
                <a:solidFill>
                  <a:schemeClr val="bg1"/>
                </a:solidFill>
              </a:rPr>
              <a:t>Des commissions (4) :</a:t>
            </a:r>
          </a:p>
          <a:p>
            <a:pPr marL="342900" indent="-342900">
              <a:buFont typeface="Arial" charset="0"/>
              <a:buChar char="•"/>
            </a:pPr>
            <a:r>
              <a:rPr lang="fr-FR" sz="2400" baseline="0" dirty="0" smtClean="0">
                <a:solidFill>
                  <a:schemeClr val="bg1"/>
                </a:solidFill>
              </a:rPr>
              <a:t> Commission Technique</a:t>
            </a:r>
          </a:p>
          <a:p>
            <a:pPr marL="342900" indent="-342900">
              <a:buFont typeface="Arial" charset="0"/>
              <a:buChar char="•"/>
            </a:pPr>
            <a:r>
              <a:rPr lang="fr-FR" sz="2400" baseline="0" dirty="0" smtClean="0">
                <a:solidFill>
                  <a:schemeClr val="bg1"/>
                </a:solidFill>
              </a:rPr>
              <a:t>Commission Audio visuel</a:t>
            </a:r>
          </a:p>
          <a:p>
            <a:pPr marL="342900" indent="-342900">
              <a:buFont typeface="Arial" charset="0"/>
              <a:buChar char="•"/>
            </a:pPr>
            <a:r>
              <a:rPr lang="fr-FR" sz="2400" baseline="0" dirty="0" smtClean="0">
                <a:solidFill>
                  <a:schemeClr val="bg1"/>
                </a:solidFill>
              </a:rPr>
              <a:t>Commission </a:t>
            </a:r>
            <a:r>
              <a:rPr lang="fr-FR" sz="2400" baseline="0" dirty="0" err="1" smtClean="0">
                <a:solidFill>
                  <a:schemeClr val="bg1"/>
                </a:solidFill>
              </a:rPr>
              <a:t>Apnee</a:t>
            </a:r>
            <a:endParaRPr lang="fr-FR" sz="2400" baseline="0" dirty="0" smtClean="0">
              <a:solidFill>
                <a:schemeClr val="bg1"/>
              </a:solidFill>
            </a:endParaRPr>
          </a:p>
          <a:p>
            <a:pPr marL="342900" indent="-342900">
              <a:buFont typeface="Arial" charset="0"/>
              <a:buChar char="•"/>
            </a:pPr>
            <a:r>
              <a:rPr lang="fr-FR" sz="2400" baseline="0" dirty="0" smtClean="0">
                <a:solidFill>
                  <a:schemeClr val="bg1"/>
                </a:solidFill>
              </a:rPr>
              <a:t>Commission Tir sur cible</a:t>
            </a:r>
            <a:endParaRPr lang="fr-FR" sz="2400" dirty="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Comité Régional </a:t>
            </a:r>
            <a:endParaRPr lang="fr-FR" sz="3600" b="1" u="sng" dirty="0" smtClean="0">
              <a:solidFill>
                <a:srgbClr val="FF0000"/>
              </a:solidFill>
            </a:endParaRPr>
          </a:p>
        </p:txBody>
      </p:sp>
      <p:sp>
        <p:nvSpPr>
          <p:cNvPr id="4" name="ZoneTexte 3"/>
          <p:cNvSpPr txBox="1"/>
          <p:nvPr/>
        </p:nvSpPr>
        <p:spPr>
          <a:xfrm>
            <a:off x="786313" y="1291718"/>
            <a:ext cx="8323695"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Son Fonctionnement </a:t>
            </a:r>
            <a:endParaRPr lang="fr-FR" sz="2800" b="1" dirty="0">
              <a:solidFill>
                <a:schemeClr val="bg1"/>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2" name="ZoneTexte 11"/>
          <p:cNvSpPr txBox="1"/>
          <p:nvPr/>
        </p:nvSpPr>
        <p:spPr>
          <a:xfrm>
            <a:off x="815822" y="1904292"/>
            <a:ext cx="7569011" cy="1569660"/>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Son</a:t>
            </a:r>
            <a:r>
              <a:rPr lang="fr-FR" sz="2400" baseline="0" dirty="0" smtClean="0">
                <a:solidFill>
                  <a:schemeClr val="bg1"/>
                </a:solidFill>
              </a:rPr>
              <a:t> Rôle :</a:t>
            </a:r>
          </a:p>
          <a:p>
            <a:pPr marL="342900" indent="-342900">
              <a:buFont typeface="Wingdings" charset="0"/>
              <a:buChar char="§"/>
            </a:pPr>
            <a:r>
              <a:rPr lang="fr-FR" sz="2400" dirty="0" smtClean="0">
                <a:solidFill>
                  <a:schemeClr val="bg1"/>
                </a:solidFill>
              </a:rPr>
              <a:t>Il est le lien administratif entre la fédération et les clubs </a:t>
            </a:r>
          </a:p>
          <a:p>
            <a:pPr marL="342900" indent="-342900">
              <a:buFont typeface="Wingdings" charset="0"/>
              <a:buChar char="§"/>
            </a:pPr>
            <a:r>
              <a:rPr lang="fr-FR" sz="2400" dirty="0" smtClean="0">
                <a:solidFill>
                  <a:schemeClr val="bg1"/>
                </a:solidFill>
              </a:rPr>
              <a:t>Il</a:t>
            </a:r>
            <a:r>
              <a:rPr lang="fr-FR" sz="2400" baseline="0" dirty="0" smtClean="0">
                <a:solidFill>
                  <a:schemeClr val="bg1"/>
                </a:solidFill>
              </a:rPr>
              <a:t> conduit ou assiste à toutes actions favorables au développement des activités fédérales.</a:t>
            </a:r>
            <a:endParaRPr lang="fr-FR" sz="2400" dirty="0" smtClean="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rgbClr val="FF0000"/>
                </a:solidFill>
              </a:rPr>
              <a:t>PLAN :</a:t>
            </a:r>
            <a:endParaRPr lang="fr-FR" sz="3600" b="1" u="sng" dirty="0">
              <a:solidFill>
                <a:srgbClr val="FF0000"/>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5003754"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(le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b="1" dirty="0" smtClean="0">
                <a:solidFill>
                  <a:srgbClr val="FF0000"/>
                </a:solidFill>
              </a:rPr>
              <a:t>La FFESSM</a:t>
            </a:r>
            <a:endParaRPr lang="fr-FR" sz="2400" b="1" dirty="0">
              <a:solidFill>
                <a:srgbClr val="FF0000"/>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Responsabilité Pénale</a:t>
            </a:r>
          </a:p>
          <a:p>
            <a:pPr marL="285750" indent="-285750">
              <a:buFont typeface="Wingdings" charset="0"/>
              <a:buChar char="Ø"/>
            </a:pPr>
            <a:r>
              <a:rPr lang="fr-FR" sz="2400" dirty="0" smtClean="0">
                <a:solidFill>
                  <a:schemeClr val="bg1"/>
                </a:solidFill>
              </a:rPr>
              <a:t>La</a:t>
            </a:r>
            <a:r>
              <a:rPr lang="fr-FR" sz="2400" baseline="0" dirty="0" smtClean="0">
                <a:solidFill>
                  <a:schemeClr val="bg1"/>
                </a:solidFill>
              </a:rPr>
              <a:t> Responsabilité Civile</a:t>
            </a:r>
            <a:endParaRPr lang="fr-FR" sz="240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8004069" y="6402642"/>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a:t>
            </a:r>
            <a:r>
              <a:rPr lang="fr-FR" sz="3600" b="1" u="sng" baseline="0" dirty="0" smtClean="0">
                <a:solidFill>
                  <a:srgbClr val="FF0000"/>
                </a:solidFill>
              </a:rPr>
              <a:t> FFESSM </a:t>
            </a:r>
            <a:endParaRPr lang="fr-FR" sz="3600" b="1" u="sng" dirty="0" smtClean="0">
              <a:solidFill>
                <a:srgbClr val="FF0000"/>
              </a:solidFill>
            </a:endParaRPr>
          </a:p>
        </p:txBody>
      </p:sp>
      <p:sp>
        <p:nvSpPr>
          <p:cNvPr id="4" name="ZoneTexte 3"/>
          <p:cNvSpPr txBox="1"/>
          <p:nvPr/>
        </p:nvSpPr>
        <p:spPr>
          <a:xfrm>
            <a:off x="820306" y="2039554"/>
            <a:ext cx="8323695"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Son Fonctionnement </a:t>
            </a:r>
            <a:endParaRPr lang="fr-FR" sz="2800" b="1" dirty="0">
              <a:solidFill>
                <a:schemeClr val="bg1"/>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7" name="ZoneTexte 6"/>
          <p:cNvSpPr txBox="1"/>
          <p:nvPr/>
        </p:nvSpPr>
        <p:spPr>
          <a:xfrm>
            <a:off x="645860" y="1292426"/>
            <a:ext cx="7331063" cy="461665"/>
          </a:xfrm>
          <a:prstGeom prst="rect">
            <a:avLst/>
          </a:prstGeom>
          <a:noFill/>
        </p:spPr>
        <p:txBody>
          <a:bodyPr wrap="square" rtlCol="0">
            <a:spAutoFit/>
          </a:bodyPr>
          <a:lstStyle/>
          <a:p>
            <a:r>
              <a:rPr lang="fr-FR" sz="2400" b="1" dirty="0" smtClean="0">
                <a:solidFill>
                  <a:srgbClr val="FFFF00"/>
                </a:solidFill>
              </a:rPr>
              <a:t>F</a:t>
            </a:r>
            <a:r>
              <a:rPr lang="fr-FR" sz="2400" dirty="0" smtClean="0">
                <a:solidFill>
                  <a:schemeClr val="bg1"/>
                </a:solidFill>
              </a:rPr>
              <a:t>édération </a:t>
            </a:r>
            <a:r>
              <a:rPr lang="fr-FR" sz="2400" b="1" dirty="0" smtClean="0">
                <a:solidFill>
                  <a:srgbClr val="FFFF00"/>
                </a:solidFill>
              </a:rPr>
              <a:t>F</a:t>
            </a:r>
            <a:r>
              <a:rPr lang="fr-FR" sz="2400" dirty="0" smtClean="0">
                <a:solidFill>
                  <a:schemeClr val="bg1"/>
                </a:solidFill>
              </a:rPr>
              <a:t>rançaise d'</a:t>
            </a:r>
            <a:r>
              <a:rPr lang="fr-FR" sz="2400" b="1" dirty="0" smtClean="0">
                <a:solidFill>
                  <a:srgbClr val="FFFF00"/>
                </a:solidFill>
              </a:rPr>
              <a:t>E</a:t>
            </a:r>
            <a:r>
              <a:rPr lang="fr-FR" sz="2400" dirty="0" smtClean="0">
                <a:solidFill>
                  <a:schemeClr val="bg1"/>
                </a:solidFill>
              </a:rPr>
              <a:t>tudes et de </a:t>
            </a:r>
            <a:r>
              <a:rPr lang="fr-FR" sz="2400" b="1" dirty="0" smtClean="0">
                <a:solidFill>
                  <a:srgbClr val="FFFF00"/>
                </a:solidFill>
              </a:rPr>
              <a:t>S</a:t>
            </a:r>
            <a:r>
              <a:rPr lang="fr-FR" sz="2400" dirty="0" smtClean="0">
                <a:solidFill>
                  <a:schemeClr val="bg1"/>
                </a:solidFill>
              </a:rPr>
              <a:t>ports </a:t>
            </a:r>
            <a:r>
              <a:rPr lang="fr-FR" sz="2400" b="1" dirty="0" smtClean="0">
                <a:solidFill>
                  <a:srgbClr val="FFFF00"/>
                </a:solidFill>
              </a:rPr>
              <a:t>S</a:t>
            </a:r>
            <a:r>
              <a:rPr lang="fr-FR" sz="2400" dirty="0" smtClean="0">
                <a:solidFill>
                  <a:schemeClr val="bg1"/>
                </a:solidFill>
              </a:rPr>
              <a:t>ous-</a:t>
            </a:r>
            <a:r>
              <a:rPr lang="fr-FR" sz="2400" b="1" dirty="0" smtClean="0">
                <a:solidFill>
                  <a:srgbClr val="FFFF00"/>
                </a:solidFill>
              </a:rPr>
              <a:t>M</a:t>
            </a:r>
            <a:r>
              <a:rPr lang="fr-FR" sz="2400" dirty="0" smtClean="0">
                <a:solidFill>
                  <a:schemeClr val="bg1"/>
                </a:solidFill>
              </a:rPr>
              <a:t>arins</a:t>
            </a:r>
            <a:endParaRPr lang="fr-FR" sz="2400" dirty="0">
              <a:solidFill>
                <a:schemeClr val="bg1"/>
              </a:solidFill>
            </a:endParaRPr>
          </a:p>
        </p:txBody>
      </p:sp>
      <p:sp>
        <p:nvSpPr>
          <p:cNvPr id="10" name="ZoneTexte 9"/>
          <p:cNvSpPr txBox="1"/>
          <p:nvPr/>
        </p:nvSpPr>
        <p:spPr>
          <a:xfrm>
            <a:off x="713843" y="2629469"/>
            <a:ext cx="8010915" cy="3416320"/>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Premier organisme d'enseignement</a:t>
            </a:r>
            <a:r>
              <a:rPr lang="fr-FR" sz="2400" baseline="0" dirty="0" smtClean="0">
                <a:solidFill>
                  <a:schemeClr val="bg1"/>
                </a:solidFill>
              </a:rPr>
              <a:t> de la plongée en France</a:t>
            </a:r>
          </a:p>
          <a:p>
            <a:pPr marL="342900" indent="-342900">
              <a:buFont typeface="Wingdings" charset="0"/>
              <a:buChar char="v"/>
            </a:pPr>
            <a:r>
              <a:rPr lang="fr-FR" sz="2400" baseline="0" dirty="0" smtClean="0">
                <a:solidFill>
                  <a:schemeClr val="bg1"/>
                </a:solidFill>
              </a:rPr>
              <a:t>Elle exerce une mission de service public</a:t>
            </a:r>
          </a:p>
          <a:p>
            <a:pPr marL="342900" indent="-342900">
              <a:buFont typeface="Wingdings" charset="0"/>
              <a:buChar char="v"/>
            </a:pPr>
            <a:r>
              <a:rPr lang="fr-FR" sz="2400" baseline="0" dirty="0" smtClean="0">
                <a:solidFill>
                  <a:schemeClr val="bg1"/>
                </a:solidFill>
              </a:rPr>
              <a:t>Elle participe à l'organisation de l'ensemble des sports sous-marins en France</a:t>
            </a:r>
          </a:p>
          <a:p>
            <a:pPr marL="342900" indent="-342900">
              <a:buFont typeface="Wingdings" charset="0"/>
              <a:buChar char="v"/>
            </a:pPr>
            <a:r>
              <a:rPr lang="fr-FR" sz="2400" baseline="0" dirty="0" smtClean="0">
                <a:solidFill>
                  <a:schemeClr val="bg1"/>
                </a:solidFill>
              </a:rPr>
              <a:t>Elle est seul habilité à délivrer des titres de champions</a:t>
            </a:r>
          </a:p>
          <a:p>
            <a:pPr marL="342900" indent="-342900">
              <a:buFont typeface="Wingdings" charset="0"/>
              <a:buChar char="§"/>
            </a:pPr>
            <a:r>
              <a:rPr lang="fr-FR" sz="2400" baseline="0" dirty="0" smtClean="0">
                <a:solidFill>
                  <a:schemeClr val="bg1"/>
                </a:solidFill>
              </a:rPr>
              <a:t>Départementaux</a:t>
            </a:r>
          </a:p>
          <a:p>
            <a:pPr marL="342900" indent="-342900">
              <a:buFont typeface="Wingdings" charset="0"/>
              <a:buChar char="§"/>
            </a:pPr>
            <a:r>
              <a:rPr lang="fr-FR" sz="2400" baseline="0" dirty="0" smtClean="0">
                <a:solidFill>
                  <a:schemeClr val="bg1"/>
                </a:solidFill>
              </a:rPr>
              <a:t>Régionaux</a:t>
            </a:r>
          </a:p>
          <a:p>
            <a:pPr marL="342900" indent="-342900">
              <a:buFont typeface="Wingdings" charset="0"/>
              <a:buChar char="§"/>
            </a:pPr>
            <a:r>
              <a:rPr lang="fr-FR" sz="2400" baseline="0" dirty="0" smtClean="0">
                <a:solidFill>
                  <a:schemeClr val="bg1"/>
                </a:solidFill>
              </a:rPr>
              <a:t>Et Nationaux</a:t>
            </a:r>
          </a:p>
          <a:p>
            <a:pPr marL="342900" indent="-342900">
              <a:buFont typeface="Arial" charset="0"/>
              <a:buChar char="•"/>
            </a:pPr>
            <a:endParaRPr lang="fr-FR" sz="2400" dirty="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a:t>
            </a:r>
            <a:r>
              <a:rPr lang="fr-FR" sz="3600" b="1" u="sng" baseline="0" dirty="0" smtClean="0">
                <a:solidFill>
                  <a:srgbClr val="FF0000"/>
                </a:solidFill>
              </a:rPr>
              <a:t> FFESSM </a:t>
            </a:r>
            <a:endParaRPr lang="fr-FR" sz="3600" b="1" u="sng" dirty="0" smtClean="0">
              <a:solidFill>
                <a:srgbClr val="FF0000"/>
              </a:solidFill>
            </a:endParaRPr>
          </a:p>
        </p:txBody>
      </p:sp>
      <p:sp>
        <p:nvSpPr>
          <p:cNvPr id="4" name="ZoneTexte 3"/>
          <p:cNvSpPr txBox="1"/>
          <p:nvPr/>
        </p:nvSpPr>
        <p:spPr>
          <a:xfrm>
            <a:off x="774982" y="2016893"/>
            <a:ext cx="8323695"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Son Fonctionnement </a:t>
            </a:r>
            <a:endParaRPr lang="fr-FR" sz="2800" b="1" dirty="0">
              <a:solidFill>
                <a:schemeClr val="bg1"/>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7" name="ZoneTexte 6"/>
          <p:cNvSpPr txBox="1"/>
          <p:nvPr/>
        </p:nvSpPr>
        <p:spPr>
          <a:xfrm>
            <a:off x="691184" y="1326419"/>
            <a:ext cx="7331063" cy="461665"/>
          </a:xfrm>
          <a:prstGeom prst="rect">
            <a:avLst/>
          </a:prstGeom>
          <a:noFill/>
        </p:spPr>
        <p:txBody>
          <a:bodyPr wrap="square" rtlCol="0">
            <a:spAutoFit/>
          </a:bodyPr>
          <a:lstStyle/>
          <a:p>
            <a:r>
              <a:rPr lang="fr-FR" sz="2400" b="1" dirty="0" smtClean="0">
                <a:solidFill>
                  <a:srgbClr val="FFFF00"/>
                </a:solidFill>
              </a:rPr>
              <a:t>F</a:t>
            </a:r>
            <a:r>
              <a:rPr lang="fr-FR" sz="2400" dirty="0" smtClean="0">
                <a:solidFill>
                  <a:schemeClr val="bg1"/>
                </a:solidFill>
              </a:rPr>
              <a:t>édération </a:t>
            </a:r>
            <a:r>
              <a:rPr lang="fr-FR" sz="2400" b="1" dirty="0" smtClean="0">
                <a:solidFill>
                  <a:srgbClr val="FFFF00"/>
                </a:solidFill>
              </a:rPr>
              <a:t>F</a:t>
            </a:r>
            <a:r>
              <a:rPr lang="fr-FR" sz="2400" dirty="0" smtClean="0">
                <a:solidFill>
                  <a:schemeClr val="bg1"/>
                </a:solidFill>
              </a:rPr>
              <a:t>rançaise d'</a:t>
            </a:r>
            <a:r>
              <a:rPr lang="fr-FR" sz="2400" b="1" dirty="0" smtClean="0">
                <a:solidFill>
                  <a:srgbClr val="FFFF00"/>
                </a:solidFill>
              </a:rPr>
              <a:t>E</a:t>
            </a:r>
            <a:r>
              <a:rPr lang="fr-FR" sz="2400" dirty="0" smtClean="0">
                <a:solidFill>
                  <a:schemeClr val="bg1"/>
                </a:solidFill>
              </a:rPr>
              <a:t>tudes et de </a:t>
            </a:r>
            <a:r>
              <a:rPr lang="fr-FR" sz="2400" b="1" dirty="0" smtClean="0">
                <a:solidFill>
                  <a:srgbClr val="FFFF00"/>
                </a:solidFill>
              </a:rPr>
              <a:t>S</a:t>
            </a:r>
            <a:r>
              <a:rPr lang="fr-FR" sz="2400" dirty="0" smtClean="0">
                <a:solidFill>
                  <a:schemeClr val="bg1"/>
                </a:solidFill>
              </a:rPr>
              <a:t>ports </a:t>
            </a:r>
            <a:r>
              <a:rPr lang="fr-FR" sz="2400" b="1" dirty="0" smtClean="0">
                <a:solidFill>
                  <a:srgbClr val="FFFF00"/>
                </a:solidFill>
              </a:rPr>
              <a:t>S</a:t>
            </a:r>
            <a:r>
              <a:rPr lang="fr-FR" sz="2400" dirty="0" smtClean="0">
                <a:solidFill>
                  <a:schemeClr val="bg1"/>
                </a:solidFill>
              </a:rPr>
              <a:t>ous-</a:t>
            </a:r>
            <a:r>
              <a:rPr lang="fr-FR" sz="2400" b="1" dirty="0" smtClean="0">
                <a:solidFill>
                  <a:srgbClr val="FFFF00"/>
                </a:solidFill>
              </a:rPr>
              <a:t>M</a:t>
            </a:r>
            <a:r>
              <a:rPr lang="fr-FR" sz="2400" dirty="0" smtClean="0">
                <a:solidFill>
                  <a:schemeClr val="bg1"/>
                </a:solidFill>
              </a:rPr>
              <a:t>arins</a:t>
            </a:r>
            <a:endParaRPr lang="fr-FR" sz="2400" dirty="0">
              <a:solidFill>
                <a:schemeClr val="bg1"/>
              </a:solidFill>
            </a:endParaRPr>
          </a:p>
        </p:txBody>
      </p:sp>
      <p:sp>
        <p:nvSpPr>
          <p:cNvPr id="10" name="ZoneTexte 9"/>
          <p:cNvSpPr txBox="1"/>
          <p:nvPr/>
        </p:nvSpPr>
        <p:spPr>
          <a:xfrm>
            <a:off x="713843" y="2629469"/>
            <a:ext cx="8010915" cy="2677656"/>
          </a:xfrm>
          <a:prstGeom prst="rect">
            <a:avLst/>
          </a:prstGeom>
          <a:noFill/>
        </p:spPr>
        <p:txBody>
          <a:bodyPr wrap="square" rtlCol="0">
            <a:spAutoFit/>
          </a:bodyPr>
          <a:lstStyle/>
          <a:p>
            <a:pPr marL="342900" indent="-342900">
              <a:buFont typeface="Wingdings" charset="0"/>
              <a:buChar char="v"/>
            </a:pPr>
            <a:r>
              <a:rPr lang="fr-FR" sz="2400" baseline="0" dirty="0" smtClean="0">
                <a:solidFill>
                  <a:schemeClr val="bg1"/>
                </a:solidFill>
              </a:rPr>
              <a:t>L'Etat lui accorde des subventions et met du personnel à sa disposition</a:t>
            </a:r>
          </a:p>
          <a:p>
            <a:pPr marL="342900" indent="-342900">
              <a:buFont typeface="Wingdings" charset="0"/>
              <a:buChar char="§"/>
            </a:pPr>
            <a:r>
              <a:rPr lang="fr-FR" sz="2400" baseline="0" dirty="0" smtClean="0">
                <a:solidFill>
                  <a:schemeClr val="bg1"/>
                </a:solidFill>
              </a:rPr>
              <a:t>Des Conseillers Techniques Sportifs (CTS)</a:t>
            </a:r>
          </a:p>
          <a:p>
            <a:pPr marL="342900" indent="-342900">
              <a:buFont typeface="Wingdings" charset="0"/>
              <a:buChar char="§"/>
            </a:pPr>
            <a:r>
              <a:rPr lang="fr-FR" sz="2400" baseline="0" dirty="0" smtClean="0">
                <a:solidFill>
                  <a:schemeClr val="bg1"/>
                </a:solidFill>
              </a:rPr>
              <a:t>Un Directeur Technique National (DTN)</a:t>
            </a:r>
          </a:p>
          <a:p>
            <a:pPr marL="342900" indent="-342900">
              <a:buFont typeface="Wingdings" charset="0"/>
              <a:buChar char="§"/>
            </a:pPr>
            <a:endParaRPr lang="fr-FR" sz="2400" baseline="0" dirty="0" smtClean="0">
              <a:solidFill>
                <a:schemeClr val="bg1"/>
              </a:solidFill>
            </a:endParaRPr>
          </a:p>
          <a:p>
            <a:pPr marL="342900" indent="-342900">
              <a:buFont typeface="Wingdings" charset="0"/>
              <a:buChar char="v"/>
            </a:pPr>
            <a:r>
              <a:rPr lang="fr-FR" sz="2400" baseline="0" dirty="0" smtClean="0">
                <a:solidFill>
                  <a:schemeClr val="bg1"/>
                </a:solidFill>
              </a:rPr>
              <a:t> Son Siège se situe à Marseille</a:t>
            </a:r>
          </a:p>
          <a:p>
            <a:pPr marL="342900" indent="-342900">
              <a:buFont typeface="Wingdings" charset="0"/>
              <a:buChar char="v"/>
            </a:pPr>
            <a:r>
              <a:rPr lang="fr-FR" sz="2400" baseline="0" dirty="0" smtClean="0">
                <a:solidFill>
                  <a:schemeClr val="bg1"/>
                </a:solidFill>
              </a:rPr>
              <a:t>Elle est présenté dans toutes les Régions de France</a:t>
            </a:r>
          </a:p>
        </p:txBody>
      </p:sp>
    </p:spTree>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a:t>
            </a:r>
            <a:r>
              <a:rPr lang="fr-FR" sz="3600" b="1" u="sng" baseline="0" dirty="0" smtClean="0">
                <a:solidFill>
                  <a:srgbClr val="FF0000"/>
                </a:solidFill>
              </a:rPr>
              <a:t> FFESSM </a:t>
            </a:r>
            <a:endParaRPr lang="fr-FR" sz="3600" b="1" u="sng" dirty="0" smtClean="0">
              <a:solidFill>
                <a:srgbClr val="FF0000"/>
              </a:solidFill>
            </a:endParaRPr>
          </a:p>
        </p:txBody>
      </p:sp>
      <p:sp>
        <p:nvSpPr>
          <p:cNvPr id="4" name="ZoneTexte 3"/>
          <p:cNvSpPr txBox="1"/>
          <p:nvPr/>
        </p:nvSpPr>
        <p:spPr>
          <a:xfrm>
            <a:off x="786313" y="1291718"/>
            <a:ext cx="8323695" cy="523220"/>
          </a:xfrm>
          <a:prstGeom prst="rect">
            <a:avLst/>
          </a:prstGeom>
          <a:noFill/>
        </p:spPr>
        <p:txBody>
          <a:bodyPr wrap="square" rtlCol="0">
            <a:spAutoFit/>
          </a:bodyPr>
          <a:lstStyle/>
          <a:p>
            <a:r>
              <a:rPr lang="fr-FR" sz="2800" b="1" dirty="0" smtClean="0">
                <a:solidFill>
                  <a:schemeClr val="bg1"/>
                </a:solidFill>
              </a:rPr>
              <a:t>-</a:t>
            </a:r>
            <a:r>
              <a:rPr lang="fr-FR" sz="2800" b="1" baseline="0" dirty="0" smtClean="0">
                <a:solidFill>
                  <a:schemeClr val="bg1"/>
                </a:solidFill>
              </a:rPr>
              <a:t> Son Fonctionnement </a:t>
            </a:r>
            <a:endParaRPr lang="fr-FR" sz="2800" b="1" dirty="0">
              <a:solidFill>
                <a:schemeClr val="bg1"/>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pic>
        <p:nvPicPr>
          <p:cNvPr id="11" name="Image 10"/>
          <p:cNvPicPr>
            <a:picLocks noChangeAspect="1"/>
          </p:cNvPicPr>
          <p:nvPr/>
        </p:nvPicPr>
        <p:blipFill>
          <a:blip r:embed="rId4"/>
          <a:stretch>
            <a:fillRect/>
          </a:stretch>
        </p:blipFill>
        <p:spPr>
          <a:xfrm>
            <a:off x="67985" y="1733620"/>
            <a:ext cx="6787182" cy="5090387"/>
          </a:xfrm>
          <a:prstGeom prst="rect">
            <a:avLst/>
          </a:prstGeom>
        </p:spPr>
      </p:pic>
    </p:spTree>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chemeClr val="bg1"/>
                </a:solidFill>
              </a:rPr>
              <a:t>PLAN :</a:t>
            </a:r>
            <a:endParaRPr lang="fr-FR" sz="3600" b="1" u="sng" dirty="0">
              <a:solidFill>
                <a:schemeClr val="bg1"/>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rgbClr val="FF0000"/>
                </a:solidFill>
              </a:rPr>
              <a:t>2/</a:t>
            </a:r>
            <a:r>
              <a:rPr lang="fr-FR" sz="2800" b="1" u="sng" baseline="0" dirty="0" smtClean="0">
                <a:solidFill>
                  <a:srgbClr val="FF0000"/>
                </a:solidFill>
              </a:rPr>
              <a:t> LA NOTION DE RESPONSABILITÉ </a:t>
            </a:r>
            <a:r>
              <a:rPr lang="fr-FR" sz="2800" b="1" u="sng" dirty="0" smtClean="0">
                <a:solidFill>
                  <a:srgbClr val="FF0000"/>
                </a:solidFill>
              </a:rPr>
              <a:t> :</a:t>
            </a:r>
            <a:endParaRPr lang="fr-FR" sz="2800" b="1" u="sng" dirty="0">
              <a:solidFill>
                <a:srgbClr val="FF0000"/>
              </a:solidFill>
            </a:endParaRPr>
          </a:p>
        </p:txBody>
      </p:sp>
      <p:sp>
        <p:nvSpPr>
          <p:cNvPr id="13" name="ZoneTexte 12"/>
          <p:cNvSpPr txBox="1"/>
          <p:nvPr/>
        </p:nvSpPr>
        <p:spPr>
          <a:xfrm>
            <a:off x="820306" y="1768322"/>
            <a:ext cx="4720482"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(le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Responsabilité Pénale</a:t>
            </a:r>
          </a:p>
          <a:p>
            <a:pPr marL="285750" indent="-285750">
              <a:buFont typeface="Wingdings" charset="0"/>
              <a:buChar char="Ø"/>
            </a:pPr>
            <a:r>
              <a:rPr lang="fr-FR" sz="2400" dirty="0" smtClean="0">
                <a:solidFill>
                  <a:schemeClr val="bg1"/>
                </a:solidFill>
              </a:rPr>
              <a:t>La</a:t>
            </a:r>
            <a:r>
              <a:rPr lang="fr-FR" sz="2400" baseline="0" dirty="0" smtClean="0">
                <a:solidFill>
                  <a:schemeClr val="bg1"/>
                </a:solidFill>
              </a:rPr>
              <a:t> Responsabilité Civile</a:t>
            </a:r>
            <a:endParaRPr lang="fr-FR" sz="240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7970076" y="6436634"/>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chemeClr val="bg1"/>
                </a:solidFill>
              </a:rPr>
              <a:t>PLAN :</a:t>
            </a:r>
            <a:endParaRPr lang="fr-FR" sz="3600" b="1" u="sng" dirty="0">
              <a:solidFill>
                <a:schemeClr val="bg1"/>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4731813"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(le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b="1" dirty="0" smtClean="0">
                <a:solidFill>
                  <a:srgbClr val="FF0000"/>
                </a:solidFill>
              </a:rPr>
              <a:t>La Responsabilité Pénale</a:t>
            </a:r>
          </a:p>
          <a:p>
            <a:pPr marL="285750" indent="-285750">
              <a:buFont typeface="Wingdings" charset="0"/>
              <a:buChar char="Ø"/>
            </a:pPr>
            <a:r>
              <a:rPr lang="fr-FR" sz="2400" dirty="0" smtClean="0">
                <a:solidFill>
                  <a:schemeClr val="bg1"/>
                </a:solidFill>
              </a:rPr>
              <a:t>La</a:t>
            </a:r>
            <a:r>
              <a:rPr lang="fr-FR" sz="2400" baseline="0" dirty="0" smtClean="0">
                <a:solidFill>
                  <a:schemeClr val="bg1"/>
                </a:solidFill>
              </a:rPr>
              <a:t> Responsabilité Civile</a:t>
            </a:r>
            <a:endParaRPr lang="fr-FR" sz="240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7970076" y="6436634"/>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Responsabilité Pénale</a:t>
            </a: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407910" y="1326419"/>
            <a:ext cx="8679435" cy="4893647"/>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Depuis 1994, un</a:t>
            </a:r>
            <a:r>
              <a:rPr lang="fr-FR" sz="2400" baseline="0" dirty="0" smtClean="0">
                <a:solidFill>
                  <a:schemeClr val="bg1"/>
                </a:solidFill>
              </a:rPr>
              <a:t> nouveau code pénale engage non seulement la responsabilité pénale d'une personne physique mais désormais aussi celle d'une personne morale, tel un Club</a:t>
            </a:r>
          </a:p>
          <a:p>
            <a:pPr marL="342900" indent="-342900">
              <a:buFont typeface="Wingdings" charset="0"/>
              <a:buChar char="v"/>
            </a:pPr>
            <a:endParaRPr lang="fr-FR" sz="2400" baseline="0" dirty="0" smtClean="0">
              <a:solidFill>
                <a:schemeClr val="bg1"/>
              </a:solidFill>
            </a:endParaRPr>
          </a:p>
          <a:p>
            <a:pPr marL="342900" indent="-342900">
              <a:buFont typeface="Wingdings" charset="0"/>
              <a:buChar char="v"/>
            </a:pPr>
            <a:r>
              <a:rPr lang="fr-FR" sz="2400" baseline="0" dirty="0" smtClean="0">
                <a:solidFill>
                  <a:schemeClr val="bg1"/>
                </a:solidFill>
              </a:rPr>
              <a:t>Les articles :</a:t>
            </a:r>
          </a:p>
          <a:p>
            <a:pPr marL="342900" indent="-342900">
              <a:buFont typeface="Wingdings" charset="0"/>
              <a:buChar char="§"/>
            </a:pPr>
            <a:r>
              <a:rPr lang="fr-FR" sz="2400" b="1" u="sng" dirty="0" smtClean="0">
                <a:solidFill>
                  <a:srgbClr val="FF0000"/>
                </a:solidFill>
              </a:rPr>
              <a:t>221-6, 221-7, 221-19, 222-20, 222-21 ;</a:t>
            </a:r>
          </a:p>
          <a:p>
            <a:pPr marL="0" indent="0">
              <a:buFont typeface="Wingdings" charset="0"/>
              <a:buNone/>
            </a:pPr>
            <a:r>
              <a:rPr lang="fr-FR" sz="2400" b="0" u="none" dirty="0" smtClean="0">
                <a:solidFill>
                  <a:schemeClr val="bg1"/>
                </a:solidFill>
              </a:rPr>
              <a:t>Peuvent</a:t>
            </a:r>
            <a:r>
              <a:rPr lang="fr-FR" sz="2400" b="0" u="none" baseline="0" dirty="0" smtClean="0">
                <a:solidFill>
                  <a:schemeClr val="bg1"/>
                </a:solidFill>
              </a:rPr>
              <a:t> engager votre responsabilité pénale :</a:t>
            </a:r>
          </a:p>
          <a:p>
            <a:pPr marL="342900" indent="-342900">
              <a:buFont typeface="Arial" charset="0"/>
              <a:buChar char="•"/>
            </a:pPr>
            <a:r>
              <a:rPr lang="fr-FR" sz="2400" b="0" u="none" baseline="0" dirty="0" smtClean="0">
                <a:solidFill>
                  <a:schemeClr val="bg1"/>
                </a:solidFill>
              </a:rPr>
              <a:t>Pour atteinte à la vie d'une personne</a:t>
            </a:r>
          </a:p>
          <a:p>
            <a:pPr marL="342900" indent="-342900">
              <a:buFont typeface="Arial" charset="0"/>
              <a:buChar char="•"/>
            </a:pPr>
            <a:r>
              <a:rPr lang="fr-FR" sz="2400" b="0" u="none" baseline="0" dirty="0" smtClean="0">
                <a:solidFill>
                  <a:schemeClr val="bg1"/>
                </a:solidFill>
              </a:rPr>
              <a:t>Pour atteinte a son intégrité physique</a:t>
            </a:r>
          </a:p>
          <a:p>
            <a:pPr marL="342900" indent="-342900">
              <a:buFont typeface="Arial" charset="0"/>
              <a:buChar char="•"/>
            </a:pPr>
            <a:r>
              <a:rPr lang="fr-FR" sz="2400" b="0" u="none" dirty="0" smtClean="0">
                <a:solidFill>
                  <a:schemeClr val="bg1"/>
                </a:solidFill>
              </a:rPr>
              <a:t>Pour</a:t>
            </a:r>
            <a:r>
              <a:rPr lang="fr-FR" sz="2400" b="0" u="none" baseline="0" dirty="0" smtClean="0">
                <a:solidFill>
                  <a:schemeClr val="bg1"/>
                </a:solidFill>
              </a:rPr>
              <a:t> maladresse, imprudence, inattention, négligence</a:t>
            </a:r>
          </a:p>
          <a:p>
            <a:pPr marL="342900" indent="-342900">
              <a:buFont typeface="Arial" charset="0"/>
              <a:buChar char="•"/>
            </a:pPr>
            <a:r>
              <a:rPr lang="fr-FR" sz="2400" b="0" u="none" baseline="0" dirty="0" smtClean="0">
                <a:solidFill>
                  <a:schemeClr val="bg1"/>
                </a:solidFill>
              </a:rPr>
              <a:t>Par manquement à une obligation de sécurité ou de prudence imposée par la </a:t>
            </a:r>
            <a:r>
              <a:rPr lang="fr-FR" sz="2400" b="1" u="none" baseline="0" dirty="0" smtClean="0">
                <a:solidFill>
                  <a:srgbClr val="FF0000"/>
                </a:solidFill>
              </a:rPr>
              <a:t>LOI </a:t>
            </a:r>
            <a:r>
              <a:rPr lang="fr-FR" sz="2400" b="0" u="none" baseline="0" dirty="0" smtClean="0">
                <a:solidFill>
                  <a:schemeClr val="bg1"/>
                </a:solidFill>
              </a:rPr>
              <a:t>ou les </a:t>
            </a:r>
            <a:r>
              <a:rPr lang="fr-FR" sz="2400" b="1" u="none" baseline="0" dirty="0" smtClean="0">
                <a:solidFill>
                  <a:srgbClr val="FF0000"/>
                </a:solidFill>
              </a:rPr>
              <a:t>RÈGLEMENTS </a:t>
            </a:r>
            <a:r>
              <a:rPr lang="fr-FR" sz="2400" b="0" u="none" baseline="0" dirty="0" smtClean="0">
                <a:solidFill>
                  <a:schemeClr val="bg1"/>
                </a:solidFill>
              </a:rPr>
              <a:t>.</a:t>
            </a:r>
          </a:p>
          <a:p>
            <a:pPr marL="342900" indent="-342900">
              <a:buFont typeface="Arial" charset="0"/>
              <a:buChar char="•"/>
            </a:pPr>
            <a:endParaRPr lang="fr-FR" sz="2400" b="0" u="none" dirty="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Responsabilité Pénale</a:t>
            </a: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407910" y="1326419"/>
            <a:ext cx="8679435" cy="3416320"/>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a:t>
            </a:r>
            <a:r>
              <a:rPr lang="fr-FR" sz="2400" baseline="0" dirty="0" smtClean="0">
                <a:solidFill>
                  <a:schemeClr val="bg1"/>
                </a:solidFill>
              </a:rPr>
              <a:t>Les articles :</a:t>
            </a:r>
          </a:p>
          <a:p>
            <a:pPr marL="342900" indent="-342900">
              <a:buFont typeface="Wingdings" charset="0"/>
              <a:buChar char="§"/>
            </a:pPr>
            <a:r>
              <a:rPr lang="fr-FR" sz="2400" b="1" u="sng" dirty="0" smtClean="0">
                <a:solidFill>
                  <a:srgbClr val="FF0000"/>
                </a:solidFill>
              </a:rPr>
              <a:t>223-1,</a:t>
            </a:r>
            <a:r>
              <a:rPr lang="fr-FR" sz="2400" b="1" u="sng" baseline="0" dirty="0" smtClean="0">
                <a:solidFill>
                  <a:srgbClr val="FF0000"/>
                </a:solidFill>
              </a:rPr>
              <a:t> 223-2, et 223-6</a:t>
            </a:r>
            <a:r>
              <a:rPr lang="fr-FR" sz="2400" b="1" u="sng" dirty="0" smtClean="0">
                <a:solidFill>
                  <a:srgbClr val="FF0000"/>
                </a:solidFill>
              </a:rPr>
              <a:t> ;</a:t>
            </a:r>
          </a:p>
          <a:p>
            <a:pPr marL="0" indent="0">
              <a:buFont typeface="Wingdings" charset="0"/>
              <a:buNone/>
            </a:pPr>
            <a:r>
              <a:rPr lang="fr-FR" sz="2400" b="0" u="none" baseline="0" dirty="0" smtClean="0">
                <a:solidFill>
                  <a:schemeClr val="bg1"/>
                </a:solidFill>
              </a:rPr>
              <a:t>Engage aussi votre responsabilité pénale pour</a:t>
            </a:r>
          </a:p>
          <a:p>
            <a:pPr marL="342900" indent="-342900">
              <a:buFont typeface="Arial" charset="0"/>
              <a:buChar char="•"/>
            </a:pPr>
            <a:r>
              <a:rPr lang="fr-FR" sz="2400" b="0" u="none" baseline="0" dirty="0" smtClean="0">
                <a:solidFill>
                  <a:schemeClr val="bg1"/>
                </a:solidFill>
              </a:rPr>
              <a:t>Non assistance à personne en danger</a:t>
            </a:r>
          </a:p>
          <a:p>
            <a:pPr marL="0" indent="0">
              <a:buFont typeface="Arial" charset="0"/>
              <a:buNone/>
            </a:pPr>
            <a:r>
              <a:rPr lang="fr-FR" sz="2400" b="0" u="none" baseline="0" dirty="0" smtClean="0">
                <a:solidFill>
                  <a:schemeClr val="bg1"/>
                </a:solidFill>
              </a:rPr>
              <a:t>Soulignant la nécessité absolue d'intervention.</a:t>
            </a:r>
          </a:p>
          <a:p>
            <a:pPr marL="0" indent="0">
              <a:buFont typeface="Arial" charset="0"/>
              <a:buNone/>
            </a:pPr>
            <a:endParaRPr lang="fr-FR" sz="2400" b="0" u="none" baseline="0" dirty="0" smtClean="0">
              <a:solidFill>
                <a:schemeClr val="bg1"/>
              </a:solidFill>
            </a:endParaRPr>
          </a:p>
          <a:p>
            <a:pPr marL="0" indent="0">
              <a:buFont typeface="Arial" charset="0"/>
              <a:buNone/>
            </a:pPr>
            <a:r>
              <a:rPr lang="fr-FR" sz="2400" b="0" u="none" baseline="0" dirty="0" smtClean="0">
                <a:solidFill>
                  <a:schemeClr val="bg1"/>
                </a:solidFill>
              </a:rPr>
              <a:t>La Responsabilité Pénale peut s'engager dès lors qu'il y a non respect des </a:t>
            </a:r>
            <a:r>
              <a:rPr lang="fr-FR" sz="2400" b="1" u="none" baseline="0" dirty="0" smtClean="0">
                <a:solidFill>
                  <a:srgbClr val="FF0000"/>
                </a:solidFill>
              </a:rPr>
              <a:t>LOIS </a:t>
            </a:r>
            <a:r>
              <a:rPr lang="fr-FR" sz="2400" b="0" u="none" baseline="0" dirty="0" smtClean="0">
                <a:solidFill>
                  <a:schemeClr val="bg1"/>
                </a:solidFill>
              </a:rPr>
              <a:t>ou des </a:t>
            </a:r>
            <a:r>
              <a:rPr lang="fr-FR" sz="2400" b="1" u="none" baseline="0" dirty="0" smtClean="0">
                <a:solidFill>
                  <a:srgbClr val="FF0000"/>
                </a:solidFill>
              </a:rPr>
              <a:t>RÈGLEMENTS</a:t>
            </a:r>
            <a:endParaRPr lang="fr-FR" sz="2400" b="0" u="none" baseline="0" dirty="0" smtClean="0">
              <a:solidFill>
                <a:schemeClr val="bg1"/>
              </a:solidFill>
            </a:endParaRPr>
          </a:p>
          <a:p>
            <a:pPr marL="342900" indent="-342900">
              <a:buFont typeface="Arial" charset="0"/>
              <a:buChar char="•"/>
            </a:pPr>
            <a:endParaRPr lang="fr-FR" sz="2400" b="0" u="none" dirty="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chemeClr val="bg1"/>
                </a:solidFill>
              </a:rPr>
              <a:t>PLAN :</a:t>
            </a:r>
            <a:endParaRPr lang="fr-FR" sz="3600" b="1" u="sng" dirty="0">
              <a:solidFill>
                <a:schemeClr val="bg1"/>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4380557"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b="0" dirty="0" smtClean="0">
                <a:solidFill>
                  <a:schemeClr val="bg1"/>
                </a:solidFill>
              </a:rPr>
              <a:t>La Responsabilité Pénale</a:t>
            </a:r>
          </a:p>
          <a:p>
            <a:pPr marL="285750" indent="-285750">
              <a:buFont typeface="Wingdings" charset="0"/>
              <a:buChar char="Ø"/>
            </a:pPr>
            <a:r>
              <a:rPr lang="fr-FR" sz="2400" b="1" dirty="0" smtClean="0">
                <a:solidFill>
                  <a:srgbClr val="FF0000"/>
                </a:solidFill>
              </a:rPr>
              <a:t>La</a:t>
            </a:r>
            <a:r>
              <a:rPr lang="fr-FR" sz="2400" b="1" baseline="0" dirty="0" smtClean="0">
                <a:solidFill>
                  <a:srgbClr val="FF0000"/>
                </a:solidFill>
              </a:rPr>
              <a:t> Responsabilité Civile</a:t>
            </a:r>
            <a:endParaRPr lang="fr-FR" sz="2400" b="1" dirty="0" smtClean="0">
              <a:solidFill>
                <a:srgbClr val="FF0000"/>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7970076" y="6436634"/>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Responsabilité Civile</a:t>
            </a: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407910" y="1326419"/>
            <a:ext cx="8679435" cy="5262979"/>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2</a:t>
            </a:r>
            <a:r>
              <a:rPr lang="fr-FR" sz="2400" baseline="0" dirty="0" smtClean="0">
                <a:solidFill>
                  <a:schemeClr val="bg1"/>
                </a:solidFill>
              </a:rPr>
              <a:t> types de responsabilité civile</a:t>
            </a:r>
          </a:p>
          <a:p>
            <a:pPr marL="342900" indent="-342900">
              <a:buFont typeface="Wingdings" charset="0"/>
              <a:buChar char="§"/>
            </a:pPr>
            <a:r>
              <a:rPr lang="fr-FR" sz="2400" baseline="0" dirty="0" smtClean="0">
                <a:solidFill>
                  <a:schemeClr val="bg1"/>
                </a:solidFill>
              </a:rPr>
              <a:t>Responsabilité Délictuelle</a:t>
            </a:r>
          </a:p>
          <a:p>
            <a:pPr marL="342900" indent="-342900">
              <a:buFont typeface="Wingdings" charset="0"/>
              <a:buChar char="§"/>
            </a:pPr>
            <a:r>
              <a:rPr lang="fr-FR" sz="2400" baseline="0" dirty="0" smtClean="0">
                <a:solidFill>
                  <a:schemeClr val="bg1"/>
                </a:solidFill>
              </a:rPr>
              <a:t>Responsabilité Quasi-Délictuelle</a:t>
            </a:r>
          </a:p>
          <a:p>
            <a:pPr marL="342900" indent="-342900">
              <a:buFont typeface="Wingdings" charset="0"/>
              <a:buChar char="v"/>
            </a:pPr>
            <a:endParaRPr lang="fr-FR" sz="2400" baseline="0" dirty="0" smtClean="0">
              <a:solidFill>
                <a:schemeClr val="bg1"/>
              </a:solidFill>
            </a:endParaRPr>
          </a:p>
          <a:p>
            <a:pPr marL="342900" indent="-342900">
              <a:buFont typeface="Wingdings" charset="0"/>
              <a:buChar char="v"/>
            </a:pPr>
            <a:r>
              <a:rPr lang="fr-FR" sz="2400" b="1" u="sng" baseline="0" dirty="0" smtClean="0">
                <a:solidFill>
                  <a:srgbClr val="FF0000"/>
                </a:solidFill>
              </a:rPr>
              <a:t> Article 1382 :</a:t>
            </a:r>
            <a:endParaRPr lang="fr-FR" sz="2400" b="1" u="sng" dirty="0" smtClean="0">
              <a:solidFill>
                <a:srgbClr val="FF0000"/>
              </a:solidFill>
            </a:endParaRPr>
          </a:p>
          <a:p>
            <a:pPr marL="0" indent="0">
              <a:buFont typeface="Wingdings" charset="0"/>
              <a:buNone/>
            </a:pPr>
            <a:r>
              <a:rPr lang="fr-FR" sz="2400" b="0" u="none" baseline="0" dirty="0" smtClean="0">
                <a:solidFill>
                  <a:schemeClr val="bg1"/>
                </a:solidFill>
              </a:rPr>
              <a:t>" Tout fait quelconque de l'homme qui cause a autrui un dommage, oblige celui ci par la faute duquel il est arrivé, de la réparer."</a:t>
            </a:r>
          </a:p>
          <a:p>
            <a:pPr marL="0" indent="0">
              <a:buFont typeface="Wingdings" charset="0"/>
              <a:buNone/>
            </a:pPr>
            <a:endParaRPr lang="fr-FR" sz="2400" b="0" u="none" baseline="0" dirty="0" smtClean="0">
              <a:solidFill>
                <a:schemeClr val="bg1"/>
              </a:solidFill>
            </a:endParaRPr>
          </a:p>
          <a:p>
            <a:pPr marL="342900" indent="-342900">
              <a:buFont typeface="Wingdings" charset="0"/>
              <a:buChar char="v"/>
            </a:pPr>
            <a:r>
              <a:rPr lang="fr-FR" sz="2400" b="1" u="sng" baseline="0" dirty="0" smtClean="0">
                <a:solidFill>
                  <a:srgbClr val="FF0000"/>
                </a:solidFill>
              </a:rPr>
              <a:t>Article 1383 :</a:t>
            </a:r>
          </a:p>
          <a:p>
            <a:pPr marL="0" indent="0">
              <a:buFont typeface="Wingdings" charset="0"/>
              <a:buNone/>
            </a:pPr>
            <a:r>
              <a:rPr lang="fr-FR" sz="2400" b="0" u="none" baseline="0" dirty="0" smtClean="0">
                <a:solidFill>
                  <a:schemeClr val="bg1"/>
                </a:solidFill>
              </a:rPr>
              <a:t>" chacun est responsable du dommage qu'il a causé, non seulement par son fait, mais encore par sa négligence ou son imprudence."</a:t>
            </a:r>
          </a:p>
          <a:p>
            <a:pPr marL="0" indent="0">
              <a:buFont typeface="Wingdings" charset="0"/>
              <a:buNone/>
            </a:pPr>
            <a:endParaRPr lang="fr-FR" sz="2400" b="0" u="none" baseline="0" dirty="0" smtClean="0">
              <a:solidFill>
                <a:schemeClr val="bg1"/>
              </a:solidFill>
            </a:endParaRPr>
          </a:p>
          <a:p>
            <a:pPr marL="0" indent="0">
              <a:buFont typeface="Wingdings" charset="0"/>
              <a:buNone/>
            </a:pPr>
            <a:endParaRPr lang="fr-FR" sz="2400" b="0" u="none" baseline="0" dirty="0" smtClean="0">
              <a:solidFill>
                <a:schemeClr val="bg1"/>
              </a:solidFill>
            </a:endParaRPr>
          </a:p>
          <a:p>
            <a:pPr marL="0" indent="0">
              <a:buFont typeface="Arial" charset="0"/>
              <a:buNone/>
            </a:pPr>
            <a:endParaRPr lang="fr-FR" sz="2400" b="0" u="none" baseline="0" dirty="0" smtClean="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Responsabilité Civile</a:t>
            </a: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407910" y="1326419"/>
            <a:ext cx="8679435" cy="4893647"/>
          </a:xfrm>
          <a:prstGeom prst="rect">
            <a:avLst/>
          </a:prstGeom>
          <a:noFill/>
        </p:spPr>
        <p:txBody>
          <a:bodyPr wrap="square" rtlCol="0">
            <a:spAutoFit/>
          </a:bodyPr>
          <a:lstStyle/>
          <a:p>
            <a:pPr marL="342900" indent="-342900">
              <a:buFont typeface="Wingdings" charset="0"/>
              <a:buChar char="v"/>
            </a:pPr>
            <a:r>
              <a:rPr lang="fr-FR" sz="2400" b="1" u="sng" baseline="0" dirty="0" smtClean="0">
                <a:solidFill>
                  <a:srgbClr val="FF0000"/>
                </a:solidFill>
              </a:rPr>
              <a:t> Article 1384 :</a:t>
            </a:r>
            <a:endParaRPr lang="fr-FR" sz="2400" b="1" u="sng" dirty="0" smtClean="0">
              <a:solidFill>
                <a:srgbClr val="FF0000"/>
              </a:solidFill>
            </a:endParaRPr>
          </a:p>
          <a:p>
            <a:pPr marL="0" indent="0">
              <a:buFont typeface="Wingdings" charset="0"/>
              <a:buNone/>
            </a:pPr>
            <a:r>
              <a:rPr lang="fr-FR" sz="2400" b="0" u="none" baseline="0" dirty="0" smtClean="0">
                <a:solidFill>
                  <a:schemeClr val="bg1"/>
                </a:solidFill>
              </a:rPr>
              <a:t>" On est responsable non seulement du dommage que l'on cause par son propre fait, mais encore de celui qui est causé par le fait de personnes dont on doit répondre ou des choses que l'on a sous sa garde."</a:t>
            </a:r>
          </a:p>
          <a:p>
            <a:pPr marL="0" indent="0">
              <a:buFont typeface="Wingdings" charset="0"/>
              <a:buNone/>
            </a:pPr>
            <a:endParaRPr lang="fr-FR" sz="2400" b="0" u="none" baseline="0" dirty="0" smtClean="0">
              <a:solidFill>
                <a:schemeClr val="bg1"/>
              </a:solidFill>
            </a:endParaRPr>
          </a:p>
          <a:p>
            <a:pPr marL="342900" indent="-342900">
              <a:buFont typeface="Wingdings" charset="0"/>
              <a:buChar char="v"/>
            </a:pPr>
            <a:r>
              <a:rPr lang="fr-FR" sz="2400" b="0" u="none" baseline="0" dirty="0" smtClean="0">
                <a:solidFill>
                  <a:schemeClr val="bg1"/>
                </a:solidFill>
              </a:rPr>
              <a:t>Principe Général : C'est un devoir de ne pas nuire aux autres</a:t>
            </a:r>
          </a:p>
          <a:p>
            <a:pPr marL="0" indent="0">
              <a:buFont typeface="Wingdings" charset="0"/>
              <a:buNone/>
            </a:pPr>
            <a:endParaRPr lang="fr-FR" sz="2400" b="0" u="none" baseline="0" dirty="0" smtClean="0">
              <a:solidFill>
                <a:schemeClr val="bg1"/>
              </a:solidFill>
            </a:endParaRPr>
          </a:p>
          <a:p>
            <a:pPr marL="342900" indent="-342900">
              <a:buFont typeface="Wingdings" charset="0"/>
              <a:buChar char="v"/>
            </a:pPr>
            <a:r>
              <a:rPr lang="fr-FR" sz="2400" b="0" u="none" baseline="0" dirty="0" smtClean="0">
                <a:solidFill>
                  <a:schemeClr val="bg1"/>
                </a:solidFill>
              </a:rPr>
              <a:t>Responsabilité effective si :</a:t>
            </a:r>
          </a:p>
          <a:p>
            <a:pPr marL="342900" indent="-342900">
              <a:buFont typeface="Wingdings" charset="0"/>
              <a:buChar char="§"/>
            </a:pPr>
            <a:r>
              <a:rPr lang="fr-FR" sz="2400" b="0" u="none" baseline="0" dirty="0" smtClean="0">
                <a:solidFill>
                  <a:schemeClr val="bg1"/>
                </a:solidFill>
              </a:rPr>
              <a:t> Faute</a:t>
            </a:r>
          </a:p>
          <a:p>
            <a:pPr marL="342900" indent="-342900">
              <a:buFont typeface="Wingdings" charset="0"/>
              <a:buChar char="§"/>
            </a:pPr>
            <a:r>
              <a:rPr lang="fr-FR" sz="2400" b="0" u="none" baseline="0" dirty="0" smtClean="0">
                <a:solidFill>
                  <a:schemeClr val="bg1"/>
                </a:solidFill>
              </a:rPr>
              <a:t>Préjudice</a:t>
            </a:r>
          </a:p>
          <a:p>
            <a:pPr marL="342900" indent="-342900">
              <a:buFont typeface="Wingdings" charset="0"/>
              <a:buChar char="§"/>
            </a:pPr>
            <a:r>
              <a:rPr lang="fr-FR" sz="2400" b="0" u="none" baseline="0" dirty="0" smtClean="0">
                <a:solidFill>
                  <a:schemeClr val="bg1"/>
                </a:solidFill>
              </a:rPr>
              <a:t>Lien de causalité </a:t>
            </a:r>
          </a:p>
          <a:p>
            <a:pPr marL="0" indent="0">
              <a:buFont typeface="Wingdings" charset="0"/>
              <a:buNone/>
            </a:pPr>
            <a:endParaRPr lang="fr-FR" sz="2400" b="0" u="none" baseline="0" dirty="0" smtClean="0">
              <a:solidFill>
                <a:schemeClr val="bg1"/>
              </a:solidFill>
            </a:endParaRPr>
          </a:p>
        </p:txBody>
      </p:sp>
      <p:sp>
        <p:nvSpPr>
          <p:cNvPr id="4" name="ZoneTexte 3"/>
          <p:cNvSpPr txBox="1"/>
          <p:nvPr/>
        </p:nvSpPr>
        <p:spPr>
          <a:xfrm>
            <a:off x="605021" y="4657690"/>
            <a:ext cx="3175000" cy="1143000"/>
          </a:xfrm>
          <a:prstGeom prst="rect">
            <a:avLst/>
          </a:prstGeom>
          <a:noFill/>
        </p:spPr>
        <p:txBody>
          <a:bodyPr wrap="square" rtlCol="0">
            <a:spAutoFit/>
          </a:bodyPr>
          <a:lstStyle/>
          <a:p>
            <a:endParaRPr lang="fr-FR"/>
          </a:p>
        </p:txBody>
      </p:sp>
    </p:spTree>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 Responsabilité Civile</a:t>
            </a: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407910" y="1326419"/>
            <a:ext cx="8679435" cy="3416320"/>
          </a:xfrm>
          <a:prstGeom prst="rect">
            <a:avLst/>
          </a:prstGeom>
          <a:noFill/>
        </p:spPr>
        <p:txBody>
          <a:bodyPr wrap="square" rtlCol="0">
            <a:spAutoFit/>
          </a:bodyPr>
          <a:lstStyle/>
          <a:p>
            <a:pPr marL="342900" indent="-342900">
              <a:buFont typeface="Wingdings" charset="0"/>
              <a:buChar char="v"/>
            </a:pPr>
            <a:r>
              <a:rPr lang="fr-FR" sz="2400" b="1" u="sng" baseline="0" dirty="0" smtClean="0">
                <a:solidFill>
                  <a:srgbClr val="FF0000"/>
                </a:solidFill>
              </a:rPr>
              <a:t> </a:t>
            </a:r>
            <a:r>
              <a:rPr lang="fr-FR" sz="2400" b="1" u="sng" baseline="0" dirty="0" smtClean="0">
                <a:solidFill>
                  <a:schemeClr val="bg1"/>
                </a:solidFill>
              </a:rPr>
              <a:t>L'Assurance en Responsabilité Civile :</a:t>
            </a:r>
            <a:endParaRPr lang="fr-FR" sz="2400" b="1" u="sng" dirty="0" smtClean="0">
              <a:solidFill>
                <a:schemeClr val="bg1"/>
              </a:solidFill>
            </a:endParaRPr>
          </a:p>
          <a:p>
            <a:pPr marL="0" indent="0">
              <a:buFont typeface="Wingdings" charset="0"/>
              <a:buNone/>
            </a:pPr>
            <a:endParaRPr lang="fr-FR" sz="2400" b="0" u="none" baseline="0" dirty="0" smtClean="0">
              <a:solidFill>
                <a:schemeClr val="bg1"/>
              </a:solidFill>
            </a:endParaRPr>
          </a:p>
          <a:p>
            <a:pPr marL="0" indent="0">
              <a:buFont typeface="Wingdings" charset="0"/>
              <a:buNone/>
            </a:pPr>
            <a:r>
              <a:rPr lang="fr-FR" sz="2400" b="0" u="none" baseline="0" dirty="0" smtClean="0">
                <a:solidFill>
                  <a:schemeClr val="bg1"/>
                </a:solidFill>
              </a:rPr>
              <a:t>Comment se couvrir de ces délits ?</a:t>
            </a:r>
          </a:p>
          <a:p>
            <a:pPr marL="342900" indent="-342900">
              <a:buFont typeface="Wingdings" charset="0"/>
              <a:buChar char="§"/>
            </a:pPr>
            <a:r>
              <a:rPr lang="fr-FR" sz="2400" b="0" u="none" baseline="0" dirty="0" smtClean="0">
                <a:solidFill>
                  <a:schemeClr val="bg1"/>
                </a:solidFill>
              </a:rPr>
              <a:t>En ayant une Assurance Responsabilité Civile</a:t>
            </a:r>
          </a:p>
          <a:p>
            <a:pPr marL="342900" indent="-342900">
              <a:buFont typeface="Wingdings" charset="0"/>
              <a:buChar char="§"/>
            </a:pPr>
            <a:r>
              <a:rPr lang="fr-FR" sz="2400" b="0" u="none" baseline="0" dirty="0" smtClean="0">
                <a:solidFill>
                  <a:schemeClr val="bg1"/>
                </a:solidFill>
              </a:rPr>
              <a:t>Elle est rendue obligatoire par la FFESSM via l'</a:t>
            </a:r>
            <a:r>
              <a:rPr lang="fr-FR" sz="2400" b="1" u="sng" baseline="0" dirty="0" smtClean="0">
                <a:solidFill>
                  <a:srgbClr val="FF0000"/>
                </a:solidFill>
              </a:rPr>
              <a:t>Art.37 </a:t>
            </a:r>
            <a:r>
              <a:rPr lang="fr-FR" sz="2400" b="0" u="none" baseline="0" dirty="0" smtClean="0">
                <a:solidFill>
                  <a:schemeClr val="bg1"/>
                </a:solidFill>
              </a:rPr>
              <a:t>de la loi </a:t>
            </a:r>
            <a:r>
              <a:rPr lang="fr-FR" sz="2400" b="1" u="sng" baseline="0" dirty="0" smtClean="0">
                <a:solidFill>
                  <a:srgbClr val="FF0000"/>
                </a:solidFill>
              </a:rPr>
              <a:t>84-610 </a:t>
            </a:r>
            <a:r>
              <a:rPr lang="fr-FR" sz="2400" b="0" u="none" baseline="0" dirty="0" smtClean="0">
                <a:solidFill>
                  <a:schemeClr val="bg1"/>
                </a:solidFill>
              </a:rPr>
              <a:t>dite "loi du sport"</a:t>
            </a:r>
          </a:p>
          <a:p>
            <a:pPr marL="342900" indent="-342900">
              <a:buFont typeface="Wingdings" charset="0"/>
              <a:buChar char="§"/>
            </a:pPr>
            <a:r>
              <a:rPr lang="fr-FR" sz="2400" b="0" u="none" baseline="0" dirty="0" smtClean="0">
                <a:solidFill>
                  <a:schemeClr val="bg1"/>
                </a:solidFill>
              </a:rPr>
              <a:t>Le défaut d'assurance RC est passible d'une amende et/ou d'un an d'emprisonnement</a:t>
            </a:r>
          </a:p>
          <a:p>
            <a:pPr marL="342900" indent="-342900">
              <a:buFont typeface="Wingdings" charset="0"/>
              <a:buChar char="§"/>
            </a:pPr>
            <a:endParaRPr lang="fr-FR" sz="2400" b="0" u="none" baseline="0" dirty="0" smtClean="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chemeClr val="bg1"/>
                </a:solidFill>
              </a:rPr>
              <a:t>PLAN :</a:t>
            </a:r>
            <a:endParaRPr lang="fr-FR" sz="3600" b="1" u="sng" dirty="0">
              <a:solidFill>
                <a:schemeClr val="bg1"/>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4380557"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b="0" dirty="0" smtClean="0">
                <a:solidFill>
                  <a:schemeClr val="bg1"/>
                </a:solidFill>
              </a:rPr>
              <a:t>La Responsabilité Pénale</a:t>
            </a:r>
          </a:p>
          <a:p>
            <a:pPr marL="285750" indent="-285750">
              <a:buFont typeface="Wingdings" charset="0"/>
              <a:buChar char="Ø"/>
            </a:pPr>
            <a:r>
              <a:rPr lang="fr-FR" sz="2400" b="0" dirty="0" smtClean="0">
                <a:solidFill>
                  <a:schemeClr val="bg1"/>
                </a:solidFill>
              </a:rPr>
              <a:t>La</a:t>
            </a:r>
            <a:r>
              <a:rPr lang="fr-FR" sz="2400" b="0" baseline="0" dirty="0" smtClean="0">
                <a:solidFill>
                  <a:schemeClr val="bg1"/>
                </a:solidFill>
              </a:rPr>
              <a:t> Responsabilité Civile</a:t>
            </a:r>
            <a:endParaRPr lang="fr-FR" sz="2400" b="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b="1" dirty="0" smtClean="0">
                <a:solidFill>
                  <a:srgbClr val="FF0000"/>
                </a:solidFill>
              </a:rPr>
              <a:t>L'Assurance de personne ou individuelle</a:t>
            </a:r>
            <a:endParaRPr lang="fr-FR" sz="2400" b="1" dirty="0">
              <a:solidFill>
                <a:srgbClr val="FF0000"/>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7970076" y="6436634"/>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8595634"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L'Assurance</a:t>
            </a:r>
            <a:r>
              <a:rPr lang="fr-FR" sz="3600" b="1" u="sng" baseline="0" dirty="0" smtClean="0">
                <a:solidFill>
                  <a:srgbClr val="FF0000"/>
                </a:solidFill>
              </a:rPr>
              <a:t> de Personne ou Individuelle</a:t>
            </a:r>
            <a:endParaRPr lang="fr-FR" sz="3600" b="1" u="sng" dirty="0" smtClean="0">
              <a:solidFill>
                <a:srgbClr val="FF0000"/>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464564" y="1666345"/>
            <a:ext cx="8679435" cy="2677656"/>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Si</a:t>
            </a:r>
            <a:r>
              <a:rPr lang="fr-FR" sz="2400" baseline="0" dirty="0" smtClean="0">
                <a:solidFill>
                  <a:schemeClr val="bg1"/>
                </a:solidFill>
              </a:rPr>
              <a:t> dommages corporels sans tiers responsable, pas de prise en charge par la RC. Tous les frais incombes donc à la victime, sauf si  une </a:t>
            </a:r>
            <a:r>
              <a:rPr lang="fr-FR" sz="2400" b="1" baseline="0" dirty="0" smtClean="0">
                <a:solidFill>
                  <a:srgbClr val="FF0000"/>
                </a:solidFill>
              </a:rPr>
              <a:t>AI</a:t>
            </a:r>
            <a:r>
              <a:rPr lang="fr-FR" sz="2400" baseline="0" dirty="0" smtClean="0">
                <a:solidFill>
                  <a:schemeClr val="bg1"/>
                </a:solidFill>
              </a:rPr>
              <a:t> a été souscrite</a:t>
            </a:r>
          </a:p>
          <a:p>
            <a:pPr marL="342900" indent="-342900">
              <a:buFont typeface="Wingdings" charset="0"/>
              <a:buChar char="v"/>
            </a:pPr>
            <a:r>
              <a:rPr lang="fr-FR" sz="2400" baseline="0" dirty="0" smtClean="0">
                <a:solidFill>
                  <a:schemeClr val="bg1"/>
                </a:solidFill>
              </a:rPr>
              <a:t>Obligatoire en compétition</a:t>
            </a:r>
          </a:p>
          <a:p>
            <a:pPr marL="342900" indent="-342900">
              <a:buFont typeface="Wingdings" charset="0"/>
              <a:buChar char="v"/>
            </a:pPr>
            <a:r>
              <a:rPr lang="fr-FR" sz="2400" baseline="0" dirty="0" smtClean="0">
                <a:solidFill>
                  <a:schemeClr val="bg1"/>
                </a:solidFill>
              </a:rPr>
              <a:t>Facultative en loisir</a:t>
            </a:r>
          </a:p>
          <a:p>
            <a:pPr marL="342900" indent="-342900">
              <a:buFont typeface="Wingdings" charset="0"/>
              <a:buChar char="v"/>
            </a:pPr>
            <a:endParaRPr lang="fr-FR" sz="2400" baseline="0" dirty="0" smtClean="0">
              <a:solidFill>
                <a:schemeClr val="bg1"/>
              </a:solidFill>
            </a:endParaRPr>
          </a:p>
          <a:p>
            <a:pPr marL="342900" indent="-342900">
              <a:buFont typeface="Wingdings" charset="0"/>
              <a:buChar char="v"/>
            </a:pPr>
            <a:endParaRPr lang="fr-FR" sz="2400" baseline="0" dirty="0" smtClean="0">
              <a:solidFill>
                <a:schemeClr val="bg1"/>
              </a:solidFill>
            </a:endParaRPr>
          </a:p>
        </p:txBody>
      </p:sp>
      <p:sp>
        <p:nvSpPr>
          <p:cNvPr id="11" name="ZoneTexte 10"/>
          <p:cNvSpPr txBox="1"/>
          <p:nvPr/>
        </p:nvSpPr>
        <p:spPr>
          <a:xfrm>
            <a:off x="498557" y="4113810"/>
            <a:ext cx="8679435" cy="1938992"/>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Bon</a:t>
            </a:r>
            <a:r>
              <a:rPr lang="fr-FR" sz="2400" baseline="0" dirty="0" smtClean="0">
                <a:solidFill>
                  <a:schemeClr val="bg1"/>
                </a:solidFill>
              </a:rPr>
              <a:t> a savoir ,</a:t>
            </a:r>
          </a:p>
          <a:p>
            <a:pPr marL="342900" indent="-342900">
              <a:buFont typeface="Wingdings" charset="0"/>
              <a:buChar char="§"/>
            </a:pPr>
            <a:r>
              <a:rPr lang="fr-FR" sz="2400" baseline="0" dirty="0" smtClean="0">
                <a:solidFill>
                  <a:schemeClr val="bg1"/>
                </a:solidFill>
              </a:rPr>
              <a:t>Les actes volontaires ne sont couverts par aucune assurance</a:t>
            </a:r>
          </a:p>
          <a:p>
            <a:pPr marL="342900" indent="-342900">
              <a:buFont typeface="Wingdings" charset="0"/>
              <a:buChar char="§"/>
            </a:pPr>
            <a:r>
              <a:rPr lang="fr-FR" sz="2400" baseline="0" dirty="0" smtClean="0">
                <a:solidFill>
                  <a:schemeClr val="bg1"/>
                </a:solidFill>
              </a:rPr>
              <a:t>Sans tiers responsable (ou plainte), les dommages matériels ne sont couverts par aucune assurance</a:t>
            </a:r>
          </a:p>
          <a:p>
            <a:pPr marL="342900" indent="-342900">
              <a:buFont typeface="Wingdings" charset="0"/>
              <a:buChar char="§"/>
            </a:pPr>
            <a:r>
              <a:rPr lang="fr-FR" sz="2400" baseline="0" dirty="0" smtClean="0">
                <a:solidFill>
                  <a:schemeClr val="bg1"/>
                </a:solidFill>
              </a:rPr>
              <a:t>Seuls des Tiers entre eux peuvent faire jouer leur assurance</a:t>
            </a:r>
          </a:p>
        </p:txBody>
      </p:sp>
    </p:spTree>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8595634"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L'Assurance</a:t>
            </a:r>
            <a:r>
              <a:rPr lang="fr-FR" sz="3600" b="1" u="sng" baseline="0" dirty="0" smtClean="0">
                <a:solidFill>
                  <a:srgbClr val="FF0000"/>
                </a:solidFill>
              </a:rPr>
              <a:t> de Personne ou Individuelle</a:t>
            </a:r>
            <a:endParaRPr lang="fr-FR" sz="3600" b="1" u="sng" dirty="0" smtClean="0">
              <a:solidFill>
                <a:srgbClr val="FF0000"/>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pic>
        <p:nvPicPr>
          <p:cNvPr id="4" name="Image 3"/>
          <p:cNvPicPr>
            <a:picLocks noChangeAspect="1"/>
          </p:cNvPicPr>
          <p:nvPr/>
        </p:nvPicPr>
        <p:blipFill>
          <a:blip r:embed="rId4"/>
          <a:stretch>
            <a:fillRect/>
          </a:stretch>
        </p:blipFill>
        <p:spPr>
          <a:xfrm>
            <a:off x="951792" y="1274719"/>
            <a:ext cx="7399049" cy="5549287"/>
          </a:xfrm>
          <a:prstGeom prst="rect">
            <a:avLst/>
          </a:prstGeom>
        </p:spPr>
      </p:pic>
    </p:spTree>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chemeClr val="bg1"/>
                </a:solidFill>
              </a:rPr>
              <a:t>PLAN :</a:t>
            </a:r>
            <a:endParaRPr lang="fr-FR" sz="3600" b="1" u="sng" dirty="0">
              <a:solidFill>
                <a:schemeClr val="bg1"/>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4380557"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b="0" dirty="0" smtClean="0">
                <a:solidFill>
                  <a:schemeClr val="bg1"/>
                </a:solidFill>
              </a:rPr>
              <a:t>La Responsabilité Pénale</a:t>
            </a:r>
          </a:p>
          <a:p>
            <a:pPr marL="285750" indent="-285750">
              <a:buFont typeface="Wingdings" charset="0"/>
              <a:buChar char="Ø"/>
            </a:pPr>
            <a:r>
              <a:rPr lang="fr-FR" sz="2400" b="0" dirty="0" smtClean="0">
                <a:solidFill>
                  <a:schemeClr val="bg1"/>
                </a:solidFill>
              </a:rPr>
              <a:t>La</a:t>
            </a:r>
            <a:r>
              <a:rPr lang="fr-FR" sz="2400" b="0" baseline="0" dirty="0" smtClean="0">
                <a:solidFill>
                  <a:schemeClr val="bg1"/>
                </a:solidFill>
              </a:rPr>
              <a:t> Responsabilité Civile</a:t>
            </a:r>
            <a:endParaRPr lang="fr-FR" sz="2400" b="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b="0" dirty="0" smtClean="0">
                <a:solidFill>
                  <a:schemeClr val="bg1"/>
                </a:solidFill>
              </a:rPr>
              <a:t>L'Assurance de personne ou individuelle</a:t>
            </a:r>
            <a:endParaRPr lang="fr-FR" sz="2400" b="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b="1" dirty="0" smtClean="0">
                <a:solidFill>
                  <a:srgbClr val="FF0000"/>
                </a:solidFill>
              </a:rPr>
              <a:t>La</a:t>
            </a:r>
            <a:r>
              <a:rPr lang="fr-FR" sz="2400" b="1" baseline="0" dirty="0" smtClean="0">
                <a:solidFill>
                  <a:srgbClr val="FF0000"/>
                </a:solidFill>
              </a:rPr>
              <a:t> Déclaration d'Accident</a:t>
            </a:r>
            <a:endParaRPr lang="fr-FR" sz="2400" b="1" dirty="0">
              <a:solidFill>
                <a:srgbClr val="FF0000"/>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7970076" y="6436634"/>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8595634"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Là Déclaration d'Accident</a:t>
            </a: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464564" y="1666345"/>
            <a:ext cx="8679435" cy="830997"/>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Déclaration d'un Accident</a:t>
            </a:r>
            <a:r>
              <a:rPr lang="fr-FR" sz="2400" baseline="0" dirty="0" smtClean="0">
                <a:solidFill>
                  <a:schemeClr val="bg1"/>
                </a:solidFill>
              </a:rPr>
              <a:t> dans les 72 heures</a:t>
            </a:r>
          </a:p>
          <a:p>
            <a:pPr marL="342900" indent="-342900">
              <a:buFont typeface="Wingdings" charset="0"/>
              <a:buChar char="v"/>
            </a:pPr>
            <a:endParaRPr lang="fr-FR" sz="2400" baseline="0" dirty="0" smtClean="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chemeClr val="bg1"/>
                </a:solidFill>
              </a:rPr>
              <a:t>PLAN :</a:t>
            </a:r>
            <a:endParaRPr lang="fr-FR" sz="3600" b="1" u="sng" dirty="0">
              <a:solidFill>
                <a:schemeClr val="bg1"/>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4380557"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Responsabilité Pénale</a:t>
            </a:r>
          </a:p>
          <a:p>
            <a:pPr marL="285750" indent="-285750">
              <a:buFont typeface="Wingdings" charset="0"/>
              <a:buChar char="Ø"/>
            </a:pPr>
            <a:r>
              <a:rPr lang="fr-FR" sz="2400" dirty="0" smtClean="0">
                <a:solidFill>
                  <a:schemeClr val="bg1"/>
                </a:solidFill>
              </a:rPr>
              <a:t>La</a:t>
            </a:r>
            <a:r>
              <a:rPr lang="fr-FR" sz="2400" baseline="0" dirty="0" smtClean="0">
                <a:solidFill>
                  <a:schemeClr val="bg1"/>
                </a:solidFill>
              </a:rPr>
              <a:t> Responsabilité Civile</a:t>
            </a:r>
            <a:endParaRPr lang="fr-FR" sz="240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rgbClr val="FF0000"/>
                </a:solidFill>
              </a:rPr>
              <a:t>3/</a:t>
            </a:r>
            <a:r>
              <a:rPr lang="fr-FR" sz="2800" b="1" u="sng" baseline="0" dirty="0" smtClean="0">
                <a:solidFill>
                  <a:srgbClr val="FF0000"/>
                </a:solidFill>
              </a:rPr>
              <a:t> LE CADRE LÉGAL DE L'ACTIVITÉ </a:t>
            </a:r>
            <a:r>
              <a:rPr lang="fr-FR" sz="2800" b="1" u="sng" dirty="0" smtClean="0">
                <a:solidFill>
                  <a:srgbClr val="FF0000"/>
                </a:solidFill>
              </a:rPr>
              <a:t> :</a:t>
            </a:r>
            <a:endParaRPr lang="fr-FR" sz="2800" b="1" u="sng" dirty="0">
              <a:solidFill>
                <a:srgbClr val="FF0000"/>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7970076" y="6436634"/>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chemeClr val="bg1"/>
                </a:solidFill>
              </a:rPr>
              <a:t>PLAN :</a:t>
            </a:r>
            <a:endParaRPr lang="fr-FR" sz="3600" b="1" u="sng" dirty="0">
              <a:solidFill>
                <a:schemeClr val="bg1"/>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4380557"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Responsabilité Pénale</a:t>
            </a:r>
          </a:p>
          <a:p>
            <a:pPr marL="285750" indent="-285750">
              <a:buFont typeface="Wingdings" charset="0"/>
              <a:buChar char="Ø"/>
            </a:pPr>
            <a:r>
              <a:rPr lang="fr-FR" sz="2400" dirty="0" smtClean="0">
                <a:solidFill>
                  <a:schemeClr val="bg1"/>
                </a:solidFill>
              </a:rPr>
              <a:t>La</a:t>
            </a:r>
            <a:r>
              <a:rPr lang="fr-FR" sz="2400" baseline="0" dirty="0" smtClean="0">
                <a:solidFill>
                  <a:schemeClr val="bg1"/>
                </a:solidFill>
              </a:rPr>
              <a:t> Responsabilité Civile</a:t>
            </a:r>
            <a:endParaRPr lang="fr-FR" sz="240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b="1" dirty="0" smtClean="0">
                <a:solidFill>
                  <a:srgbClr val="FF0000"/>
                </a:solidFill>
              </a:rPr>
              <a:t>Le</a:t>
            </a:r>
            <a:r>
              <a:rPr lang="fr-FR" sz="2400" b="1" baseline="0" dirty="0" smtClean="0">
                <a:solidFill>
                  <a:srgbClr val="FF0000"/>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Le</a:t>
            </a:r>
            <a:r>
              <a:rPr lang="fr-FR" sz="2400" baseline="0" dirty="0" smtClean="0">
                <a:solidFill>
                  <a:schemeClr val="bg1"/>
                </a:solidFill>
              </a:rPr>
              <a:t> Cadre Légal Strict (Sécurité)</a:t>
            </a:r>
          </a:p>
        </p:txBody>
      </p:sp>
      <p:sp>
        <p:nvSpPr>
          <p:cNvPr id="4" name="ZoneTexte 3"/>
          <p:cNvSpPr txBox="1"/>
          <p:nvPr/>
        </p:nvSpPr>
        <p:spPr>
          <a:xfrm>
            <a:off x="7970076" y="6436634"/>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Cadre Federal</a:t>
            </a:r>
            <a:endParaRPr lang="fr-FR" sz="3600" b="1" u="sng" dirty="0" smtClean="0">
              <a:solidFill>
                <a:srgbClr val="FF0000"/>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713844" y="1745660"/>
            <a:ext cx="8192209" cy="3416320"/>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L'Adhésion</a:t>
            </a:r>
            <a:r>
              <a:rPr lang="fr-FR" sz="2400" baseline="0" dirty="0" smtClean="0">
                <a:solidFill>
                  <a:schemeClr val="bg1"/>
                </a:solidFill>
              </a:rPr>
              <a:t> au Club</a:t>
            </a:r>
          </a:p>
          <a:p>
            <a:pPr marL="342900" indent="-342900">
              <a:buFont typeface="Wingdings" charset="0"/>
              <a:buChar char="§"/>
            </a:pPr>
            <a:r>
              <a:rPr lang="fr-FR" sz="2400" baseline="0" dirty="0" smtClean="0">
                <a:solidFill>
                  <a:schemeClr val="bg1"/>
                </a:solidFill>
              </a:rPr>
              <a:t>La Cotisation</a:t>
            </a:r>
          </a:p>
          <a:p>
            <a:pPr marL="342900" indent="-342900">
              <a:buFont typeface="Arial" charset="0"/>
              <a:buChar char="•"/>
            </a:pPr>
            <a:endParaRPr lang="fr-FR" sz="2400" baseline="0" dirty="0" smtClean="0">
              <a:solidFill>
                <a:schemeClr val="bg1"/>
              </a:solidFill>
            </a:endParaRPr>
          </a:p>
          <a:p>
            <a:pPr marL="342900" indent="-342900">
              <a:buFont typeface="Wingdings" charset="0"/>
              <a:buChar char="v"/>
            </a:pPr>
            <a:r>
              <a:rPr lang="fr-FR" sz="2400" baseline="0" dirty="0" smtClean="0">
                <a:solidFill>
                  <a:schemeClr val="bg1"/>
                </a:solidFill>
              </a:rPr>
              <a:t>Le Certificat Médical</a:t>
            </a:r>
          </a:p>
          <a:p>
            <a:pPr marL="342900" indent="-342900">
              <a:buFont typeface="Wingdings" charset="0"/>
              <a:buChar char="§"/>
            </a:pPr>
            <a:r>
              <a:rPr lang="fr-FR" sz="2400" baseline="0" dirty="0" smtClean="0">
                <a:solidFill>
                  <a:schemeClr val="bg1"/>
                </a:solidFill>
              </a:rPr>
              <a:t>Rendu obligatoire par la FFESSM</a:t>
            </a:r>
          </a:p>
          <a:p>
            <a:pPr marL="342900" indent="-342900">
              <a:buFont typeface="Wingdings" charset="0"/>
              <a:buChar char="§"/>
            </a:pPr>
            <a:r>
              <a:rPr lang="fr-FR" sz="2400" baseline="0" dirty="0" smtClean="0">
                <a:solidFill>
                  <a:schemeClr val="bg1"/>
                </a:solidFill>
              </a:rPr>
              <a:t>Valide 1 an</a:t>
            </a:r>
          </a:p>
          <a:p>
            <a:pPr marL="342900" indent="-342900">
              <a:buFont typeface="Wingdings" charset="0"/>
              <a:buChar char="§"/>
            </a:pPr>
            <a:r>
              <a:rPr lang="fr-FR" sz="2400" baseline="0" dirty="0" smtClean="0">
                <a:solidFill>
                  <a:schemeClr val="bg1"/>
                </a:solidFill>
              </a:rPr>
              <a:t>Statut du médecin défini par le club</a:t>
            </a:r>
          </a:p>
          <a:p>
            <a:pPr marL="342900" indent="-342900">
              <a:buFont typeface="Wingdings" charset="0"/>
              <a:buChar char="§"/>
            </a:pPr>
            <a:r>
              <a:rPr lang="fr-FR" sz="2400" baseline="0" dirty="0" smtClean="0">
                <a:solidFill>
                  <a:schemeClr val="bg1"/>
                </a:solidFill>
              </a:rPr>
              <a:t>Obligation d'un examen ORL avec </a:t>
            </a:r>
            <a:r>
              <a:rPr lang="fr-FR" sz="2400" baseline="0" dirty="0" err="1" smtClean="0">
                <a:solidFill>
                  <a:schemeClr val="bg1"/>
                </a:solidFill>
              </a:rPr>
              <a:t>tympanométrie</a:t>
            </a:r>
            <a:r>
              <a:rPr lang="fr-FR" sz="2400" baseline="0" dirty="0" smtClean="0">
                <a:solidFill>
                  <a:schemeClr val="bg1"/>
                </a:solidFill>
              </a:rPr>
              <a:t> pour les enfants</a:t>
            </a:r>
          </a:p>
        </p:txBody>
      </p:sp>
    </p:spTree>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Cadre Federal</a:t>
            </a:r>
            <a:endParaRPr lang="fr-FR" sz="3600" b="1" u="sng" dirty="0" smtClean="0">
              <a:solidFill>
                <a:srgbClr val="FF0000"/>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747837" y="1394403"/>
            <a:ext cx="8192209" cy="3785652"/>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La</a:t>
            </a:r>
            <a:r>
              <a:rPr lang="fr-FR" sz="2400" baseline="0" dirty="0" smtClean="0">
                <a:solidFill>
                  <a:schemeClr val="bg1"/>
                </a:solidFill>
              </a:rPr>
              <a:t> Licence</a:t>
            </a:r>
          </a:p>
          <a:p>
            <a:pPr marL="342900" indent="-342900">
              <a:buFont typeface="Wingdings" charset="0"/>
              <a:buChar char="§"/>
            </a:pPr>
            <a:r>
              <a:rPr lang="fr-FR" sz="2400" baseline="0" dirty="0" smtClean="0">
                <a:solidFill>
                  <a:schemeClr val="bg1"/>
                </a:solidFill>
              </a:rPr>
              <a:t>La RC y est inclus d'office car obligatoire</a:t>
            </a:r>
          </a:p>
          <a:p>
            <a:pPr marL="342900" indent="-342900">
              <a:buFont typeface="Wingdings" charset="0"/>
              <a:buChar char="§"/>
            </a:pPr>
            <a:r>
              <a:rPr lang="fr-FR" sz="2400" baseline="0" dirty="0" smtClean="0">
                <a:solidFill>
                  <a:schemeClr val="bg1"/>
                </a:solidFill>
              </a:rPr>
              <a:t>Valable 15 mois</a:t>
            </a:r>
          </a:p>
          <a:p>
            <a:pPr marL="342900" indent="-342900">
              <a:buFont typeface="Wingdings" charset="0"/>
              <a:buChar char="§"/>
            </a:pPr>
            <a:endParaRPr lang="fr-FR" sz="2400" baseline="0" dirty="0" smtClean="0">
              <a:solidFill>
                <a:schemeClr val="bg1"/>
              </a:solidFill>
            </a:endParaRPr>
          </a:p>
          <a:p>
            <a:pPr marL="342900" indent="-342900">
              <a:buFont typeface="Wingdings" charset="0"/>
              <a:buChar char="v"/>
            </a:pPr>
            <a:r>
              <a:rPr lang="fr-FR" sz="2400" baseline="0" dirty="0" smtClean="0">
                <a:solidFill>
                  <a:schemeClr val="bg1"/>
                </a:solidFill>
              </a:rPr>
              <a:t>Conditions d'obtention de la licence</a:t>
            </a:r>
          </a:p>
          <a:p>
            <a:pPr marL="342900" indent="-342900">
              <a:buFont typeface="Wingdings" charset="0"/>
              <a:buChar char="§"/>
            </a:pPr>
            <a:r>
              <a:rPr lang="fr-FR" sz="2400" baseline="0" dirty="0" smtClean="0">
                <a:solidFill>
                  <a:schemeClr val="bg1"/>
                </a:solidFill>
              </a:rPr>
              <a:t>Présenter un Certificat Médical</a:t>
            </a:r>
          </a:p>
          <a:p>
            <a:pPr marL="342900" indent="-342900">
              <a:buFont typeface="Wingdings" charset="0"/>
              <a:buChar char="§"/>
            </a:pPr>
            <a:r>
              <a:rPr lang="fr-FR" sz="2400" baseline="0" dirty="0" smtClean="0">
                <a:solidFill>
                  <a:schemeClr val="bg1"/>
                </a:solidFill>
              </a:rPr>
              <a:t>Présenter une photographie d'identité récente</a:t>
            </a:r>
          </a:p>
          <a:p>
            <a:pPr marL="342900" indent="-342900">
              <a:buFont typeface="Wingdings" charset="0"/>
              <a:buChar char="§"/>
            </a:pPr>
            <a:r>
              <a:rPr lang="fr-FR" sz="2400" baseline="0" dirty="0" smtClean="0">
                <a:solidFill>
                  <a:schemeClr val="bg1"/>
                </a:solidFill>
              </a:rPr>
              <a:t>Vous acquitter du montant de la licence</a:t>
            </a:r>
          </a:p>
          <a:p>
            <a:pPr marL="342900" indent="-342900">
              <a:buFont typeface="Wingdings" charset="0"/>
              <a:buChar char="§"/>
            </a:pPr>
            <a:r>
              <a:rPr lang="fr-FR" sz="2400" baseline="0" dirty="0" smtClean="0">
                <a:solidFill>
                  <a:schemeClr val="bg1"/>
                </a:solidFill>
              </a:rPr>
              <a:t>Pour les mineurs, présenter une autorisation écrite de l'autorité parentale</a:t>
            </a:r>
          </a:p>
        </p:txBody>
      </p:sp>
    </p:spTree>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657898"/>
            <a:ext cx="7292587" cy="646331"/>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Cadre Federal</a:t>
            </a:r>
            <a:endParaRPr lang="fr-FR" sz="3600" b="1" u="sng" dirty="0" smtClean="0">
              <a:solidFill>
                <a:srgbClr val="FF0000"/>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pic>
        <p:nvPicPr>
          <p:cNvPr id="4" name="Image 3"/>
          <p:cNvPicPr>
            <a:picLocks noChangeAspect="1"/>
          </p:cNvPicPr>
          <p:nvPr/>
        </p:nvPicPr>
        <p:blipFill>
          <a:blip r:embed="rId4"/>
          <a:stretch>
            <a:fillRect/>
          </a:stretch>
        </p:blipFill>
        <p:spPr>
          <a:xfrm>
            <a:off x="90646" y="1337040"/>
            <a:ext cx="7331063" cy="5498297"/>
          </a:xfrm>
          <a:prstGeom prst="rect">
            <a:avLst/>
          </a:prstGeom>
        </p:spPr>
      </p:pic>
    </p:spTree>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876754" y="623905"/>
            <a:ext cx="7292587" cy="1631216"/>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Cadre Federal</a:t>
            </a:r>
          </a:p>
          <a:p>
            <a:pPr marL="285750" indent="-285750">
              <a:buFont typeface="Wingdings" charset="0"/>
              <a:buChar char="Ø"/>
            </a:pPr>
            <a:endParaRPr lang="fr-FR" sz="3600" b="1" u="sng" baseline="0" dirty="0" smtClean="0">
              <a:solidFill>
                <a:schemeClr val="bg1"/>
              </a:solidFill>
            </a:endParaRPr>
          </a:p>
          <a:p>
            <a:pPr marL="457200" indent="-457200">
              <a:buFont typeface="Wingdings" charset="0"/>
              <a:buChar char="v"/>
            </a:pPr>
            <a:r>
              <a:rPr lang="fr-FR" sz="2800" b="0" u="none" baseline="0" dirty="0" smtClean="0">
                <a:solidFill>
                  <a:schemeClr val="bg1"/>
                </a:solidFill>
              </a:rPr>
              <a:t>L'Autorisation Parentale</a:t>
            </a:r>
            <a:endParaRPr lang="fr-FR" sz="2800" b="0" u="none" dirty="0" smtClean="0">
              <a:solidFill>
                <a:schemeClr val="bg1"/>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pic>
        <p:nvPicPr>
          <p:cNvPr id="7" name="Image 6"/>
          <p:cNvPicPr>
            <a:picLocks noChangeAspect="1"/>
          </p:cNvPicPr>
          <p:nvPr/>
        </p:nvPicPr>
        <p:blipFill>
          <a:blip r:embed="rId4"/>
          <a:stretch>
            <a:fillRect/>
          </a:stretch>
        </p:blipFill>
        <p:spPr>
          <a:xfrm>
            <a:off x="78986" y="538719"/>
            <a:ext cx="4713966" cy="6285288"/>
          </a:xfrm>
          <a:prstGeom prst="rect">
            <a:avLst/>
          </a:prstGeom>
        </p:spPr>
      </p:pic>
    </p:spTree>
  </p:cSld>
  <p:clrMapOvr>
    <a:masterClrMapping/>
  </p:clrMapOvr>
  <p:transition spd="slow">
    <p:push di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7" name="ZoneTexte 6"/>
          <p:cNvSpPr txBox="1"/>
          <p:nvPr/>
        </p:nvSpPr>
        <p:spPr>
          <a:xfrm>
            <a:off x="378404" y="1315089"/>
            <a:ext cx="5400333" cy="523220"/>
          </a:xfrm>
          <a:prstGeom prst="rect">
            <a:avLst/>
          </a:prstGeom>
          <a:noFill/>
        </p:spPr>
        <p:txBody>
          <a:bodyPr wrap="square" rtlCol="0">
            <a:spAutoFit/>
          </a:bodyPr>
          <a:lstStyle/>
          <a:p>
            <a:r>
              <a:rPr lang="fr-FR" sz="2800" b="1" u="sng" dirty="0" smtClean="0">
                <a:solidFill>
                  <a:schemeClr val="bg1"/>
                </a:solidFill>
              </a:rPr>
              <a:t>1/ LES STRUCTURES FÉDÉRALES :</a:t>
            </a:r>
            <a:endParaRPr lang="fr-FR" sz="2800" b="1" u="sng" dirty="0">
              <a:solidFill>
                <a:schemeClr val="bg1"/>
              </a:solidFill>
            </a:endParaRPr>
          </a:p>
        </p:txBody>
      </p:sp>
      <p:sp>
        <p:nvSpPr>
          <p:cNvPr id="8" name="ZoneTexte 7"/>
          <p:cNvSpPr txBox="1"/>
          <p:nvPr/>
        </p:nvSpPr>
        <p:spPr>
          <a:xfrm>
            <a:off x="3664351" y="487937"/>
            <a:ext cx="3175000" cy="646331"/>
          </a:xfrm>
          <a:prstGeom prst="rect">
            <a:avLst/>
          </a:prstGeom>
          <a:noFill/>
        </p:spPr>
        <p:txBody>
          <a:bodyPr wrap="square" rtlCol="0">
            <a:spAutoFit/>
          </a:bodyPr>
          <a:lstStyle/>
          <a:p>
            <a:r>
              <a:rPr lang="fr-FR" sz="3600" b="1" u="sng" dirty="0" smtClean="0">
                <a:solidFill>
                  <a:schemeClr val="bg1"/>
                </a:solidFill>
              </a:rPr>
              <a:t>PLAN :</a:t>
            </a:r>
            <a:endParaRPr lang="fr-FR" sz="3600" b="1" u="sng" dirty="0">
              <a:solidFill>
                <a:schemeClr val="bg1"/>
              </a:solidFill>
            </a:endParaRPr>
          </a:p>
        </p:txBody>
      </p:sp>
      <p:sp>
        <p:nvSpPr>
          <p:cNvPr id="9" name="ZoneTexte 8"/>
          <p:cNvSpPr txBox="1"/>
          <p:nvPr/>
        </p:nvSpPr>
        <p:spPr>
          <a:xfrm>
            <a:off x="383499" y="2917839"/>
            <a:ext cx="5701168" cy="523220"/>
          </a:xfrm>
          <a:prstGeom prst="rect">
            <a:avLst/>
          </a:prstGeom>
          <a:noFill/>
        </p:spPr>
        <p:txBody>
          <a:bodyPr wrap="square" rtlCol="0">
            <a:spAutoFit/>
          </a:bodyPr>
          <a:lstStyle/>
          <a:p>
            <a:r>
              <a:rPr lang="fr-FR" sz="2800" b="1" u="sng" dirty="0" smtClean="0">
                <a:solidFill>
                  <a:schemeClr val="bg1"/>
                </a:solidFill>
              </a:rPr>
              <a:t>2/</a:t>
            </a:r>
            <a:r>
              <a:rPr lang="fr-FR" sz="2800" b="1" u="sng" baseline="0" dirty="0" smtClean="0">
                <a:solidFill>
                  <a:schemeClr val="bg1"/>
                </a:solidFill>
              </a:rPr>
              <a:t> LA NOTION DE RESPONSABILITÉ </a:t>
            </a:r>
            <a:r>
              <a:rPr lang="fr-FR" sz="2800" b="1" u="sng" dirty="0" smtClean="0">
                <a:solidFill>
                  <a:schemeClr val="bg1"/>
                </a:solidFill>
              </a:rPr>
              <a:t> :</a:t>
            </a:r>
            <a:endParaRPr lang="fr-FR" sz="2800" b="1" u="sng" dirty="0">
              <a:solidFill>
                <a:schemeClr val="bg1"/>
              </a:solidFill>
            </a:endParaRPr>
          </a:p>
        </p:txBody>
      </p:sp>
      <p:sp>
        <p:nvSpPr>
          <p:cNvPr id="13" name="ZoneTexte 12"/>
          <p:cNvSpPr txBox="1"/>
          <p:nvPr/>
        </p:nvSpPr>
        <p:spPr>
          <a:xfrm>
            <a:off x="820306" y="1768322"/>
            <a:ext cx="4380557" cy="1200329"/>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structure Associative (club)</a:t>
            </a:r>
          </a:p>
          <a:p>
            <a:pPr marL="285750" indent="-285750">
              <a:buFont typeface="Wingdings" charset="0"/>
              <a:buChar char="Ø"/>
            </a:pPr>
            <a:r>
              <a:rPr lang="fr-FR" sz="2400" dirty="0" smtClean="0">
                <a:solidFill>
                  <a:schemeClr val="bg1"/>
                </a:solidFill>
              </a:rPr>
              <a:t>Le Comité Régional</a:t>
            </a:r>
          </a:p>
          <a:p>
            <a:pPr marL="285750" indent="-285750">
              <a:buFont typeface="Wingdings" charset="0"/>
              <a:buChar char="Ø"/>
            </a:pPr>
            <a:r>
              <a:rPr lang="fr-FR" sz="2400" dirty="0" smtClean="0">
                <a:solidFill>
                  <a:schemeClr val="bg1"/>
                </a:solidFill>
              </a:rPr>
              <a:t>La FFESSM</a:t>
            </a:r>
            <a:endParaRPr lang="fr-FR" sz="2400" dirty="0">
              <a:solidFill>
                <a:schemeClr val="bg1"/>
              </a:solidFill>
            </a:endParaRPr>
          </a:p>
        </p:txBody>
      </p:sp>
      <p:sp>
        <p:nvSpPr>
          <p:cNvPr id="14" name="ZoneTexte 13"/>
          <p:cNvSpPr txBox="1"/>
          <p:nvPr/>
        </p:nvSpPr>
        <p:spPr>
          <a:xfrm>
            <a:off x="814074" y="3427726"/>
            <a:ext cx="3655381" cy="830997"/>
          </a:xfrm>
          <a:prstGeom prst="rect">
            <a:avLst/>
          </a:prstGeom>
          <a:noFill/>
        </p:spPr>
        <p:txBody>
          <a:bodyPr wrap="square" rtlCol="0">
            <a:spAutoFit/>
          </a:bodyPr>
          <a:lstStyle/>
          <a:p>
            <a:pPr marL="285750" indent="-285750">
              <a:buFont typeface="Wingdings" charset="0"/>
              <a:buChar char="Ø"/>
            </a:pPr>
            <a:r>
              <a:rPr lang="fr-FR" sz="2400" dirty="0" smtClean="0">
                <a:solidFill>
                  <a:schemeClr val="bg1"/>
                </a:solidFill>
              </a:rPr>
              <a:t>La Responsabilité Pénale</a:t>
            </a:r>
          </a:p>
          <a:p>
            <a:pPr marL="285750" indent="-285750">
              <a:buFont typeface="Wingdings" charset="0"/>
              <a:buChar char="Ø"/>
            </a:pPr>
            <a:r>
              <a:rPr lang="fr-FR" sz="2400" dirty="0" smtClean="0">
                <a:solidFill>
                  <a:schemeClr val="bg1"/>
                </a:solidFill>
              </a:rPr>
              <a:t>La</a:t>
            </a:r>
            <a:r>
              <a:rPr lang="fr-FR" sz="2400" baseline="0" dirty="0" smtClean="0">
                <a:solidFill>
                  <a:schemeClr val="bg1"/>
                </a:solidFill>
              </a:rPr>
              <a:t> Responsabilité Civile</a:t>
            </a:r>
            <a:endParaRPr lang="fr-FR" sz="2400" dirty="0" smtClean="0">
              <a:solidFill>
                <a:schemeClr val="bg1"/>
              </a:solidFill>
            </a:endParaRPr>
          </a:p>
        </p:txBody>
      </p:sp>
      <p:sp>
        <p:nvSpPr>
          <p:cNvPr id="15" name="ZoneTexte 14"/>
          <p:cNvSpPr txBox="1"/>
          <p:nvPr/>
        </p:nvSpPr>
        <p:spPr>
          <a:xfrm>
            <a:off x="367072" y="4193124"/>
            <a:ext cx="5513642" cy="461665"/>
          </a:xfrm>
          <a:prstGeom prst="rect">
            <a:avLst/>
          </a:prstGeom>
          <a:noFill/>
        </p:spPr>
        <p:txBody>
          <a:bodyPr wrap="square" rtlCol="0">
            <a:spAutoFit/>
          </a:bodyPr>
          <a:lstStyle/>
          <a:p>
            <a:r>
              <a:rPr lang="fr-FR" sz="2400" dirty="0" smtClean="0">
                <a:solidFill>
                  <a:schemeClr val="bg1"/>
                </a:solidFill>
              </a:rPr>
              <a:t>L'Assurance de personne ou individuelle</a:t>
            </a:r>
            <a:endParaRPr lang="fr-FR" sz="2400" dirty="0">
              <a:solidFill>
                <a:schemeClr val="bg1"/>
              </a:solidFill>
            </a:endParaRPr>
          </a:p>
        </p:txBody>
      </p:sp>
      <p:sp>
        <p:nvSpPr>
          <p:cNvPr id="16" name="ZoneTexte 15"/>
          <p:cNvSpPr txBox="1"/>
          <p:nvPr/>
        </p:nvSpPr>
        <p:spPr>
          <a:xfrm>
            <a:off x="372172" y="4606134"/>
            <a:ext cx="5513642" cy="461665"/>
          </a:xfrm>
          <a:prstGeom prst="rect">
            <a:avLst/>
          </a:prstGeom>
          <a:noFill/>
        </p:spPr>
        <p:txBody>
          <a:bodyPr wrap="square" rtlCol="0">
            <a:spAutoFit/>
          </a:bodyPr>
          <a:lstStyle/>
          <a:p>
            <a:r>
              <a:rPr lang="fr-FR" sz="2400" dirty="0" smtClean="0">
                <a:solidFill>
                  <a:schemeClr val="bg1"/>
                </a:solidFill>
              </a:rPr>
              <a:t>La</a:t>
            </a:r>
            <a:r>
              <a:rPr lang="fr-FR" sz="2400" baseline="0" dirty="0" smtClean="0">
                <a:solidFill>
                  <a:schemeClr val="bg1"/>
                </a:solidFill>
              </a:rPr>
              <a:t> Déclaration d'Accident</a:t>
            </a:r>
            <a:endParaRPr lang="fr-FR" sz="2400" dirty="0">
              <a:solidFill>
                <a:schemeClr val="bg1"/>
              </a:solidFill>
            </a:endParaRPr>
          </a:p>
        </p:txBody>
      </p:sp>
      <p:sp>
        <p:nvSpPr>
          <p:cNvPr id="17" name="ZoneTexte 16"/>
          <p:cNvSpPr txBox="1"/>
          <p:nvPr/>
        </p:nvSpPr>
        <p:spPr>
          <a:xfrm>
            <a:off x="360840" y="5059369"/>
            <a:ext cx="5400333" cy="523220"/>
          </a:xfrm>
          <a:prstGeom prst="rect">
            <a:avLst/>
          </a:prstGeom>
          <a:noFill/>
        </p:spPr>
        <p:txBody>
          <a:bodyPr wrap="square" rtlCol="0">
            <a:spAutoFit/>
          </a:bodyPr>
          <a:lstStyle/>
          <a:p>
            <a:r>
              <a:rPr lang="fr-FR" sz="2800" b="1" u="sng" dirty="0" smtClean="0">
                <a:solidFill>
                  <a:schemeClr val="bg1"/>
                </a:solidFill>
              </a:rPr>
              <a:t>3/</a:t>
            </a:r>
            <a:r>
              <a:rPr lang="fr-FR" sz="2800" b="1" u="sng" baseline="0" dirty="0" smtClean="0">
                <a:solidFill>
                  <a:schemeClr val="bg1"/>
                </a:solidFill>
              </a:rPr>
              <a:t> LE CADRE LÉGAL DE L'ACTIVITÉ </a:t>
            </a:r>
            <a:r>
              <a:rPr lang="fr-FR" sz="2800" b="1" u="sng" dirty="0" smtClean="0">
                <a:solidFill>
                  <a:schemeClr val="bg1"/>
                </a:solidFill>
              </a:rPr>
              <a:t> :</a:t>
            </a:r>
            <a:endParaRPr lang="fr-FR" sz="2800" b="1" u="sng" dirty="0">
              <a:solidFill>
                <a:schemeClr val="bg1"/>
              </a:solidFill>
            </a:endParaRPr>
          </a:p>
        </p:txBody>
      </p:sp>
      <p:sp>
        <p:nvSpPr>
          <p:cNvPr id="18" name="ZoneTexte 17"/>
          <p:cNvSpPr txBox="1"/>
          <p:nvPr/>
        </p:nvSpPr>
        <p:spPr>
          <a:xfrm>
            <a:off x="791411" y="5580588"/>
            <a:ext cx="7179278" cy="461665"/>
          </a:xfrm>
          <a:prstGeom prst="rect">
            <a:avLst/>
          </a:prstGeom>
          <a:noFill/>
        </p:spPr>
        <p:txBody>
          <a:bodyPr wrap="square" rtlCol="0">
            <a:spAutoFit/>
          </a:bodyPr>
          <a:lstStyle/>
          <a:p>
            <a:pPr marL="285750" indent="-285750">
              <a:buFont typeface="Wingdings" charset="0"/>
              <a:buChar char="Ø"/>
            </a:pPr>
            <a:r>
              <a:rPr lang="fr-FR" sz="2400" b="0" dirty="0" smtClean="0">
                <a:solidFill>
                  <a:schemeClr val="bg1"/>
                </a:solidFill>
              </a:rPr>
              <a:t>Le</a:t>
            </a:r>
            <a:r>
              <a:rPr lang="fr-FR" sz="2400" b="0" baseline="0" dirty="0" smtClean="0">
                <a:solidFill>
                  <a:schemeClr val="bg1"/>
                </a:solidFill>
              </a:rPr>
              <a:t> Cadre Fédéral</a:t>
            </a:r>
          </a:p>
        </p:txBody>
      </p:sp>
      <p:sp>
        <p:nvSpPr>
          <p:cNvPr id="19" name="ZoneTexte 18"/>
          <p:cNvSpPr txBox="1"/>
          <p:nvPr/>
        </p:nvSpPr>
        <p:spPr>
          <a:xfrm>
            <a:off x="791413" y="6033823"/>
            <a:ext cx="7179278" cy="461665"/>
          </a:xfrm>
          <a:prstGeom prst="rect">
            <a:avLst/>
          </a:prstGeom>
          <a:noFill/>
        </p:spPr>
        <p:txBody>
          <a:bodyPr wrap="square" rtlCol="0">
            <a:spAutoFit/>
          </a:bodyPr>
          <a:lstStyle/>
          <a:p>
            <a:pPr marL="285750" indent="-285750">
              <a:buFont typeface="Wingdings" charset="0"/>
              <a:buChar char="Ø"/>
            </a:pPr>
            <a:r>
              <a:rPr lang="fr-FR" sz="2400" b="1" dirty="0" smtClean="0">
                <a:solidFill>
                  <a:srgbClr val="FF0000"/>
                </a:solidFill>
              </a:rPr>
              <a:t>Le</a:t>
            </a:r>
            <a:r>
              <a:rPr lang="fr-FR" sz="2400" b="1" baseline="0" dirty="0" smtClean="0">
                <a:solidFill>
                  <a:srgbClr val="FF0000"/>
                </a:solidFill>
              </a:rPr>
              <a:t> Cadre Légal Strict (Organisation de la Sécurité)</a:t>
            </a:r>
          </a:p>
        </p:txBody>
      </p:sp>
      <p:sp>
        <p:nvSpPr>
          <p:cNvPr id="4" name="ZoneTexte 3"/>
          <p:cNvSpPr txBox="1"/>
          <p:nvPr/>
        </p:nvSpPr>
        <p:spPr>
          <a:xfrm>
            <a:off x="7970076" y="6436634"/>
            <a:ext cx="3175000" cy="369332"/>
          </a:xfrm>
          <a:prstGeom prst="rect">
            <a:avLst/>
          </a:prstGeom>
          <a:noFill/>
        </p:spPr>
        <p:txBody>
          <a:bodyPr wrap="square" rtlCol="0">
            <a:spAutoFit/>
          </a:bodyPr>
          <a:lstStyle/>
          <a:p>
            <a:r>
              <a:rPr lang="fr-FR" dirty="0" smtClean="0"/>
              <a:t>Gilbert k</a:t>
            </a:r>
            <a:endParaRPr lang="fr-FR" dirty="0"/>
          </a:p>
        </p:txBody>
      </p:sp>
    </p:spTree>
    <p:extLst/>
  </p:cSld>
  <p:clrMapOvr>
    <a:masterClrMapping/>
  </p:clrMapOvr>
  <p:transition spd="slow">
    <p:push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13" name="ZoneTexte 12"/>
          <p:cNvSpPr txBox="1"/>
          <p:nvPr/>
        </p:nvSpPr>
        <p:spPr>
          <a:xfrm>
            <a:off x="401065" y="1031816"/>
            <a:ext cx="7292587" cy="1107996"/>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Cadre Légal Strict </a:t>
            </a:r>
          </a:p>
          <a:p>
            <a:pPr marL="0" indent="0">
              <a:buFont typeface="Wingdings" charset="0"/>
              <a:buNone/>
            </a:pPr>
            <a:r>
              <a:rPr lang="fr-FR" sz="3000" b="1" u="none" baseline="0" dirty="0" smtClean="0">
                <a:solidFill>
                  <a:schemeClr val="bg1"/>
                </a:solidFill>
              </a:rPr>
              <a:t>       </a:t>
            </a:r>
            <a:r>
              <a:rPr lang="fr-FR" sz="3000" b="1" u="sng" baseline="0" dirty="0" smtClean="0">
                <a:solidFill>
                  <a:schemeClr val="bg1"/>
                </a:solidFill>
              </a:rPr>
              <a:t>Organisation de la Sécurité.</a:t>
            </a:r>
            <a:endParaRPr lang="fr-FR" sz="3000" b="1" u="sng" dirty="0" smtClean="0">
              <a:solidFill>
                <a:schemeClr val="bg1"/>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725175" y="2448173"/>
            <a:ext cx="8192209" cy="3046988"/>
          </a:xfrm>
          <a:prstGeom prst="rect">
            <a:avLst/>
          </a:prstGeom>
          <a:noFill/>
        </p:spPr>
        <p:txBody>
          <a:bodyPr wrap="square" rtlCol="0">
            <a:spAutoFit/>
          </a:bodyPr>
          <a:lstStyle/>
          <a:p>
            <a:pPr marL="342900" indent="-342900">
              <a:buFont typeface="Wingdings" charset="0"/>
              <a:buChar char="v"/>
            </a:pPr>
            <a:r>
              <a:rPr lang="fr-FR" sz="2400" dirty="0" smtClean="0">
                <a:solidFill>
                  <a:schemeClr val="bg1"/>
                </a:solidFill>
              </a:rPr>
              <a:t> Les</a:t>
            </a:r>
            <a:r>
              <a:rPr lang="fr-FR" sz="2400" baseline="0" dirty="0" smtClean="0">
                <a:solidFill>
                  <a:schemeClr val="bg1"/>
                </a:solidFill>
              </a:rPr>
              <a:t> Obligations fédérales pour la pratique individuelle de la plongée libre :</a:t>
            </a:r>
          </a:p>
          <a:p>
            <a:pPr marL="342900" indent="-342900">
              <a:buFont typeface="Wingdings" charset="0"/>
              <a:buChar char="§"/>
            </a:pPr>
            <a:r>
              <a:rPr lang="fr-FR" sz="2400" baseline="0" dirty="0" smtClean="0">
                <a:solidFill>
                  <a:schemeClr val="bg1"/>
                </a:solidFill>
              </a:rPr>
              <a:t>Examen médical (Certificat Médical)</a:t>
            </a:r>
          </a:p>
          <a:p>
            <a:pPr marL="342900" indent="-342900">
              <a:buFont typeface="Wingdings" charset="0"/>
              <a:buChar char="§"/>
            </a:pPr>
            <a:r>
              <a:rPr lang="fr-FR" sz="2400" baseline="0" dirty="0" smtClean="0">
                <a:solidFill>
                  <a:schemeClr val="bg1"/>
                </a:solidFill>
              </a:rPr>
              <a:t>Le Binôme</a:t>
            </a:r>
          </a:p>
          <a:p>
            <a:pPr marL="342900" indent="-342900">
              <a:buFont typeface="Wingdings" charset="0"/>
              <a:buChar char="§"/>
            </a:pPr>
            <a:r>
              <a:rPr lang="fr-FR" sz="2400" baseline="0" dirty="0" smtClean="0">
                <a:solidFill>
                  <a:schemeClr val="bg1"/>
                </a:solidFill>
              </a:rPr>
              <a:t>Surveillance effective</a:t>
            </a:r>
          </a:p>
          <a:p>
            <a:pPr marL="342900" indent="-342900">
              <a:buFont typeface="Wingdings" charset="0"/>
              <a:buChar char="§"/>
            </a:pPr>
            <a:endParaRPr lang="fr-FR" sz="2400" baseline="0" dirty="0" smtClean="0">
              <a:solidFill>
                <a:schemeClr val="bg1"/>
              </a:solidFill>
            </a:endParaRPr>
          </a:p>
          <a:p>
            <a:pPr marL="342900" indent="-342900">
              <a:buFont typeface="Wingdings" charset="0"/>
              <a:buChar char="v"/>
            </a:pPr>
            <a:r>
              <a:rPr lang="fr-FR" sz="2400" baseline="0" dirty="0" smtClean="0">
                <a:solidFill>
                  <a:schemeClr val="bg1"/>
                </a:solidFill>
              </a:rPr>
              <a:t> Annexe 4 – Cahier des charges de la pratique de l'apnée en Nouvelle Caledonie</a:t>
            </a:r>
          </a:p>
        </p:txBody>
      </p:sp>
    </p:spTree>
  </p:cSld>
  <p:clrMapOvr>
    <a:masterClrMapping/>
  </p:clrMapOvr>
  <p:transition spd="slow">
    <p:push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815822" y="2697451"/>
            <a:ext cx="8192209" cy="2739211"/>
          </a:xfrm>
          <a:prstGeom prst="rect">
            <a:avLst/>
          </a:prstGeom>
          <a:noFill/>
        </p:spPr>
        <p:txBody>
          <a:bodyPr wrap="square" rtlCol="0">
            <a:spAutoFit/>
          </a:bodyPr>
          <a:lstStyle/>
          <a:p>
            <a:pPr marL="457200" indent="-457200">
              <a:buFont typeface="+mj-lt"/>
              <a:buAutoNum type="arabicPeriod"/>
            </a:pPr>
            <a:r>
              <a:rPr lang="fr-FR" sz="2800" b="1" u="sng" dirty="0" smtClean="0">
                <a:solidFill>
                  <a:srgbClr val="FF0000"/>
                </a:solidFill>
              </a:rPr>
              <a:t> Entre</a:t>
            </a:r>
            <a:r>
              <a:rPr lang="fr-FR" sz="2800" b="1" u="sng" baseline="0" dirty="0" smtClean="0">
                <a:solidFill>
                  <a:srgbClr val="FF0000"/>
                </a:solidFill>
              </a:rPr>
              <a:t> 0 et la zone des 25 mètres (Niveaux 1/2 et 3)</a:t>
            </a:r>
          </a:p>
          <a:p>
            <a:pPr marL="342900" indent="-342900">
              <a:buFont typeface="Wingdings" charset="0"/>
              <a:buChar char="§"/>
            </a:pPr>
            <a:r>
              <a:rPr lang="fr-FR" sz="2400" baseline="0" dirty="0" smtClean="0">
                <a:solidFill>
                  <a:schemeClr val="bg1"/>
                </a:solidFill>
              </a:rPr>
              <a:t>Encadrant qualifié :</a:t>
            </a:r>
          </a:p>
          <a:p>
            <a:pPr marL="342900" indent="-342900">
              <a:buFont typeface="Arial" charset="0"/>
              <a:buChar char="•"/>
            </a:pPr>
            <a:r>
              <a:rPr lang="fr-FR" sz="2400" baseline="0" dirty="0" smtClean="0">
                <a:solidFill>
                  <a:schemeClr val="bg1"/>
                </a:solidFill>
              </a:rPr>
              <a:t>Moniteur de pêche sous marine et </a:t>
            </a:r>
            <a:r>
              <a:rPr lang="fr-FR" sz="2400" baseline="0" dirty="0" err="1" smtClean="0">
                <a:solidFill>
                  <a:schemeClr val="bg1"/>
                </a:solidFill>
              </a:rPr>
              <a:t>apnee</a:t>
            </a:r>
            <a:endParaRPr lang="fr-FR" sz="2400" baseline="0" dirty="0" smtClean="0">
              <a:solidFill>
                <a:schemeClr val="bg1"/>
              </a:solidFill>
            </a:endParaRPr>
          </a:p>
          <a:p>
            <a:pPr marL="342900" indent="-342900">
              <a:buFont typeface="Arial" charset="0"/>
              <a:buChar char="•"/>
            </a:pPr>
            <a:r>
              <a:rPr lang="fr-FR" sz="2400" baseline="0" dirty="0" smtClean="0">
                <a:solidFill>
                  <a:schemeClr val="bg1"/>
                </a:solidFill>
              </a:rPr>
              <a:t>Moniteur d'apnée ou Initiateur </a:t>
            </a:r>
            <a:r>
              <a:rPr lang="fr-FR" sz="2400" baseline="0" dirty="0" err="1" smtClean="0">
                <a:solidFill>
                  <a:schemeClr val="bg1"/>
                </a:solidFill>
              </a:rPr>
              <a:t>apnee</a:t>
            </a:r>
            <a:endParaRPr lang="fr-FR" sz="2400" baseline="0" dirty="0" smtClean="0">
              <a:solidFill>
                <a:schemeClr val="bg1"/>
              </a:solidFill>
            </a:endParaRPr>
          </a:p>
          <a:p>
            <a:pPr marL="342900" indent="-342900">
              <a:buFont typeface="Arial" charset="0"/>
              <a:buChar char="•"/>
            </a:pPr>
            <a:endParaRPr lang="fr-FR" sz="2400" baseline="0" dirty="0" smtClean="0">
              <a:solidFill>
                <a:schemeClr val="bg1"/>
              </a:solidFill>
            </a:endParaRPr>
          </a:p>
          <a:p>
            <a:pPr marL="342900" indent="-342900">
              <a:buFont typeface="Wingdings" charset="0"/>
              <a:buChar char="§"/>
            </a:pPr>
            <a:r>
              <a:rPr lang="fr-FR" sz="2400" baseline="0" dirty="0" smtClean="0">
                <a:solidFill>
                  <a:schemeClr val="bg1"/>
                </a:solidFill>
              </a:rPr>
              <a:t>Effectif limité à :</a:t>
            </a:r>
          </a:p>
          <a:p>
            <a:pPr marL="342900" indent="-342900">
              <a:buFont typeface="Arial" charset="0"/>
              <a:buChar char="•"/>
            </a:pPr>
            <a:r>
              <a:rPr lang="fr-FR" sz="2400" baseline="0" dirty="0" smtClean="0">
                <a:solidFill>
                  <a:schemeClr val="bg1"/>
                </a:solidFill>
              </a:rPr>
              <a:t>4 fois 2 pratiquants</a:t>
            </a:r>
          </a:p>
        </p:txBody>
      </p:sp>
      <p:sp>
        <p:nvSpPr>
          <p:cNvPr id="11" name="ZoneTexte 10"/>
          <p:cNvSpPr txBox="1"/>
          <p:nvPr/>
        </p:nvSpPr>
        <p:spPr>
          <a:xfrm>
            <a:off x="752321" y="1122463"/>
            <a:ext cx="7292587" cy="1107996"/>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Cadre Légal Strict </a:t>
            </a:r>
          </a:p>
          <a:p>
            <a:pPr marL="0" indent="0">
              <a:buFont typeface="Wingdings" charset="0"/>
              <a:buNone/>
            </a:pPr>
            <a:r>
              <a:rPr lang="fr-FR" sz="3000" b="1" u="none" baseline="0" dirty="0" smtClean="0">
                <a:solidFill>
                  <a:schemeClr val="bg1"/>
                </a:solidFill>
              </a:rPr>
              <a:t>       </a:t>
            </a:r>
            <a:r>
              <a:rPr lang="fr-FR" sz="3000" b="1" u="sng" baseline="0" dirty="0" smtClean="0">
                <a:solidFill>
                  <a:schemeClr val="bg1"/>
                </a:solidFill>
              </a:rPr>
              <a:t>Organisation de la Sécurité.</a:t>
            </a:r>
            <a:endParaRPr lang="fr-FR" sz="3000" b="1" u="sng" dirty="0" smtClean="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849814" y="2232885"/>
            <a:ext cx="8192209" cy="4216539"/>
          </a:xfrm>
          <a:prstGeom prst="rect">
            <a:avLst/>
          </a:prstGeom>
          <a:noFill/>
        </p:spPr>
        <p:txBody>
          <a:bodyPr wrap="square" rtlCol="0">
            <a:spAutoFit/>
          </a:bodyPr>
          <a:lstStyle/>
          <a:p>
            <a:pPr marL="457200" indent="-457200">
              <a:buFont typeface="+mj-lt"/>
              <a:buAutoNum type="arabicPeriod"/>
            </a:pPr>
            <a:r>
              <a:rPr lang="fr-FR" sz="2800" b="1" u="sng" dirty="0" smtClean="0">
                <a:solidFill>
                  <a:srgbClr val="FF0000"/>
                </a:solidFill>
              </a:rPr>
              <a:t> Entre</a:t>
            </a:r>
            <a:r>
              <a:rPr lang="fr-FR" sz="2800" b="1" u="sng" baseline="0" dirty="0" smtClean="0">
                <a:solidFill>
                  <a:srgbClr val="FF0000"/>
                </a:solidFill>
              </a:rPr>
              <a:t> 0 et la zone des 25 mètres (Niveaux 1/2 et 3)</a:t>
            </a:r>
          </a:p>
          <a:p>
            <a:pPr marL="342900" indent="-342900">
              <a:buFont typeface="Wingdings" charset="0"/>
              <a:buChar char="v"/>
            </a:pPr>
            <a:r>
              <a:rPr lang="fr-FR" sz="2400" baseline="0" dirty="0" smtClean="0">
                <a:solidFill>
                  <a:schemeClr val="bg1"/>
                </a:solidFill>
              </a:rPr>
              <a:t> Recommandations d'organisation ou de matériel complémentaire :</a:t>
            </a:r>
          </a:p>
          <a:p>
            <a:pPr marL="342900" indent="-342900">
              <a:buFont typeface="Wingdings" charset="0"/>
              <a:buChar char="§"/>
            </a:pPr>
            <a:r>
              <a:rPr lang="fr-FR" sz="2400" baseline="0" dirty="0" smtClean="0">
                <a:solidFill>
                  <a:schemeClr val="bg1"/>
                </a:solidFill>
              </a:rPr>
              <a:t> Signalisation en surface et drapeaux</a:t>
            </a:r>
          </a:p>
          <a:p>
            <a:pPr marL="342900" indent="-342900">
              <a:buFont typeface="Wingdings" charset="0"/>
              <a:buChar char="§"/>
            </a:pPr>
            <a:r>
              <a:rPr lang="fr-FR" sz="2400" baseline="0" dirty="0" smtClean="0">
                <a:solidFill>
                  <a:schemeClr val="bg1"/>
                </a:solidFill>
              </a:rPr>
              <a:t>Moyens d'alerte</a:t>
            </a:r>
          </a:p>
          <a:p>
            <a:pPr marL="342900" indent="-342900">
              <a:buFont typeface="Wingdings" charset="0"/>
              <a:buChar char="§"/>
            </a:pPr>
            <a:r>
              <a:rPr lang="fr-FR" sz="2400" baseline="0" dirty="0" smtClean="0">
                <a:solidFill>
                  <a:schemeClr val="bg1"/>
                </a:solidFill>
              </a:rPr>
              <a:t>Formation pratique RIFAA</a:t>
            </a:r>
          </a:p>
          <a:p>
            <a:pPr marL="342900" indent="-342900">
              <a:buFont typeface="Wingdings" charset="0"/>
              <a:buChar char="§"/>
            </a:pPr>
            <a:r>
              <a:rPr lang="fr-FR" sz="2400" baseline="0" dirty="0" smtClean="0">
                <a:solidFill>
                  <a:schemeClr val="bg1"/>
                </a:solidFill>
              </a:rPr>
              <a:t>S'assurer des conditions </a:t>
            </a:r>
            <a:r>
              <a:rPr lang="fr-FR" sz="2400" baseline="0" dirty="0" err="1" smtClean="0">
                <a:solidFill>
                  <a:schemeClr val="bg1"/>
                </a:solidFill>
              </a:rPr>
              <a:t>Meteo</a:t>
            </a:r>
            <a:r>
              <a:rPr lang="fr-FR" sz="2400" baseline="0" dirty="0" smtClean="0">
                <a:solidFill>
                  <a:schemeClr val="bg1"/>
                </a:solidFill>
              </a:rPr>
              <a:t> avant toutes sorties mer</a:t>
            </a:r>
          </a:p>
          <a:p>
            <a:pPr marL="342900" indent="-342900">
              <a:buFont typeface="Wingdings" charset="0"/>
              <a:buChar char="§"/>
            </a:pPr>
            <a:r>
              <a:rPr lang="fr-FR" sz="2400" baseline="0" dirty="0" smtClean="0">
                <a:solidFill>
                  <a:schemeClr val="bg1"/>
                </a:solidFill>
              </a:rPr>
              <a:t>Progressivité de l'initiation</a:t>
            </a:r>
          </a:p>
          <a:p>
            <a:pPr marL="342900" indent="-342900">
              <a:buFont typeface="Wingdings" charset="0"/>
              <a:buChar char="§"/>
            </a:pPr>
            <a:r>
              <a:rPr lang="fr-FR" sz="2400" baseline="0" dirty="0" smtClean="0">
                <a:solidFill>
                  <a:schemeClr val="bg1"/>
                </a:solidFill>
              </a:rPr>
              <a:t>Pré-requis pour la séance envisagée</a:t>
            </a:r>
          </a:p>
          <a:p>
            <a:pPr marL="342900" indent="-342900">
              <a:buFont typeface="Wingdings" charset="0"/>
              <a:buChar char="§"/>
            </a:pPr>
            <a:r>
              <a:rPr lang="fr-FR" sz="2400" baseline="0" dirty="0" smtClean="0">
                <a:solidFill>
                  <a:schemeClr val="bg1"/>
                </a:solidFill>
              </a:rPr>
              <a:t>Matériel individuel adapté</a:t>
            </a:r>
          </a:p>
          <a:p>
            <a:pPr marL="342900" marR="0" indent="-342900" algn="l" defTabSz="914400" rtl="0" eaLnBrk="1" fontAlgn="auto" latinLnBrk="0" hangingPunct="1">
              <a:lnSpc>
                <a:spcPct val="100000"/>
              </a:lnSpc>
              <a:spcBef>
                <a:spcPts val="0"/>
              </a:spcBef>
              <a:spcAft>
                <a:spcPts val="0"/>
              </a:spcAft>
              <a:buClrTx/>
              <a:buSzTx/>
              <a:buFont typeface="Wingdings" charset="0"/>
              <a:buChar char="§"/>
              <a:tabLst/>
              <a:defRPr/>
            </a:pPr>
            <a:r>
              <a:rPr lang="fr-FR" sz="2400" baseline="0" dirty="0" smtClean="0">
                <a:solidFill>
                  <a:schemeClr val="bg1"/>
                </a:solidFill>
              </a:rPr>
              <a:t>Des moyens de réanimation à bord, dont l'oxygénothérapie</a:t>
            </a:r>
          </a:p>
        </p:txBody>
      </p:sp>
      <p:sp>
        <p:nvSpPr>
          <p:cNvPr id="11" name="ZoneTexte 10"/>
          <p:cNvSpPr txBox="1"/>
          <p:nvPr/>
        </p:nvSpPr>
        <p:spPr>
          <a:xfrm>
            <a:off x="401065" y="1031816"/>
            <a:ext cx="7292587" cy="1107996"/>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Cadre Légal Strict </a:t>
            </a:r>
          </a:p>
          <a:p>
            <a:pPr marL="0" indent="0">
              <a:buFont typeface="Wingdings" charset="0"/>
              <a:buNone/>
            </a:pPr>
            <a:r>
              <a:rPr lang="fr-FR" sz="3000" b="1" u="none" baseline="0" dirty="0" smtClean="0">
                <a:solidFill>
                  <a:schemeClr val="bg1"/>
                </a:solidFill>
              </a:rPr>
              <a:t>       </a:t>
            </a:r>
            <a:r>
              <a:rPr lang="fr-FR" sz="3000" b="1" u="sng" baseline="0" dirty="0" smtClean="0">
                <a:solidFill>
                  <a:schemeClr val="bg1"/>
                </a:solidFill>
              </a:rPr>
              <a:t>Organisation de la Sécurité.</a:t>
            </a:r>
            <a:endParaRPr lang="fr-FR" sz="3000" b="1" u="sng" dirty="0" smtClean="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849814" y="2232885"/>
            <a:ext cx="8192209" cy="3108543"/>
          </a:xfrm>
          <a:prstGeom prst="rect">
            <a:avLst/>
          </a:prstGeom>
          <a:noFill/>
        </p:spPr>
        <p:txBody>
          <a:bodyPr wrap="square" rtlCol="0">
            <a:spAutoFit/>
          </a:bodyPr>
          <a:lstStyle/>
          <a:p>
            <a:pPr marL="0" indent="0">
              <a:buFont typeface="+mj-lt"/>
              <a:buNone/>
            </a:pPr>
            <a:r>
              <a:rPr lang="fr-FR" sz="2800" b="1" u="sng" dirty="0" smtClean="0">
                <a:solidFill>
                  <a:srgbClr val="FF0000"/>
                </a:solidFill>
              </a:rPr>
              <a:t>2.</a:t>
            </a:r>
            <a:r>
              <a:rPr lang="fr-FR" sz="2800" b="1" u="sng" baseline="0" dirty="0" smtClean="0">
                <a:solidFill>
                  <a:srgbClr val="FF0000"/>
                </a:solidFill>
              </a:rPr>
              <a:t> </a:t>
            </a:r>
            <a:r>
              <a:rPr lang="fr-FR" sz="2800" b="1" u="sng" dirty="0" smtClean="0">
                <a:solidFill>
                  <a:srgbClr val="FF0000"/>
                </a:solidFill>
              </a:rPr>
              <a:t> Entre</a:t>
            </a:r>
            <a:r>
              <a:rPr lang="fr-FR" sz="2800" b="1" u="sng" baseline="0" dirty="0" smtClean="0">
                <a:solidFill>
                  <a:srgbClr val="FF0000"/>
                </a:solidFill>
              </a:rPr>
              <a:t> 25 m et 40 m (Niveau 4)</a:t>
            </a:r>
          </a:p>
          <a:p>
            <a:pPr marL="342900" indent="-342900">
              <a:buFont typeface="Wingdings" charset="0"/>
              <a:buChar char="v"/>
            </a:pPr>
            <a:r>
              <a:rPr lang="fr-FR" sz="2400" baseline="0" dirty="0" smtClean="0">
                <a:solidFill>
                  <a:schemeClr val="bg1"/>
                </a:solidFill>
              </a:rPr>
              <a:t> Recommandations d'organisation ou de matériel complémentaire :</a:t>
            </a:r>
          </a:p>
          <a:p>
            <a:pPr marL="342900" indent="-342900">
              <a:buFont typeface="Wingdings" charset="0"/>
              <a:buChar char="§"/>
            </a:pPr>
            <a:r>
              <a:rPr lang="fr-FR" sz="2400" baseline="0" dirty="0" smtClean="0">
                <a:solidFill>
                  <a:schemeClr val="bg1"/>
                </a:solidFill>
              </a:rPr>
              <a:t> Encadrement identique aux Niveau 1/2 et 3</a:t>
            </a:r>
          </a:p>
          <a:p>
            <a:pPr marL="342900" indent="-342900">
              <a:buFont typeface="Wingdings" charset="0"/>
              <a:buChar char="§"/>
            </a:pPr>
            <a:r>
              <a:rPr lang="fr-FR" sz="2400" baseline="0" dirty="0" smtClean="0">
                <a:solidFill>
                  <a:schemeClr val="bg1"/>
                </a:solidFill>
              </a:rPr>
              <a:t>Assistance complémentaire de 2 plongeurs scaphandre</a:t>
            </a:r>
          </a:p>
          <a:p>
            <a:pPr marL="342900" indent="-342900">
              <a:buFont typeface="Wingdings" charset="0"/>
              <a:buChar char="§"/>
            </a:pPr>
            <a:r>
              <a:rPr lang="fr-FR" sz="2400" baseline="0" dirty="0" smtClean="0">
                <a:solidFill>
                  <a:schemeClr val="bg1"/>
                </a:solidFill>
              </a:rPr>
              <a:t>Si pas de plongeur, </a:t>
            </a:r>
            <a:r>
              <a:rPr lang="fr-FR" sz="2400" baseline="0" dirty="0" err="1" smtClean="0">
                <a:solidFill>
                  <a:schemeClr val="bg1"/>
                </a:solidFill>
              </a:rPr>
              <a:t>l'apnéiste</a:t>
            </a:r>
            <a:r>
              <a:rPr lang="fr-FR" sz="2400" baseline="0" dirty="0" smtClean="0">
                <a:solidFill>
                  <a:schemeClr val="bg1"/>
                </a:solidFill>
              </a:rPr>
              <a:t> sera relié à la surface par "une ligne de vie"</a:t>
            </a:r>
          </a:p>
          <a:p>
            <a:pPr marL="342900" indent="-342900">
              <a:buFont typeface="Wingdings" charset="0"/>
              <a:buChar char="§"/>
            </a:pPr>
            <a:r>
              <a:rPr lang="fr-FR" sz="2400" baseline="0" dirty="0" smtClean="0">
                <a:solidFill>
                  <a:schemeClr val="bg1"/>
                </a:solidFill>
              </a:rPr>
              <a:t>1 surveillant extérieur </a:t>
            </a:r>
          </a:p>
        </p:txBody>
      </p:sp>
      <p:sp>
        <p:nvSpPr>
          <p:cNvPr id="11" name="ZoneTexte 10"/>
          <p:cNvSpPr txBox="1"/>
          <p:nvPr/>
        </p:nvSpPr>
        <p:spPr>
          <a:xfrm>
            <a:off x="401065" y="1031816"/>
            <a:ext cx="7292587" cy="1107996"/>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Cadre Légal Strict </a:t>
            </a:r>
          </a:p>
          <a:p>
            <a:pPr marL="0" indent="0">
              <a:buFont typeface="Wingdings" charset="0"/>
              <a:buNone/>
            </a:pPr>
            <a:r>
              <a:rPr lang="fr-FR" sz="3000" b="1" u="none" baseline="0" dirty="0" smtClean="0">
                <a:solidFill>
                  <a:schemeClr val="bg1"/>
                </a:solidFill>
              </a:rPr>
              <a:t>       </a:t>
            </a:r>
            <a:r>
              <a:rPr lang="fr-FR" sz="3000" b="1" u="sng" baseline="0" dirty="0" smtClean="0">
                <a:solidFill>
                  <a:schemeClr val="bg1"/>
                </a:solidFill>
              </a:rPr>
              <a:t>Organisation de la Sécurité.</a:t>
            </a:r>
            <a:endParaRPr lang="fr-FR" sz="3000" b="1" u="sng" dirty="0" smtClean="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10" name="ZoneTexte 9"/>
          <p:cNvSpPr txBox="1"/>
          <p:nvPr/>
        </p:nvSpPr>
        <p:spPr>
          <a:xfrm>
            <a:off x="849814" y="2232885"/>
            <a:ext cx="8192209" cy="892552"/>
          </a:xfrm>
          <a:prstGeom prst="rect">
            <a:avLst/>
          </a:prstGeom>
          <a:noFill/>
        </p:spPr>
        <p:txBody>
          <a:bodyPr wrap="square" rtlCol="0">
            <a:spAutoFit/>
          </a:bodyPr>
          <a:lstStyle/>
          <a:p>
            <a:pPr marL="0" indent="0">
              <a:buFont typeface="+mj-lt"/>
              <a:buNone/>
            </a:pPr>
            <a:r>
              <a:rPr lang="fr-FR" sz="2800" b="1" u="sng" baseline="0" dirty="0" smtClean="0">
                <a:solidFill>
                  <a:srgbClr val="FF0000"/>
                </a:solidFill>
              </a:rPr>
              <a:t>3.  Le niveau expérimental (au-delà de 40 m)</a:t>
            </a:r>
          </a:p>
          <a:p>
            <a:pPr marL="342900" indent="-342900">
              <a:buFont typeface="Wingdings" charset="0"/>
              <a:buChar char="v"/>
            </a:pPr>
            <a:r>
              <a:rPr lang="fr-FR" sz="2400" baseline="0" dirty="0" smtClean="0">
                <a:solidFill>
                  <a:schemeClr val="bg1"/>
                </a:solidFill>
              </a:rPr>
              <a:t> Expérimental comme le mentionne le titre</a:t>
            </a:r>
          </a:p>
        </p:txBody>
      </p:sp>
      <p:sp>
        <p:nvSpPr>
          <p:cNvPr id="11" name="ZoneTexte 10"/>
          <p:cNvSpPr txBox="1"/>
          <p:nvPr/>
        </p:nvSpPr>
        <p:spPr>
          <a:xfrm>
            <a:off x="401065" y="1031816"/>
            <a:ext cx="7292587" cy="1107996"/>
          </a:xfrm>
          <a:prstGeom prst="rect">
            <a:avLst/>
          </a:prstGeom>
          <a:noFill/>
        </p:spPr>
        <p:txBody>
          <a:bodyPr wrap="square" rtlCol="0">
            <a:spAutoFit/>
          </a:bodyPr>
          <a:lstStyle/>
          <a:p>
            <a:pPr marL="285750" indent="-285750">
              <a:buFont typeface="Wingdings" charset="0"/>
              <a:buChar char="Ø"/>
            </a:pPr>
            <a:r>
              <a:rPr lang="fr-FR" sz="3600" b="1" u="sng" dirty="0" smtClean="0">
                <a:solidFill>
                  <a:srgbClr val="FF0000"/>
                </a:solidFill>
              </a:rPr>
              <a:t>Le</a:t>
            </a:r>
            <a:r>
              <a:rPr lang="fr-FR" sz="3600" b="1" u="sng" baseline="0" dirty="0" smtClean="0">
                <a:solidFill>
                  <a:srgbClr val="FF0000"/>
                </a:solidFill>
              </a:rPr>
              <a:t> Cadre Légal Strict </a:t>
            </a:r>
          </a:p>
          <a:p>
            <a:pPr marL="0" indent="0">
              <a:buFont typeface="Wingdings" charset="0"/>
              <a:buNone/>
            </a:pPr>
            <a:r>
              <a:rPr lang="fr-FR" sz="3000" b="1" u="none" baseline="0" dirty="0" smtClean="0">
                <a:solidFill>
                  <a:schemeClr val="bg1"/>
                </a:solidFill>
              </a:rPr>
              <a:t>       </a:t>
            </a:r>
            <a:r>
              <a:rPr lang="fr-FR" sz="3000" b="1" u="sng" baseline="0" dirty="0" smtClean="0">
                <a:solidFill>
                  <a:schemeClr val="bg1"/>
                </a:solidFill>
              </a:rPr>
              <a:t>Organisation de la Sécurité.</a:t>
            </a:r>
            <a:endParaRPr lang="fr-FR" sz="3000" b="1" u="sng" dirty="0" smtClean="0">
              <a:solidFill>
                <a:schemeClr val="bg1"/>
              </a:solidFill>
            </a:endParaRPr>
          </a:p>
        </p:txBody>
      </p:sp>
    </p:spTree>
  </p:cSld>
  <p:clrMapOvr>
    <a:masterClrMapping/>
  </p:clrMapOvr>
  <p:transition spd="slow">
    <p:push dir="u"/>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pic>
        <p:nvPicPr>
          <p:cNvPr id="5" name="Image 4"/>
          <p:cNvPicPr>
            <a:picLocks noChangeAspect="1"/>
          </p:cNvPicPr>
          <p:nvPr/>
        </p:nvPicPr>
        <p:blipFill>
          <a:blip r:embed="rId3"/>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6" name="ZoneTexte 5"/>
          <p:cNvSpPr txBox="1"/>
          <p:nvPr/>
        </p:nvSpPr>
        <p:spPr>
          <a:xfrm>
            <a:off x="917799" y="-89940"/>
            <a:ext cx="7988252" cy="646331"/>
          </a:xfrm>
          <a:prstGeom prst="rect">
            <a:avLst/>
          </a:prstGeom>
          <a:noFill/>
        </p:spPr>
        <p:txBody>
          <a:bodyPr wrap="square" rtlCol="0">
            <a:spAutoFit/>
          </a:bodyPr>
          <a:lstStyle/>
          <a:p>
            <a:r>
              <a:rPr lang="fr-FR" sz="3600" b="1" u="sng" dirty="0" smtClean="0">
                <a:solidFill>
                  <a:srgbClr val="FFFF00"/>
                </a:solidFill>
              </a:rPr>
              <a:t>LA RÉGLEMENTATION DE LA PRATIQUE</a:t>
            </a:r>
            <a:endParaRPr lang="fr-FR" sz="3600" b="1" u="sng" dirty="0">
              <a:solidFill>
                <a:srgbClr val="FFFF00"/>
              </a:solidFill>
            </a:endParaRPr>
          </a:p>
        </p:txBody>
      </p:sp>
      <p:sp>
        <p:nvSpPr>
          <p:cNvPr id="9" name="ZoneTexte 8"/>
          <p:cNvSpPr txBox="1"/>
          <p:nvPr/>
        </p:nvSpPr>
        <p:spPr>
          <a:xfrm>
            <a:off x="8015399" y="6447965"/>
            <a:ext cx="3175000" cy="369332"/>
          </a:xfrm>
          <a:prstGeom prst="rect">
            <a:avLst/>
          </a:prstGeom>
          <a:noFill/>
        </p:spPr>
        <p:txBody>
          <a:bodyPr wrap="square" rtlCol="0">
            <a:spAutoFit/>
          </a:bodyPr>
          <a:lstStyle/>
          <a:p>
            <a:r>
              <a:rPr lang="fr-FR" dirty="0" smtClean="0"/>
              <a:t>Gilbert k</a:t>
            </a:r>
            <a:endParaRPr lang="fr-FR" dirty="0"/>
          </a:p>
        </p:txBody>
      </p:sp>
      <p:sp>
        <p:nvSpPr>
          <p:cNvPr id="4" name="ZoneTexte 3"/>
          <p:cNvSpPr txBox="1"/>
          <p:nvPr/>
        </p:nvSpPr>
        <p:spPr>
          <a:xfrm>
            <a:off x="2950506" y="2697451"/>
            <a:ext cx="4788467" cy="1200329"/>
          </a:xfrm>
          <a:prstGeom prst="rect">
            <a:avLst/>
          </a:prstGeom>
          <a:noFill/>
        </p:spPr>
        <p:txBody>
          <a:bodyPr wrap="square" rtlCol="0">
            <a:spAutoFit/>
          </a:bodyPr>
          <a:lstStyle/>
          <a:p>
            <a:r>
              <a:rPr lang="fr-FR" sz="7200" b="1" u="sng" dirty="0" smtClean="0">
                <a:solidFill>
                  <a:schemeClr val="bg1"/>
                </a:solidFill>
              </a:rPr>
              <a:t>THE</a:t>
            </a:r>
            <a:r>
              <a:rPr lang="fr-FR" sz="7200" b="1" u="sng" baseline="0" dirty="0" smtClean="0">
                <a:solidFill>
                  <a:schemeClr val="bg1"/>
                </a:solidFill>
              </a:rPr>
              <a:t> END</a:t>
            </a:r>
            <a:endParaRPr lang="fr-FR" sz="7200" b="1" u="sng" dirty="0">
              <a:solidFill>
                <a:schemeClr val="bg1"/>
              </a:solidFill>
            </a:endParaRPr>
          </a:p>
        </p:txBody>
      </p:sp>
    </p:spTree>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Thème Offic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ureau">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SDOfficeLightV0</Template>
  <TotalTime>840</TotalTime>
  <Application>Microsoft Macintosh PowerPoint</Application>
  <PresentationFormat>Présentation à l'écran (4:3)</PresentationFormat>
  <Slides>43</Slides>
  <Notes>43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43</vt:i4>
      </vt:variant>
    </vt:vector>
  </HeadingPairs>
  <TitlesOfParts>
    <vt:vector size="47" baseType="lpstr">
      <vt:lpstr>Calibri</vt:lpstr>
      <vt:lpstr>Wingdings</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gilbert kaouma</dc:creator>
  <cp:lastModifiedBy>gilbert kaouma</cp:lastModifiedBy>
  <cp:revision>386</cp:revision>
  <dcterms:created xsi:type="dcterms:W3CDTF">2014-04-01T21:08:41Z</dcterms:created>
  <dcterms:modified xsi:type="dcterms:W3CDTF">2014-04-04T11:53:37Z</dcterms:modified>
</cp:coreProperties>
</file>